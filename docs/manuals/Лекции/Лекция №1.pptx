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63" r:id="rId3"/>
    <p:sldId id="264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0" r:id="rId2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8" autoAdjust="0"/>
    <p:restoredTop sz="85768" autoAdjust="0"/>
  </p:normalViewPr>
  <p:slideViewPr>
    <p:cSldViewPr snapToGrid="0">
      <p:cViewPr varScale="1">
        <p:scale>
          <a:sx n="74" d="100"/>
          <a:sy n="74" d="100"/>
        </p:scale>
        <p:origin x="133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D2E9C8-EA95-44DC-97D6-381D54E0192E}" type="datetimeFigureOut">
              <a:rPr lang="ru-RU" smtClean="0"/>
              <a:t>25.08.2026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1D21C1-FA3C-45BD-918C-3C5610939C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837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4A4D63-4867-5E7E-656B-50D2AE31E9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B2D4775-E59B-9065-E262-D7EF084457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13F79C-2546-8A08-7886-25B3FF21A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6D0B5-4627-4654-B836-B6EC90072DE6}" type="datetimeFigureOut">
              <a:rPr lang="ru-RU" smtClean="0"/>
              <a:t>25.08.2026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B734330-F5EE-3A65-F076-11D4F5223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7CFFF9-2C6E-9193-3781-E2BF5DAD3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0DE34-1BEB-4871-8740-9BC4F9DF8F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1854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A907D3-665F-03B3-9D82-743E093A8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566925-0F74-08D6-AE23-F21E98D49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just">
              <a:defRPr>
                <a:solidFill>
                  <a:schemeClr val="tx1"/>
                </a:solidFill>
              </a:defRPr>
            </a:lvl1pPr>
            <a:lvl2pPr algn="just">
              <a:defRPr>
                <a:solidFill>
                  <a:schemeClr val="tx1"/>
                </a:solidFill>
              </a:defRPr>
            </a:lvl2pPr>
            <a:lvl3pPr algn="just">
              <a:defRPr>
                <a:solidFill>
                  <a:schemeClr val="tx1"/>
                </a:solidFill>
              </a:defRPr>
            </a:lvl3pPr>
            <a:lvl4pPr algn="just">
              <a:defRPr>
                <a:solidFill>
                  <a:schemeClr val="tx1"/>
                </a:solidFill>
              </a:defRPr>
            </a:lvl4pPr>
            <a:lvl5pPr algn="just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6E2D9BF-9BA4-D3E5-E2FD-16549DD25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6D0B5-4627-4654-B836-B6EC90072DE6}" type="datetimeFigureOut">
              <a:rPr lang="ru-RU" smtClean="0"/>
              <a:t>25.08.2026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299E0E6-04F4-68F0-A51F-082C2949A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DF5DD2-155C-BEF1-EDB7-AE2A89EEC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0DE34-1BEB-4871-8740-9BC4F9DF8F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5339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BA58B0-2475-A234-5D92-EB319E54D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1DE0B5E-82E2-4301-0A63-873CAB7B5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43CA34-65F9-EA7E-2FE0-EB350B0D3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25.08.2026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10B1F8-EFC2-C5EA-DF92-252959FFF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ECA62E-B125-C3B8-050B-9B9135DB4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2719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A4D474-24FB-BB35-6BE3-43C821B10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F47FF2-3F2F-1239-E1E5-63B1CE0983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 algn="just">
              <a:defRPr>
                <a:solidFill>
                  <a:schemeClr val="tx1"/>
                </a:solidFill>
              </a:defRPr>
            </a:lvl1pPr>
            <a:lvl2pPr algn="just">
              <a:defRPr>
                <a:solidFill>
                  <a:schemeClr val="tx1"/>
                </a:solidFill>
              </a:defRPr>
            </a:lvl2pPr>
            <a:lvl3pPr algn="just">
              <a:defRPr>
                <a:solidFill>
                  <a:schemeClr val="tx1"/>
                </a:solidFill>
              </a:defRPr>
            </a:lvl3pPr>
            <a:lvl4pPr algn="just">
              <a:defRPr>
                <a:solidFill>
                  <a:schemeClr val="tx1"/>
                </a:solidFill>
              </a:defRPr>
            </a:lvl4pPr>
            <a:lvl5pPr algn="just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CF0A9E9-591A-412B-F4B6-24BFEEE8F4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algn="just">
              <a:defRPr>
                <a:solidFill>
                  <a:schemeClr val="tx1"/>
                </a:solidFill>
              </a:defRPr>
            </a:lvl1pPr>
            <a:lvl2pPr algn="just">
              <a:defRPr>
                <a:solidFill>
                  <a:schemeClr val="tx1"/>
                </a:solidFill>
              </a:defRPr>
            </a:lvl2pPr>
            <a:lvl3pPr algn="just">
              <a:defRPr>
                <a:solidFill>
                  <a:schemeClr val="tx1"/>
                </a:solidFill>
              </a:defRPr>
            </a:lvl3pPr>
            <a:lvl4pPr algn="just">
              <a:defRPr>
                <a:solidFill>
                  <a:schemeClr val="tx1"/>
                </a:solidFill>
              </a:defRPr>
            </a:lvl4pPr>
            <a:lvl5pPr algn="just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30A9B05-3400-95B1-EDC6-1A81DB005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25.08.2026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BD98076-48C0-13EC-B58E-BFEBC4D3D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F50A10C-E49D-98B3-6940-4AD405E86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9417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92B8D7-8C24-CD6A-24CF-D85C02642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8181D98-F7C9-27CE-8555-5378E187A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09F17AB-0E0B-ACBB-BFCF-5BE6A088A6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36D93FB-F317-1E80-E64C-9CCAD73F6D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E55B89D-9658-7DE9-5361-72576FF01E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47EA6F6-01EB-C735-E5E9-466653562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25.08.2026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983236D-2E45-AF9F-29CF-1BCD9E5B0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8B87952-20E1-F943-D633-B945E5FAA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2737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D97868-701D-0864-3F72-3F73C2F2F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25F3226-F8FF-3601-A721-7A5164740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25.08.2026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C1349F6-C9AC-69C4-6CDF-D3FF1E356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1CFFC58-6F88-45A3-8863-B3A47E411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0071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0900B60-5D34-2EAD-75E4-6362B8BB3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25.08.2026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A332A0D-F144-5629-2918-4AC3B2A87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EA6117C-A750-E451-61F1-A23F7EAC8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4876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883CE8-EEFB-3728-C792-33F9B7E89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F636B0-2AF6-261A-AF3B-58C48790E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FF0DCE7-FD2E-FDFA-834E-AB143A801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D6E01CB-A999-3B9A-26C3-3B8B4772C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25.08.2026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AFA5FB6-0ADB-4897-EC89-997C6629E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438693E-3582-C76A-F7EA-35626DBB9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0773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43F6F8-06F4-D6FB-FF96-B63434519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E6E2142-FBAD-832C-00D7-9093123C04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1EED1E1-6746-7122-1FA6-51D8B312AD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59B3343-D4C8-9DD4-539E-0C33CF078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25.08.2026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B6345B8-3F70-71A5-A28A-D66D10F6C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900B39C-E10C-6728-7702-E9A288AAE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5892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09A775-4566-AB37-ECA3-511886458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15F404F-7C02-7A06-20E2-BC0FF14B71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FCFF75-6691-82BF-F867-D54B7D9E8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25.08.2026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43EBE1-B8AC-F436-F054-250DD167C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9CE126-C0F5-80AD-877D-A8ADA92F1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0776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81F1B13-0870-5354-FB4A-2A89CBAE6E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9EC8834-8F73-C9D0-6D17-92DDA90FE7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9E1AE2-62A4-0FB1-0E68-4CDE18121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25.08.2026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EED4CF8-25F3-CE9F-E2A2-B13962D40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03A55C-B2DE-1FC1-5699-7C7C183A1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3992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web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A88E3A-7C7D-A8D5-CA5D-44F5186A3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0ECD909-37F8-6264-EDA4-21FCBDC7B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0B4642-4503-07B4-793C-F293B371CF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D6D0B5-4627-4654-B836-B6EC90072DE6}" type="datetimeFigureOut">
              <a:rPr lang="ru-RU" smtClean="0"/>
              <a:t>25.08.2026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AFF8FD-9F33-62BB-4DE9-EE176E4671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EF3BDB-B96E-71C3-64DF-890259AF59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F0DE34-1BEB-4871-8740-9BC4F9DF8F14}" type="slidenum">
              <a:rPr lang="ru-RU" smtClean="0"/>
              <a:t>‹#›</a:t>
            </a:fld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315B88C-F567-7C5A-0BE9-DC77DC1A098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9654" y="0"/>
            <a:ext cx="2652346" cy="624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863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9D09EB-D310-56F2-2FA2-5E9D4A8E1F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4400" dirty="0"/>
              <a:t>Введение в защиту информации. Историческая справка</a:t>
            </a:r>
            <a:r>
              <a:rPr lang="ru-RU" sz="4400"/>
              <a:t>. </a:t>
            </a:r>
            <a:br>
              <a:rPr lang="ru-RU" sz="4400"/>
            </a:br>
            <a:r>
              <a:rPr lang="ru-RU" sz="4400"/>
              <a:t>Основная </a:t>
            </a:r>
            <a:r>
              <a:rPr lang="ru-RU" sz="4400" dirty="0"/>
              <a:t>терминология.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94C793E-E34E-6099-5764-06CE9A06D3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28644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5DFE62-8A2A-6A1A-F76F-D50C2AE47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Шифрование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014914-82DE-5E88-7D39-D21D72F563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Криптография наука изучающая методы и способы работы с информацией с целью её защиты</a:t>
            </a:r>
          </a:p>
          <a:p>
            <a:pPr marL="0" indent="0">
              <a:buNone/>
            </a:pPr>
            <a:r>
              <a:rPr lang="ru-RU" dirty="0"/>
              <a:t>Сюда относят:</a:t>
            </a:r>
          </a:p>
          <a:p>
            <a:r>
              <a:rPr lang="ru-RU" dirty="0"/>
              <a:t>Обеспечение конфиденциальности</a:t>
            </a:r>
          </a:p>
          <a:p>
            <a:r>
              <a:rPr lang="ru-RU" dirty="0"/>
              <a:t>Обеспечение целостности</a:t>
            </a:r>
          </a:p>
          <a:p>
            <a:r>
              <a:rPr lang="ru-RU" dirty="0"/>
              <a:t>Обеспечение доступности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23442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E62814-77DA-5C87-098F-752CE78EF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Основная терминология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AD5A3A-EE34-2BFF-5350-267D3CABC5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Алгоритм шифрования – перевод открытого текста в зашифрованный текст. Зашифрованный текст также называют </a:t>
            </a:r>
            <a:r>
              <a:rPr lang="ru-RU" dirty="0" err="1"/>
              <a:t>шифротекстом</a:t>
            </a:r>
            <a:r>
              <a:rPr lang="ru-RU" dirty="0"/>
              <a:t>, шифрограммой, криптограммой. Лучше использовать ШИФРОТЕКСТ.</a:t>
            </a:r>
          </a:p>
          <a:p>
            <a:pPr marL="0" indent="0">
              <a:buNone/>
            </a:pPr>
            <a:r>
              <a:rPr lang="ru-RU" dirty="0"/>
              <a:t>Обратный процесс называют расшифрование. На математическом языке: обратная операция.</a:t>
            </a:r>
          </a:p>
          <a:p>
            <a:pPr marL="0" indent="0">
              <a:buNone/>
            </a:pPr>
            <a:r>
              <a:rPr lang="ru-RU" dirty="0"/>
              <a:t>Ключ шифрования – некоторая случайная последовательность, которая используется при шифровании, расшифровании</a:t>
            </a:r>
          </a:p>
        </p:txBody>
      </p:sp>
    </p:spTree>
    <p:extLst>
      <p:ext uri="{BB962C8B-B14F-4D97-AF65-F5344CB8AC3E}">
        <p14:creationId xmlns:p14="http://schemas.microsoft.com/office/powerpoint/2010/main" val="244506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E21407-4CA4-2B73-F5B6-D955FD63E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Шифр подстановки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53DD8E-F33A-1658-4577-AADCAF27F5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Самый известный пример: Шифр Цезаря(шифр сдвига)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1C239F4-30BC-9D44-CC92-3A90C8F386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549" y="2496278"/>
            <a:ext cx="5332901" cy="3996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1848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E3C51B-4C0F-7693-8080-345C49647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Шифр замены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437EF0D-AAC9-9D3B-FA0F-24F953ED8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Берётся исходный алфавит и перемешивается случайным образом. Дальше символы в тексте заменяются на символы нового алфавита.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78E91EC-DD58-979F-91FA-606011B46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01043"/>
            <a:ext cx="10677525" cy="268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22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E3C51B-4C0F-7693-8080-345C49647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Шифр замены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437EF0D-AAC9-9D3B-FA0F-24F953ED8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Расшифруйте </a:t>
            </a:r>
            <a:r>
              <a:rPr lang="ru-RU" dirty="0" err="1"/>
              <a:t>шифротекст</a:t>
            </a:r>
            <a:r>
              <a:rPr lang="ru-RU" dirty="0"/>
              <a:t>:</a:t>
            </a:r>
            <a:r>
              <a:rPr lang="ru-RU" sz="4000" dirty="0">
                <a:solidFill>
                  <a:srgbClr val="FF0000"/>
                </a:solidFill>
              </a:rPr>
              <a:t> </a:t>
            </a:r>
            <a:r>
              <a:rPr lang="ru-RU" b="0" i="0" u="none" strike="noStrike" dirty="0">
                <a:solidFill>
                  <a:srgbClr val="FF0000"/>
                </a:solidFill>
                <a:effectLst/>
              </a:rPr>
              <a:t>ИСТПЕВНЧЙ</a:t>
            </a:r>
            <a:r>
              <a:rPr lang="ru-RU" sz="4000" dirty="0">
                <a:solidFill>
                  <a:srgbClr val="FF0000"/>
                </a:solidFill>
              </a:rPr>
              <a:t> </a:t>
            </a:r>
            <a:endParaRPr lang="ru-RU" dirty="0">
              <a:solidFill>
                <a:srgbClr val="FF0000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78E91EC-DD58-979F-91FA-606011B46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01043"/>
            <a:ext cx="10677525" cy="268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24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6D188D-7666-2EBE-8F56-BB064BB52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Шифры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CDB118-7BCA-1C35-8F91-DE598DDA7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Моноалфавитные</a:t>
            </a:r>
            <a:r>
              <a:rPr lang="ru-RU" dirty="0"/>
              <a:t> – используют символы одного алфавита </a:t>
            </a:r>
          </a:p>
          <a:p>
            <a:r>
              <a:rPr lang="ru-RU" dirty="0" err="1"/>
              <a:t>Полиалфавитные</a:t>
            </a:r>
            <a:r>
              <a:rPr lang="ru-RU" dirty="0"/>
              <a:t> – используют символы разных алфавитов в заданной последовательности</a:t>
            </a:r>
          </a:p>
        </p:txBody>
      </p:sp>
    </p:spTree>
    <p:extLst>
      <p:ext uri="{BB962C8B-B14F-4D97-AF65-F5344CB8AC3E}">
        <p14:creationId xmlns:p14="http://schemas.microsoft.com/office/powerpoint/2010/main" val="178254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B89462-9673-2A40-2D75-946EB1C0D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Шифр </a:t>
            </a:r>
            <a:r>
              <a:rPr lang="ru-RU" dirty="0" err="1"/>
              <a:t>Вижинера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40A774-36BF-E74E-5D0D-D044C76F6B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Для символов на нечётной позиции берём первую строку</a:t>
            </a:r>
          </a:p>
          <a:p>
            <a:pPr marL="0" indent="0">
              <a:buNone/>
            </a:pPr>
            <a:r>
              <a:rPr lang="ru-RU" dirty="0"/>
              <a:t>Для символов на чётной позиции берём вторую строку</a:t>
            </a:r>
          </a:p>
          <a:p>
            <a:pPr marL="0" indent="0">
              <a:buNone/>
            </a:pPr>
            <a:r>
              <a:rPr lang="ru-RU" dirty="0"/>
              <a:t>Пример: </a:t>
            </a:r>
            <a:r>
              <a:rPr lang="en-US" sz="4800" dirty="0"/>
              <a:t>he</a:t>
            </a:r>
            <a:r>
              <a:rPr lang="en-US" sz="4800" dirty="0">
                <a:solidFill>
                  <a:srgbClr val="FF0000"/>
                </a:solidFill>
              </a:rPr>
              <a:t>l</a:t>
            </a:r>
            <a:r>
              <a:rPr lang="en-US" sz="4800" dirty="0">
                <a:solidFill>
                  <a:srgbClr val="00B050"/>
                </a:solidFill>
              </a:rPr>
              <a:t>l</a:t>
            </a:r>
            <a:r>
              <a:rPr lang="en-US" sz="4800" dirty="0"/>
              <a:t>o</a:t>
            </a:r>
            <a:r>
              <a:rPr lang="ru-RU" sz="4800" dirty="0"/>
              <a:t> -</a:t>
            </a:r>
            <a:r>
              <a:rPr lang="en-US" sz="4800" dirty="0"/>
              <a:t>&gt; SH</a:t>
            </a:r>
            <a:r>
              <a:rPr lang="en-US" sz="4800" dirty="0">
                <a:solidFill>
                  <a:srgbClr val="FF0000"/>
                </a:solidFill>
              </a:rPr>
              <a:t>L</a:t>
            </a:r>
            <a:r>
              <a:rPr lang="en-US" sz="4800" dirty="0">
                <a:solidFill>
                  <a:srgbClr val="00B050"/>
                </a:solidFill>
              </a:rPr>
              <a:t>J</a:t>
            </a:r>
            <a:r>
              <a:rPr lang="en-US" sz="4800" dirty="0"/>
              <a:t>V</a:t>
            </a:r>
            <a:endParaRPr lang="ru-RU" sz="4800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8E3E5BA-7559-E295-BFC0-74F7CD2B8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" y="3837089"/>
            <a:ext cx="10782300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367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E6489B-496E-F474-E897-18F91DC7E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Взлом шифров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83F1CC-C0DE-7062-C22E-6AB527338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Частотный анализ языка</a:t>
            </a:r>
          </a:p>
          <a:p>
            <a:r>
              <a:rPr lang="ru-RU" dirty="0"/>
              <a:t>Биграммы, триграммы</a:t>
            </a:r>
          </a:p>
          <a:p>
            <a:r>
              <a:rPr lang="ru-RU" dirty="0"/>
              <a:t>Человеческий фактор – короткий ключ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33879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ED458D-6EEC-5A19-1ACB-98CEA96AC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Перестановочные шифры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26B46935-7DC3-CB49-6953-300454C3B8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7094" y="1343593"/>
            <a:ext cx="7457812" cy="5424682"/>
          </a:xfrm>
        </p:spPr>
      </p:pic>
    </p:spTree>
    <p:extLst>
      <p:ext uri="{BB962C8B-B14F-4D97-AF65-F5344CB8AC3E}">
        <p14:creationId xmlns:p14="http://schemas.microsoft.com/office/powerpoint/2010/main" val="15845193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63561C-6B08-41C6-91C1-4EB153385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Известные учёные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10F869-F568-CC93-0AB8-13F767E71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Клод Шеннон в 1949 году в работе «Теория связи в секретных системах» применил к криптографии математический подход — заложил основы теории информации. </a:t>
            </a:r>
          </a:p>
          <a:p>
            <a:pPr marL="0" indent="0">
              <a:buNone/>
            </a:pPr>
            <a:r>
              <a:rPr lang="ru-RU" dirty="0"/>
              <a:t>Ральф </a:t>
            </a:r>
            <a:r>
              <a:rPr lang="ru-RU" dirty="0" err="1"/>
              <a:t>Меркл</a:t>
            </a:r>
            <a:r>
              <a:rPr lang="ru-RU" dirty="0"/>
              <a:t> независимо предложил идею криптографии с открытым ключом (безопасный обмен ключами по открытому каналу) — это стало прорывом. </a:t>
            </a:r>
          </a:p>
          <a:p>
            <a:pPr marL="0" indent="0">
              <a:buNone/>
            </a:pPr>
            <a:r>
              <a:rPr lang="ru-RU" dirty="0"/>
              <a:t>Дэвид </a:t>
            </a:r>
            <a:r>
              <a:rPr lang="ru-RU" dirty="0" err="1"/>
              <a:t>Чаум</a:t>
            </a:r>
            <a:r>
              <a:rPr lang="ru-RU" dirty="0"/>
              <a:t> стал пионером в области анонимных коммуникаций и цифровых денег (например, разработал «слепые подписи»).</a:t>
            </a:r>
          </a:p>
        </p:txBody>
      </p:sp>
    </p:spTree>
    <p:extLst>
      <p:ext uri="{BB962C8B-B14F-4D97-AF65-F5344CB8AC3E}">
        <p14:creationId xmlns:p14="http://schemas.microsoft.com/office/powerpoint/2010/main" val="34081358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C73A38-EE36-B635-A030-571FE38A5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Вклад Клода Шеннона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2198EF-96B9-EE73-B14B-A406424F6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Математическая формализация – стал рассматривать криптографические системы как преобразования между пространствами: одно пространство — это все возможные открытые тексты, другое — все возможные криптограммы (зашифрованные тексты).</a:t>
            </a:r>
          </a:p>
          <a:p>
            <a:pPr marL="0" indent="0">
              <a:buNone/>
            </a:pPr>
            <a:r>
              <a:rPr lang="ru-RU" dirty="0"/>
              <a:t>Понятие абсолютной стойкости – дал строгое определение: шифр считается </a:t>
            </a:r>
            <a:r>
              <a:rPr lang="ru-RU" b="1" i="1" dirty="0"/>
              <a:t>абсолютно стойким</a:t>
            </a:r>
            <a:r>
              <a:rPr lang="ru-RU" dirty="0"/>
              <a:t>, если наличие </a:t>
            </a:r>
            <a:r>
              <a:rPr lang="ru-RU" dirty="0" err="1"/>
              <a:t>шифртекста</a:t>
            </a:r>
            <a:r>
              <a:rPr lang="ru-RU" dirty="0"/>
              <a:t> не даёт криптоаналитику никакой дополнительной информации об открытом тексте. Доказал, что такие системы существуют, и показал ключевой пример — шифр </a:t>
            </a:r>
            <a:r>
              <a:rPr lang="ru-RU" dirty="0" err="1"/>
              <a:t>Вернама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86712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162AF-C641-7646-B4D5-517281CDF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CFAF49-A9E9-0318-8607-846A22B3B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Вклад Клода Шеннона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B1299F-36AC-59A9-6D01-CBB20E0B9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Требования к надёжным шифрам – выделил принципы:</a:t>
            </a:r>
          </a:p>
          <a:p>
            <a:r>
              <a:rPr lang="ru-RU" b="1" i="1" dirty="0"/>
              <a:t>Рассеивание</a:t>
            </a:r>
            <a:r>
              <a:rPr lang="ru-RU" dirty="0"/>
              <a:t> – распространение влияния одного символа ключа на много символов открытого текста)</a:t>
            </a:r>
          </a:p>
          <a:p>
            <a:r>
              <a:rPr lang="ru-RU" b="1" i="1" dirty="0"/>
              <a:t>Перемешивание</a:t>
            </a:r>
            <a:r>
              <a:rPr lang="ru-RU" dirty="0"/>
              <a:t> – сложное взаимодействие между ключом и открытым текстом, чтобы статистические свойства не прослеживались в </a:t>
            </a:r>
            <a:r>
              <a:rPr lang="ru-RU" dirty="0" err="1"/>
              <a:t>шифртексте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098907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0DA39-5957-4940-361D-3EDDE8C00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5A302F-3463-C501-2A8E-AD47ED077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Вклад Клода Шеннона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25C788-8E14-ACB4-6A69-10582F419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Связь криптографии и теории информации – показал глубокую аналогию между секретной связью и передачей информации в канале с шумом. </a:t>
            </a:r>
          </a:p>
          <a:p>
            <a:pPr marL="0" indent="0">
              <a:buNone/>
            </a:pPr>
            <a:r>
              <a:rPr lang="ru-RU" dirty="0"/>
              <a:t>Оценка безопасности – ввёл количественные меры, например, через концепцию энтропии (меры неопределённости или избыточности информации).</a:t>
            </a:r>
          </a:p>
        </p:txBody>
      </p:sp>
    </p:spTree>
    <p:extLst>
      <p:ext uri="{BB962C8B-B14F-4D97-AF65-F5344CB8AC3E}">
        <p14:creationId xmlns:p14="http://schemas.microsoft.com/office/powerpoint/2010/main" val="28175555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37D0F0-8044-1D91-3676-3353A0AEE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sz="3600" dirty="0"/>
              <a:t>Шифр </a:t>
            </a:r>
            <a:r>
              <a:rPr lang="ru-RU" sz="3600" dirty="0" err="1"/>
              <a:t>Вернама</a:t>
            </a:r>
            <a:r>
              <a:rPr lang="ru-RU" sz="3600" dirty="0"/>
              <a:t> – одноразовый </a:t>
            </a:r>
            <a:r>
              <a:rPr lang="ru-RU" sz="3600" dirty="0" err="1"/>
              <a:t>шифрблокнот</a:t>
            </a:r>
            <a:endParaRPr lang="ru-RU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9A9764-0A6C-2027-9B1C-EC81D2A4E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sz="2400" dirty="0"/>
              <a:t>Подготовка ключа. Генерируется случайная битовая последовательность (ключ), длина которой должна быть равна или превышать длину сообщения.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400" dirty="0"/>
              <a:t>Шифрование. Исходный текст (открытый текст) и ключ представляются в виде последовательностей битов. Для каждой пары соответствующих битов выполняется операция XOR. Результат этой операции — зашифрованный текст.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400" dirty="0"/>
              <a:t>Дешифрование. Тот же самый ключ применяется к зашифрованному тексту с помощью той же операции XOR, что позволяет восстановить исходный открытый текст.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DC8E789-A798-52B5-6F6E-8DC959F77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5225" y="5473700"/>
            <a:ext cx="4781550" cy="101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1589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1E069C-FADA-E3B3-6378-4752F81F6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Шифровальная машина Энигма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87D6C4-F5DA-1230-BE41-B7BB64E71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У «Энигмы» было две основные части:</a:t>
            </a:r>
          </a:p>
          <a:p>
            <a:r>
              <a:rPr lang="ru-RU" dirty="0"/>
              <a:t>Механическая – клавиатура, набор вращающихся дисков — роторов (в стандартной военной версии их было три, позже появились и другие варианты), и ступенчатый механизм, который при нажатии клавиши приводил роторы в движение.</a:t>
            </a:r>
          </a:p>
          <a:p>
            <a:r>
              <a:rPr lang="ru-RU" dirty="0"/>
              <a:t>Электрическая – схема, соединяющая клавиатуру, коммутационную панель, роторы (через скользящие контакты) и набор лампочек.</a:t>
            </a:r>
          </a:p>
          <a:p>
            <a:pPr marL="0" indent="0">
              <a:buNone/>
            </a:pPr>
            <a:r>
              <a:rPr lang="ru-RU" dirty="0"/>
              <a:t>Отдельно стоит сказать про </a:t>
            </a:r>
            <a:r>
              <a:rPr lang="ru-RU" b="1" i="1" dirty="0"/>
              <a:t>Рефлектор </a:t>
            </a:r>
            <a:r>
              <a:rPr lang="ru-RU" dirty="0"/>
              <a:t>— неподвижный диск за роторами. Именно он делал машину реверсивной: если у отправителя и получателя настроена одинаковая конфигурация, процесс шифрования на одной машине становится процессом дешифрования на другой — и наоборот.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27721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CB1166-69D6-9382-C219-67ED3A957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Шифровальная машина Энигма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3ED7959-411E-FD78-89E0-5610ABC9F4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Когда оператор нажимал клавишу, замыкала электрическая цепь.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Сначала сигнал шёл через коммутационную панель. Если на ней были соединения (штепсели), ток «перепрыгивал» на пару букв, и только потом шёл дальше. 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Затем ток попадал на входное колесо, которое направляло сигнал к первому ротору. Дальше сигнал проходил через роторы. Каждый ротор выполнял свою фиксированную подстановку: при текущем положении диска буква «А» превращалась в другую (например, в «G»). После третьего ротора ток достигал рефлектора. 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Рефлектор «отражал» ток: он перенаправлял его на другой контакт и отправлял обратно через те же роторы, но по иной дорожке. Именно это и создавало </a:t>
            </a:r>
            <a:r>
              <a:rPr lang="ru-RU" dirty="0" err="1"/>
              <a:t>полиалфавитный</a:t>
            </a:r>
            <a:r>
              <a:rPr lang="ru-RU" dirty="0"/>
              <a:t> шифр — одна и та же буква при разных нажатиях (из-за вращения роторов) шифровалась по-разному. 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На выходе сигнал снова проходил через коммутационную панель (если были соединения), а затем шёл к блоку лампочек.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Загоралась лампочка, обозначавшая зашифрованную букву — её и записывали в криптограмму.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546971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E17D0-BCBF-CAC4-A1BD-EEACAE88F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7851A1-BAD9-32B7-361C-DFDA2A203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Шифровальная машина Энигма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D0919E-C297-D06C-2BB7-AD597CD32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46413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При каждом нажатии самый правый ротор сдвигался на одну позицию. </a:t>
            </a:r>
          </a:p>
          <a:p>
            <a:pPr marL="0" indent="0">
              <a:buNone/>
            </a:pPr>
            <a:r>
              <a:rPr lang="ru-RU" dirty="0"/>
              <a:t>Если он совершал полный оборот, срабатывал фиксатор, который сдвигал и следующий (левый) ротор. Из-за этого при каждом новом нажатии электрическая цепь менялась, и шифрование одной и той же буквы давало разный результат. 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EE0176D-0600-6A7C-3FC6-886288AF76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491" y="1825625"/>
            <a:ext cx="3761509" cy="501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3775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54AFB2-2BBA-C04D-05CA-658811217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Стойкость Энигмы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610F11-2FB6-79E6-4910-4C91C2AA8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Количество роторов и их порядок – можно было выбрать несколько дисков из набора и расставить их в разном порядке — это давало дополнительные варианты. </a:t>
            </a:r>
          </a:p>
          <a:p>
            <a:r>
              <a:rPr lang="ru-RU" dirty="0"/>
              <a:t>Начальные позиции роторов – их задавал оператор перед началом работы.</a:t>
            </a:r>
          </a:p>
          <a:p>
            <a:r>
              <a:rPr lang="ru-RU" dirty="0"/>
              <a:t>Настройки коммутационной панели (соединения штепселей). </a:t>
            </a:r>
          </a:p>
          <a:p>
            <a:pPr marL="0" indent="0">
              <a:buNone/>
            </a:pPr>
            <a:r>
              <a:rPr lang="ru-RU" dirty="0"/>
              <a:t>Все эти параметры вместе составляли ключ шифрования. Их регулярно меняли, а для каждого сообщения использовали особый «индикатор» (часто три буквы) — его шифровали с помощью дневного ключа и отправляли вместе с сообщением. </a:t>
            </a:r>
          </a:p>
        </p:txBody>
      </p:sp>
    </p:spTree>
    <p:extLst>
      <p:ext uri="{BB962C8B-B14F-4D97-AF65-F5344CB8AC3E}">
        <p14:creationId xmlns:p14="http://schemas.microsoft.com/office/powerpoint/2010/main" val="35604023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C7CF06-9470-8D8B-2221-96567D431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Взлом Энигмы. Машина </a:t>
            </a:r>
            <a:r>
              <a:rPr lang="en-US" dirty="0"/>
              <a:t>Bombe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8F0439-035E-F687-C19A-094488F29B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Использование известных фрагментов текста («подсказок»). Немецкие операторы часто использовали стандартные фразы (приветствия, прогнозы погоды, координаты). Зная вероятные слова в сообщении, можно было сузить круг возможных ключей.</a:t>
            </a:r>
          </a:p>
          <a:p>
            <a:r>
              <a:rPr lang="ru-RU" dirty="0"/>
              <a:t>Логическое исключение неверных вариантов. </a:t>
            </a:r>
            <a:r>
              <a:rPr lang="ru-RU" dirty="0" err="1"/>
              <a:t>Bombe</a:t>
            </a:r>
            <a:r>
              <a:rPr lang="ru-RU" dirty="0"/>
              <a:t> быстро отбрасывала тысячи несовместимых комбинаций на основе простых логических противоречий в шифре (например, в «Энигме» буква никогда не шифровалась сама в себя).</a:t>
            </a:r>
          </a:p>
          <a:p>
            <a:r>
              <a:rPr lang="ru-RU" dirty="0"/>
              <a:t>Оптимизация перебора. Тьюринг улучшил и масштабировал подходы, частично основанные на более ранних наработках польских криптоаналитиков (в частности, на их «бомбах» Мариана </a:t>
            </a:r>
            <a:r>
              <a:rPr lang="ru-RU" dirty="0" err="1"/>
              <a:t>Реевского</a:t>
            </a:r>
            <a:r>
              <a:rPr lang="ru-RU" dirty="0"/>
              <a:t>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04940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A4D258-1E35-3DCF-685F-8FDA4B37D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Машина </a:t>
            </a:r>
            <a:r>
              <a:rPr lang="en-US" dirty="0"/>
              <a:t>Bombe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28885570-8859-2A21-8BE9-FD3C5ACFAD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8172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B762D5-CE3F-6E32-3913-F787B8477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Советская криптография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C6D400-B7DD-2587-29F0-6D5A11BA7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i="1" dirty="0"/>
              <a:t>Иван Павлович Волосок</a:t>
            </a:r>
          </a:p>
          <a:p>
            <a:pPr marL="0" indent="0">
              <a:buNone/>
            </a:pPr>
            <a:r>
              <a:rPr lang="ru-RU" dirty="0"/>
              <a:t>В 1932 году под его руководством создали первую советскую шифровальную машину — ШМВ-1 (Шифровальная машина Волоска). В ней использовался принцип наложения случайной последовательности знаков гаммы на открытый текст. Машину успешно испытали в боевых условиях — в Испании, на Халхин-Голе, в войне с Финляндией.</a:t>
            </a:r>
          </a:p>
        </p:txBody>
      </p:sp>
    </p:spTree>
    <p:extLst>
      <p:ext uri="{BB962C8B-B14F-4D97-AF65-F5344CB8AC3E}">
        <p14:creationId xmlns:p14="http://schemas.microsoft.com/office/powerpoint/2010/main" val="17834444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D56038-8949-087D-39AA-9BAFD3DAD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Советская криптография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967A8F-34F4-32EE-3894-E897CCE76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Владимир Александрович Котельников</a:t>
            </a:r>
          </a:p>
          <a:p>
            <a:pPr marL="0" indent="0">
              <a:buNone/>
            </a:pPr>
            <a:r>
              <a:rPr lang="ru-RU" dirty="0"/>
              <a:t>В 1938–1939 годах в Центральном научно-исследовательском институте связи он возглавил работы по засекречиванию телеграфной и телефонной связи. Котельников разработал принципы построения аппаратуры, где на сообщение накладывалась гамма (аппаратура «Москва»). </a:t>
            </a:r>
          </a:p>
          <a:p>
            <a:pPr marL="0" indent="0">
              <a:buNone/>
            </a:pPr>
            <a:r>
              <a:rPr lang="ru-RU" dirty="0"/>
              <a:t>В 1939 году он создал шифратор для засекречивания речевых сигналов — С-1 («Соболь»), который широко применялся в действующей армии. Позже появился усовершенствованный вариант — «Соболь-П» (1942), который использовали для шифрования коротковолновой радиотелефонии. Считается, что применение таких устройств в значительной степени повлияло на исход боёв на Курской дуге.</a:t>
            </a:r>
          </a:p>
        </p:txBody>
      </p:sp>
    </p:spTree>
    <p:extLst>
      <p:ext uri="{BB962C8B-B14F-4D97-AF65-F5344CB8AC3E}">
        <p14:creationId xmlns:p14="http://schemas.microsoft.com/office/powerpoint/2010/main" val="7896266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8514CA-41F0-EF42-0CDA-1CC8EFFC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Базовые определения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59E869-3D76-CD18-BF18-78EFC9E30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b="1" i="1" dirty="0"/>
              <a:t>Защита информации </a:t>
            </a:r>
            <a:r>
              <a:rPr lang="ru-RU" dirty="0"/>
              <a:t>— это деятельность, направленная на предотвращение утечки защищаемой информации, а также несанкционированных и непреднамеренных воздействий на неё.</a:t>
            </a:r>
          </a:p>
          <a:p>
            <a:r>
              <a:rPr lang="ru-RU" b="1" i="1" dirty="0"/>
              <a:t>Информационная безопасность </a:t>
            </a:r>
            <a:r>
              <a:rPr lang="ru-RU" dirty="0"/>
              <a:t>— это состояние защищённости информационных ресурсов (информационной среды) от внутренних и внешних угроз, способных нанести ущерб интересам личности, общества или государства.</a:t>
            </a:r>
          </a:p>
          <a:p>
            <a:r>
              <a:rPr lang="ru-RU" b="1" i="1" dirty="0"/>
              <a:t>Безопасность информации </a:t>
            </a:r>
            <a:r>
              <a:rPr lang="ru-RU" dirty="0"/>
              <a:t>— это защищённость информации от нежелательного (для субъектов информационных отношений) её разглашения, искажения, утраты или снижения степени доступности, а также незаконного тиражирования. </a:t>
            </a:r>
          </a:p>
          <a:p>
            <a:pPr marL="0" indent="0">
              <a:buNone/>
            </a:pP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60300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D5A288-47A0-5470-220A-C0F11A344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Виды защиты информации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C607FE-473E-03C1-1A76-9D29644A3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 i="1" dirty="0"/>
              <a:t>Правовая защита </a:t>
            </a:r>
            <a:r>
              <a:rPr lang="ru-RU" dirty="0"/>
              <a:t>– использование законодательных и нормативных актов, регулирующих отношения в сфере защиты информации, а также надзор и контроль за их исполнением.</a:t>
            </a:r>
          </a:p>
          <a:p>
            <a:pPr marL="0" indent="0">
              <a:buNone/>
            </a:pPr>
            <a:r>
              <a:rPr lang="ru-RU" b="1" i="1" dirty="0"/>
              <a:t>Техническая защита </a:t>
            </a:r>
            <a:r>
              <a:rPr lang="ru-RU" dirty="0"/>
              <a:t>– обеспечение безопасности информации не криптографическими методами с применением технических, программных и программно-технических средств.</a:t>
            </a:r>
          </a:p>
          <a:p>
            <a:pPr marL="0" indent="0">
              <a:buNone/>
            </a:pPr>
            <a:r>
              <a:rPr lang="ru-RU" b="1" i="1" dirty="0"/>
              <a:t>Криптографическая защита </a:t>
            </a:r>
            <a:r>
              <a:rPr lang="ru-RU" dirty="0"/>
              <a:t>– преобразование информации с помощью криптографических алгоритмов для её защиты.</a:t>
            </a:r>
          </a:p>
          <a:p>
            <a:pPr marL="0" indent="0">
              <a:buNone/>
            </a:pPr>
            <a:r>
              <a:rPr lang="ru-RU" b="1" i="1" dirty="0"/>
              <a:t>Физическая защита </a:t>
            </a:r>
            <a:r>
              <a:rPr lang="ru-RU" dirty="0"/>
              <a:t>– применение организационных мероприятий и средств, создающих препятствия для несанкционированного доступа к объектам защиты (охраняемым территориям, зданиям, помещениям, носителям информации).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63771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4B9723-F5B8-A25A-D02D-05A788FE4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Способы защиты информации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86BB86-FD38-0547-CD83-0B8961980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b="1" i="1" dirty="0"/>
              <a:t>Защита от утечки </a:t>
            </a:r>
            <a:r>
              <a:rPr lang="ru-RU" dirty="0"/>
              <a:t>– деятельность, направленная на предотвращение неконтролируемого распространения защищаемой информации из-за её разглашения или несанкционированного доступа.</a:t>
            </a:r>
          </a:p>
          <a:p>
            <a:pPr marL="0" indent="0">
              <a:buNone/>
            </a:pPr>
            <a:r>
              <a:rPr lang="ru-RU" b="1" i="1" dirty="0"/>
              <a:t>Защита от несанкционированного воздействия (НСВ) </a:t>
            </a:r>
            <a:r>
              <a:rPr lang="ru-RU" dirty="0"/>
              <a:t>– деятельность по предотвращению доступа к информации с нарушением установленных прав и правил, что может привести к её искажению, уничтожению, блокированию доступа и другим негативным последствиям.</a:t>
            </a:r>
          </a:p>
          <a:p>
            <a:pPr marL="0" indent="0">
              <a:buNone/>
            </a:pPr>
            <a:r>
              <a:rPr lang="ru-RU" b="1" i="1" dirty="0"/>
              <a:t>Защита от непреднамеренного воздействия </a:t>
            </a:r>
            <a:r>
              <a:rPr lang="ru-RU" dirty="0"/>
              <a:t>– деятельность по предотвращению ошибок пользователей, сбоев технических и программных средств, природных явлений и иных нецеленаправленных событий, которые могут привести к искажению, уничтожению или блокированию доступа к информации.</a:t>
            </a:r>
          </a:p>
          <a:p>
            <a:pPr marL="0" indent="0">
              <a:buNone/>
            </a:pPr>
            <a:r>
              <a:rPr lang="ru-RU" b="1" i="1" dirty="0"/>
              <a:t>Защита от разглашения</a:t>
            </a:r>
            <a:r>
              <a:rPr lang="ru-RU" dirty="0"/>
              <a:t> – деятельность по предотвращению несанкционированного доведения защищаемой информации до субъектов, не имеющих права доступа к ней.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695495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E8E38E-4700-623F-6126-AA3A2D578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Угрозы безопасности информации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08D312-401F-BEBB-E304-586BA3AB3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Угроза — это событие или действие, которое может нарушить конфиденциальность, целостность или доступность информации. Угрозы могут быть:</a:t>
            </a:r>
          </a:p>
          <a:p>
            <a:r>
              <a:rPr lang="ru-RU" b="1" i="1" dirty="0"/>
              <a:t>По источнику</a:t>
            </a:r>
            <a:r>
              <a:rPr lang="ru-RU" dirty="0"/>
              <a:t>: внутренние (действия сотрудников) и внешние (хакерские атаки, вирусы).</a:t>
            </a:r>
          </a:p>
          <a:p>
            <a:r>
              <a:rPr lang="ru-RU" b="1" i="1" dirty="0"/>
              <a:t>По цели</a:t>
            </a:r>
            <a:r>
              <a:rPr lang="ru-RU" dirty="0"/>
              <a:t>: направленные на нарушение конфиденциальности, целостности или доступности.</a:t>
            </a:r>
          </a:p>
          <a:p>
            <a:r>
              <a:rPr lang="ru-RU" b="1" i="1" dirty="0"/>
              <a:t>По способу реализации</a:t>
            </a:r>
            <a:r>
              <a:rPr lang="ru-RU" dirty="0"/>
              <a:t>: технические (эксплуатация уязвимостей), организационные (некорректные процедуры), физические (хищение носителей) и социальные (фишинг, социальная инженерия).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076434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5611</TotalTime>
  <Words>1526</Words>
  <Application>Microsoft Office PowerPoint</Application>
  <PresentationFormat>Широкоэкранный</PresentationFormat>
  <Paragraphs>99</Paragraphs>
  <Slides>27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0" baseType="lpstr">
      <vt:lpstr>Arial</vt:lpstr>
      <vt:lpstr>Calibri</vt:lpstr>
      <vt:lpstr>Тема Office</vt:lpstr>
      <vt:lpstr>Введение в защиту информации. Историческая справка.  Основная терминология.</vt:lpstr>
      <vt:lpstr>Шифрование</vt:lpstr>
      <vt:lpstr>Основная терминология</vt:lpstr>
      <vt:lpstr>Шифр подстановки</vt:lpstr>
      <vt:lpstr>Шифр замены</vt:lpstr>
      <vt:lpstr>Шифр замены</vt:lpstr>
      <vt:lpstr>Шифры</vt:lpstr>
      <vt:lpstr>Шифр Вижинера</vt:lpstr>
      <vt:lpstr>Взлом шифров</vt:lpstr>
      <vt:lpstr>Перестановочные шифры</vt:lpstr>
      <vt:lpstr>Известные учёные</vt:lpstr>
      <vt:lpstr>Вклад Клода Шеннона</vt:lpstr>
      <vt:lpstr>Вклад Клода Шеннона</vt:lpstr>
      <vt:lpstr>Вклад Клода Шеннона</vt:lpstr>
      <vt:lpstr>Шифр Вернама – одноразовый шифрблокнот</vt:lpstr>
      <vt:lpstr>Шифровальная машина Энигма</vt:lpstr>
      <vt:lpstr>Шифровальная машина Энигма</vt:lpstr>
      <vt:lpstr>Шифровальная машина Энигма</vt:lpstr>
      <vt:lpstr>Стойкость Энигмы</vt:lpstr>
      <vt:lpstr>Взлом Энигмы. Машина Bombe</vt:lpstr>
      <vt:lpstr>Машина Bombe</vt:lpstr>
      <vt:lpstr>Советская криптография</vt:lpstr>
      <vt:lpstr>Советская криптография</vt:lpstr>
      <vt:lpstr>Базовые определения</vt:lpstr>
      <vt:lpstr>Виды защиты информации</vt:lpstr>
      <vt:lpstr>Способы защиты информации</vt:lpstr>
      <vt:lpstr>Угрозы безопасности информации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Информационная безопасность</dc:title>
  <dc:creator>porygriu@outlook.com</dc:creator>
  <cp:lastModifiedBy>Иван Петров</cp:lastModifiedBy>
  <cp:revision>188</cp:revision>
  <dcterms:created xsi:type="dcterms:W3CDTF">2023-08-23T15:20:34Z</dcterms:created>
  <dcterms:modified xsi:type="dcterms:W3CDTF">2026-08-25T13:17:51Z</dcterms:modified>
</cp:coreProperties>
</file>