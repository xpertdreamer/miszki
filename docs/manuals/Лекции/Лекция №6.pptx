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414" r:id="rId3"/>
    <p:sldId id="418" r:id="rId4"/>
    <p:sldId id="420" r:id="rId5"/>
    <p:sldId id="421" r:id="rId6"/>
    <p:sldId id="422" r:id="rId7"/>
    <p:sldId id="424" r:id="rId8"/>
    <p:sldId id="425" r:id="rId9"/>
    <p:sldId id="429" r:id="rId10"/>
    <p:sldId id="423" r:id="rId11"/>
    <p:sldId id="426" r:id="rId12"/>
    <p:sldId id="430" r:id="rId13"/>
    <p:sldId id="431" r:id="rId14"/>
    <p:sldId id="432" r:id="rId15"/>
    <p:sldId id="428" r:id="rId16"/>
    <p:sldId id="433" r:id="rId17"/>
    <p:sldId id="434" r:id="rId18"/>
    <p:sldId id="435" r:id="rId19"/>
    <p:sldId id="436" r:id="rId20"/>
    <p:sldId id="438" r:id="rId21"/>
    <p:sldId id="439" r:id="rId22"/>
    <p:sldId id="440" r:id="rId23"/>
    <p:sldId id="441" r:id="rId24"/>
    <p:sldId id="442" r:id="rId25"/>
    <p:sldId id="443" r:id="rId26"/>
    <p:sldId id="444" r:id="rId27"/>
    <p:sldId id="445" r:id="rId28"/>
    <p:sldId id="446" r:id="rId29"/>
    <p:sldId id="447" r:id="rId30"/>
    <p:sldId id="448" r:id="rId31"/>
    <p:sldId id="449" r:id="rId32"/>
    <p:sldId id="450" r:id="rId33"/>
    <p:sldId id="451" r:id="rId34"/>
    <p:sldId id="452" r:id="rId35"/>
    <p:sldId id="453" r:id="rId36"/>
    <p:sldId id="454" r:id="rId37"/>
    <p:sldId id="455" r:id="rId38"/>
    <p:sldId id="456" r:id="rId39"/>
    <p:sldId id="457" r:id="rId40"/>
    <p:sldId id="458" r:id="rId41"/>
    <p:sldId id="459" r:id="rId42"/>
    <p:sldId id="460" r:id="rId43"/>
    <p:sldId id="464" r:id="rId44"/>
    <p:sldId id="465" r:id="rId45"/>
    <p:sldId id="466" r:id="rId46"/>
    <p:sldId id="467" r:id="rId4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85768" autoAdjust="0"/>
  </p:normalViewPr>
  <p:slideViewPr>
    <p:cSldViewPr snapToGrid="0">
      <p:cViewPr varScale="1">
        <p:scale>
          <a:sx n="50" d="100"/>
          <a:sy n="50" d="100"/>
        </p:scale>
        <p:origin x="48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2E9C8-EA95-44DC-97D6-381D54E0192E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D21C1-FA3C-45BD-918C-3C5610939C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3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A4D63-4867-5E7E-656B-50D2AE31E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2D4775-E59B-9065-E262-D7EF08445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13F79C-2546-8A08-7886-25B3FF21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734330-F5EE-3A65-F076-11D4F522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7CFFF9-2C6E-9193-3781-E2BF5DAD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85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907D3-665F-03B3-9D82-743E093A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566925-0F74-08D6-AE23-F21E98D4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E2D9BF-9BA4-D3E5-E2FD-16549DD2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99E0E6-04F4-68F0-A51F-082C2949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F5DD2-155C-BEF1-EDB7-AE2A89EE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33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A58B0-2475-A234-5D92-EB319E54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DE0B5E-82E2-4301-0A63-873CAB7B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43CA34-65F9-EA7E-2FE0-EB350B0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10B1F8-EFC2-C5EA-DF92-252959FF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CA62E-B125-C3B8-050B-9B9135DB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71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4D474-24FB-BB35-6BE3-43C821B1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F47FF2-3F2F-1239-E1E5-63B1CE098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F0A9E9-591A-412B-F4B6-24BFEEE8F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0A9B05-3400-95B1-EDC6-1A81DB005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98076-48C0-13EC-B58E-BFEBC4D3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50A10C-E49D-98B3-6940-4AD405E8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41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92B8D7-8C24-CD6A-24CF-D85C0264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181D98-F7C9-27CE-8555-5378E187A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9F17AB-0E0B-ACBB-BFCF-5BE6A088A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6D93FB-F317-1E80-E64C-9CCAD73F6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E55B89D-9658-7DE9-5361-72576FF01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7EA6F6-01EB-C735-E5E9-466653562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83236D-2E45-AF9F-29CF-1BCD9E5B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B87952-20E1-F943-D633-B945E5FA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73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97868-701D-0864-3F72-3F73C2F2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5F3226-F8FF-3601-A721-7A516474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1349F6-C9AC-69C4-6CDF-D3FF1E35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CFFC58-6F88-45A3-8863-B3A47E41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07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900B60-5D34-2EAD-75E4-6362B8BB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332A0D-F144-5629-2918-4AC3B2A8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A6117C-A750-E451-61F1-A23F7EAC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87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83CE8-EEFB-3728-C792-33F9B7E8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F636B0-2AF6-261A-AF3B-58C48790E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F0DCE7-FD2E-FDFA-834E-AB143A801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6E01CB-A999-3B9A-26C3-3B8B4772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FA5FB6-0ADB-4897-EC89-997C6629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38693E-3582-C76A-F7EA-35626DB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77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3F6F8-06F4-D6FB-FF96-B6343451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6E2142-FBAD-832C-00D7-9093123C0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EED1E1-6746-7122-1FA6-51D8B312A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9B3343-D4C8-9DD4-539E-0C33CF0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6345B8-3F70-71A5-A28A-D66D10F6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00B39C-E10C-6728-7702-E9A288AA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89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9A775-4566-AB37-ECA3-51188645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F404F-7C02-7A06-20E2-BC0FF14B7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CFF75-6691-82BF-F867-D54B7D9E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43EBE1-B8AC-F436-F054-250DD167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9CE126-C0F5-80AD-877D-A8ADA92F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77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1F1B13-0870-5354-FB4A-2A89CBAE6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EC8834-8F73-C9D0-6D17-92DDA90FE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9E1AE2-62A4-0FB1-0E68-4CDE18121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D4CF8-25F3-CE9F-E2A2-B13962D4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3A55C-B2DE-1FC1-5699-7C7C183A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99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eb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88E3A-7C7D-A8D5-CA5D-44F5186A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CD909-37F8-6264-EDA4-21FCBDC7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0B4642-4503-07B4-793C-F293B371C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AFF8FD-9F33-62BB-4DE9-EE176E467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EF3BDB-B96E-71C3-64DF-890259AF5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315B88C-F567-7C5A-0BE9-DC77DC1A098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654" y="0"/>
            <a:ext cx="2652346" cy="6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6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D09EB-D310-56F2-2FA2-5E9D4A8E1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Безопасность WEB-приложений. </a:t>
            </a:r>
            <a:br>
              <a:rPr lang="ru-RU" sz="4400" dirty="0"/>
            </a:br>
            <a:r>
              <a:rPr lang="ru-RU" sz="4400" dirty="0" err="1"/>
              <a:t>Cookies</a:t>
            </a:r>
            <a:r>
              <a:rPr lang="ru-RU" sz="4400" dirty="0"/>
              <a:t> и JWT.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4C793E-E34E-6099-5764-06CE9A06D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8644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Идентификация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Идентификация — это процесс, когда информационная система определяет, существует конкретный пользователь или нет. Делает она это с помощью идентификатора.</a:t>
            </a:r>
          </a:p>
          <a:p>
            <a:pPr marL="0" indent="0">
              <a:buNone/>
            </a:pPr>
            <a:r>
              <a:rPr lang="ru-RU" dirty="0"/>
              <a:t>Идентификатором может быть логин, электронная почта, номер телефона или другой признак, который есть только у одного пользователя. Идентификатор позволяет сайту или приложению отличить конкретного человека от других людей.</a:t>
            </a:r>
          </a:p>
        </p:txBody>
      </p:sp>
    </p:spTree>
    <p:extLst>
      <p:ext uri="{BB962C8B-B14F-4D97-AF65-F5344CB8AC3E}">
        <p14:creationId xmlns:p14="http://schemas.microsoft.com/office/powerpoint/2010/main" val="1339356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6BFCB-A99D-32B3-2F1A-66E8D327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Аутентификация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0389D9-A3DA-3936-67AB-0C60007CE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Аутентификация — это процесс, когда пользователь вводит ключ, например пароль или </a:t>
            </a:r>
            <a:r>
              <a:rPr lang="ru-RU" dirty="0" err="1"/>
              <a:t>пин-код</a:t>
            </a:r>
            <a:r>
              <a:rPr lang="ru-RU" dirty="0"/>
              <a:t>, подтверждая своё право на доступ к той или иной учётной записи и хранящейся в ней информации.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23C566-7545-BECB-0CBD-0EBE2748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09" y="3575491"/>
            <a:ext cx="10383982" cy="291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063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ED97A-8FC6-3911-08F0-58EB9E052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Авторизация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0497D7-9AB9-8E5B-5A36-CAF39F678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Авторизация – это процесс присвоения учётной записи положенных ей привилегий.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DBB8CA-D16C-C596-910E-99A159A47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852" y="2637017"/>
            <a:ext cx="7282295" cy="409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2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F9990A-7AC3-943E-1942-C2E59A18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Валидация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025E47-09EB-DFAA-F446-5E7299E73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000" b="0" i="0" dirty="0">
                <a:solidFill>
                  <a:srgbClr val="333333"/>
                </a:solidFill>
                <a:effectLst/>
              </a:rPr>
              <a:t>Валидация — процесс проверки «куска» информации на соответствие требованиям программы, или просто на совпадение с копией, хранимой в базе данных.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0B7A6A9-CD93-A005-FC34-118B65966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320" y="2467011"/>
            <a:ext cx="6835359" cy="384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25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A22FEE-F85F-468C-4019-AE8F39CA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</a:rPr>
              <a:t>JWT</a:t>
            </a:r>
            <a:r>
              <a:rPr lang="ru-RU" dirty="0">
                <a:solidFill>
                  <a:srgbClr val="333333"/>
                </a:solidFill>
              </a:rPr>
              <a:t> – </a:t>
            </a:r>
            <a:r>
              <a:rPr lang="en-US" b="0" i="0" dirty="0">
                <a:solidFill>
                  <a:srgbClr val="333333"/>
                </a:solidFill>
                <a:effectLst/>
              </a:rPr>
              <a:t>Json Web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778899-7BE2-99B7-5583-61D923DCE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JWT (</a:t>
            </a:r>
            <a:r>
              <a:rPr lang="ru-RU" dirty="0" err="1"/>
              <a:t>Json</a:t>
            </a:r>
            <a:r>
              <a:rPr lang="ru-RU" dirty="0"/>
              <a:t> Web </a:t>
            </a:r>
            <a:r>
              <a:rPr lang="ru-RU" dirty="0" err="1"/>
              <a:t>Token</a:t>
            </a:r>
            <a:r>
              <a:rPr lang="ru-RU" dirty="0"/>
              <a:t>) — ключ аутентификации пользователя. Используется для запросов к защищенным методам API.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FBA6B73A-E061-437F-B4B8-4F321D602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221" y="2709314"/>
            <a:ext cx="5757558" cy="3602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98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9836A-34CA-17BD-FA6E-CC753F4D3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C802A-7CA3-483D-529E-F39978F18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</a:rPr>
              <a:t>JWT</a:t>
            </a:r>
            <a:r>
              <a:rPr lang="ru-RU" dirty="0">
                <a:solidFill>
                  <a:srgbClr val="333333"/>
                </a:solidFill>
              </a:rPr>
              <a:t> – </a:t>
            </a:r>
            <a:r>
              <a:rPr lang="en-US" b="0" i="0" dirty="0">
                <a:solidFill>
                  <a:srgbClr val="333333"/>
                </a:solidFill>
                <a:effectLst/>
              </a:rPr>
              <a:t>Json Web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DDA7CF-D9F9-C563-1416-017071975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Применение: не передавать учетные данные пользователя с каждым запросом к серверу.</a:t>
            </a:r>
          </a:p>
          <a:p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C2AD5C0-2884-0DA8-B741-1CCBB006E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221" y="2709314"/>
            <a:ext cx="5757558" cy="3602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397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3A6C1-E31C-F351-5734-E1909E9EB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06047A-D9E6-1907-E723-6E128C7D1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</a:rPr>
              <a:t>JWT</a:t>
            </a:r>
            <a:r>
              <a:rPr lang="ru-RU" dirty="0">
                <a:solidFill>
                  <a:srgbClr val="333333"/>
                </a:solidFill>
              </a:rPr>
              <a:t> – </a:t>
            </a:r>
            <a:r>
              <a:rPr lang="en-US" b="0" i="0" dirty="0">
                <a:solidFill>
                  <a:srgbClr val="333333"/>
                </a:solidFill>
                <a:effectLst/>
              </a:rPr>
              <a:t>Json Web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58F9FB-9D57-BE68-45E4-D51FCB9E1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1F2328"/>
                </a:solidFill>
              </a:rPr>
              <a:t>Пользователь </a:t>
            </a:r>
            <a:r>
              <a:rPr lang="ru-RU" b="0" i="0" dirty="0">
                <a:solidFill>
                  <a:srgbClr val="1F2328"/>
                </a:solidFill>
                <a:effectLst/>
              </a:rPr>
              <a:t>c </a:t>
            </a:r>
            <a:r>
              <a:rPr lang="en-US" b="0" i="0" dirty="0">
                <a:solidFill>
                  <a:srgbClr val="1F2328"/>
                </a:solidFill>
                <a:effectLst/>
              </a:rPr>
              <a:t>email</a:t>
            </a:r>
            <a:r>
              <a:rPr lang="ru-RU" b="0" i="0" dirty="0">
                <a:solidFill>
                  <a:srgbClr val="1F2328"/>
                </a:solidFill>
                <a:effectLst/>
              </a:rPr>
              <a:t> </a:t>
            </a:r>
            <a:r>
              <a:rPr lang="en-US" b="0" i="0" dirty="0" err="1">
                <a:solidFill>
                  <a:srgbClr val="1F2328"/>
                </a:solidFill>
                <a:effectLst/>
              </a:rPr>
              <a:t>example@gmail</a:t>
            </a:r>
            <a:r>
              <a:rPr lang="ru-RU" b="1" i="1" dirty="0">
                <a:solidFill>
                  <a:srgbClr val="1F2328"/>
                </a:solidFill>
                <a:effectLst/>
              </a:rPr>
              <a:t>.com</a:t>
            </a:r>
            <a:r>
              <a:rPr lang="ru-RU" b="0" i="0" dirty="0">
                <a:solidFill>
                  <a:srgbClr val="1F2328"/>
                </a:solidFill>
                <a:effectLst/>
              </a:rPr>
              <a:t> успешно прошел аутентификацию (пользователь найден в БД и сверены хэши паролей в БД и пришедших данных)</a:t>
            </a:r>
            <a:r>
              <a:rPr lang="en-US" b="0" i="0" dirty="0">
                <a:solidFill>
                  <a:srgbClr val="1F2328"/>
                </a:solidFill>
                <a:effectLst/>
              </a:rPr>
              <a:t>;</a:t>
            </a:r>
            <a:endParaRPr lang="ru-RU" b="0" i="0" dirty="0">
              <a:solidFill>
                <a:srgbClr val="1F2328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1F2328"/>
                </a:solidFill>
                <a:effectLst/>
              </a:rPr>
              <a:t>Сервер посмотрел в БД какая роль у</a:t>
            </a:r>
            <a:r>
              <a:rPr lang="en-US" b="0" i="0" dirty="0">
                <a:solidFill>
                  <a:srgbClr val="1F2328"/>
                </a:solidFill>
                <a:effectLst/>
              </a:rPr>
              <a:t> </a:t>
            </a:r>
            <a:r>
              <a:rPr lang="ru-RU" dirty="0">
                <a:solidFill>
                  <a:srgbClr val="1F2328"/>
                </a:solidFill>
              </a:rPr>
              <a:t>пользователя</a:t>
            </a:r>
            <a:r>
              <a:rPr lang="en-US" dirty="0">
                <a:solidFill>
                  <a:srgbClr val="1F2328"/>
                </a:solidFill>
              </a:rPr>
              <a:t>;</a:t>
            </a:r>
            <a:endParaRPr lang="ru-RU" b="0" i="0" dirty="0">
              <a:solidFill>
                <a:srgbClr val="1F2328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1F2328"/>
                </a:solidFill>
                <a:effectLst/>
              </a:rPr>
              <a:t>Сервер </a:t>
            </a:r>
            <a:r>
              <a:rPr lang="ru-RU" b="0" i="0" dirty="0" err="1">
                <a:solidFill>
                  <a:srgbClr val="1F2328"/>
                </a:solidFill>
                <a:effectLst/>
              </a:rPr>
              <a:t>сгенерил</a:t>
            </a:r>
            <a:r>
              <a:rPr lang="ru-RU" b="0" i="0" dirty="0">
                <a:solidFill>
                  <a:srgbClr val="1F2328"/>
                </a:solidFill>
                <a:effectLst/>
              </a:rPr>
              <a:t> пользователю токен с указанной ролью</a:t>
            </a:r>
            <a:r>
              <a:rPr lang="en-US" b="0" i="0" dirty="0">
                <a:solidFill>
                  <a:srgbClr val="1F2328"/>
                </a:solidFill>
                <a:effectLst/>
              </a:rPr>
              <a:t>;</a:t>
            </a:r>
            <a:endParaRPr lang="ru-RU" b="0" i="0" dirty="0">
              <a:solidFill>
                <a:srgbClr val="1F2328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1F2328"/>
                </a:solidFill>
                <a:effectLst/>
              </a:rPr>
              <a:t>Пользователь отправляет запрос на ресурс используя полученный токен</a:t>
            </a:r>
            <a:r>
              <a:rPr lang="en-US" b="0" i="0" dirty="0">
                <a:solidFill>
                  <a:srgbClr val="1F2328"/>
                </a:solidFill>
                <a:effectLst/>
              </a:rPr>
              <a:t>;</a:t>
            </a:r>
            <a:endParaRPr lang="ru-RU" b="0" i="0" dirty="0">
              <a:solidFill>
                <a:srgbClr val="1F2328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1F2328"/>
                </a:solidFill>
                <a:effectLst/>
              </a:rPr>
              <a:t>Сервер смотрит на права(роль) пользователя в токене и соответственно пропускает или отсекает запрос</a:t>
            </a:r>
            <a:r>
              <a:rPr lang="en-US" b="0" i="0" dirty="0">
                <a:solidFill>
                  <a:srgbClr val="1F2328"/>
                </a:solidFill>
                <a:effectLst/>
              </a:rPr>
              <a:t>;</a:t>
            </a:r>
            <a:endParaRPr lang="ru-RU" b="0" i="0" dirty="0">
              <a:solidFill>
                <a:srgbClr val="1F2328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040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58839-D993-940B-D1D3-D1BFDDB9B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85D56-FF02-5252-562E-EC3F4103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</a:rPr>
              <a:t>JWT</a:t>
            </a:r>
            <a:r>
              <a:rPr lang="ru-RU" dirty="0">
                <a:solidFill>
                  <a:srgbClr val="333333"/>
                </a:solidFill>
              </a:rPr>
              <a:t> – </a:t>
            </a:r>
            <a:r>
              <a:rPr lang="en-US" b="0" i="0" dirty="0">
                <a:solidFill>
                  <a:srgbClr val="333333"/>
                </a:solidFill>
                <a:effectLst/>
              </a:rPr>
              <a:t>Json Web Token</a:t>
            </a:r>
            <a:endParaRPr lang="ru-RU" dirty="0"/>
          </a:p>
        </p:txBody>
      </p:sp>
      <p:pic>
        <p:nvPicPr>
          <p:cNvPr id="4098" name="Picture 2" descr="Взаимодействие браузера и сервера с JWT">
            <a:extLst>
              <a:ext uri="{FF2B5EF4-FFF2-40B4-BE49-F238E27FC236}">
                <a16:creationId xmlns:a16="http://schemas.microsoft.com/office/drawing/2014/main" id="{3F0B7820-6F2C-2969-F15C-F5E4B4084F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490" y="1453035"/>
            <a:ext cx="9784310" cy="485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475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583CA-8543-0561-11A6-47C1C71F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</a:rPr>
              <a:t>JWT</a:t>
            </a:r>
            <a:r>
              <a:rPr lang="ru-RU" dirty="0">
                <a:solidFill>
                  <a:srgbClr val="333333"/>
                </a:solidFill>
              </a:rPr>
              <a:t> – </a:t>
            </a:r>
            <a:r>
              <a:rPr lang="en-US" b="0" i="0" dirty="0">
                <a:solidFill>
                  <a:srgbClr val="333333"/>
                </a:solidFill>
                <a:effectLst/>
              </a:rPr>
              <a:t>Json Web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91CBA1-33F8-9761-747B-E7AF9AF73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i="0" dirty="0">
                <a:solidFill>
                  <a:srgbClr val="1F2328"/>
                </a:solidFill>
                <a:effectLst/>
              </a:rPr>
              <a:t>JSON Web </a:t>
            </a:r>
            <a:r>
              <a:rPr lang="ru-RU" b="1" i="0" dirty="0" err="1">
                <a:solidFill>
                  <a:srgbClr val="1F2328"/>
                </a:solidFill>
                <a:effectLst/>
              </a:rPr>
              <a:t>Token</a:t>
            </a:r>
            <a:r>
              <a:rPr lang="ru-RU" b="1" i="0" dirty="0">
                <a:solidFill>
                  <a:srgbClr val="1F2328"/>
                </a:solidFill>
                <a:effectLst/>
              </a:rPr>
              <a:t> (JWT)</a:t>
            </a:r>
            <a:r>
              <a:rPr lang="ru-RU" b="0" i="0" dirty="0">
                <a:solidFill>
                  <a:srgbClr val="1F2328"/>
                </a:solidFill>
                <a:effectLst/>
              </a:rPr>
              <a:t> — содержит три блока, разделенных точками: заголовок(</a:t>
            </a:r>
            <a:r>
              <a:rPr lang="ru-RU" b="1" i="0" dirty="0" err="1">
                <a:solidFill>
                  <a:srgbClr val="1F2328"/>
                </a:solidFill>
                <a:effectLst/>
              </a:rPr>
              <a:t>header</a:t>
            </a:r>
            <a:r>
              <a:rPr lang="ru-RU" b="0" i="0" dirty="0">
                <a:solidFill>
                  <a:srgbClr val="1F2328"/>
                </a:solidFill>
                <a:effectLst/>
              </a:rPr>
              <a:t>), набор полей (</a:t>
            </a:r>
            <a:r>
              <a:rPr lang="ru-RU" b="1" i="0" dirty="0" err="1">
                <a:solidFill>
                  <a:srgbClr val="1F2328"/>
                </a:solidFill>
                <a:effectLst/>
              </a:rPr>
              <a:t>payload</a:t>
            </a:r>
            <a:r>
              <a:rPr lang="ru-RU" b="0" i="0" dirty="0">
                <a:solidFill>
                  <a:srgbClr val="1F2328"/>
                </a:solidFill>
                <a:effectLst/>
              </a:rPr>
              <a:t>) и </a:t>
            </a:r>
            <a:r>
              <a:rPr lang="ru-RU" b="1" i="0" dirty="0">
                <a:solidFill>
                  <a:srgbClr val="1F2328"/>
                </a:solidFill>
                <a:effectLst/>
              </a:rPr>
              <a:t>сигнатуру</a:t>
            </a:r>
            <a:r>
              <a:rPr lang="ru-RU" b="0" i="0" dirty="0">
                <a:solidFill>
                  <a:srgbClr val="1F2328"/>
                </a:solidFill>
                <a:effectLst/>
              </a:rPr>
              <a:t>. </a:t>
            </a:r>
            <a:endParaRPr lang="en-US" b="0" i="0" dirty="0">
              <a:solidFill>
                <a:srgbClr val="1F2328"/>
              </a:solidFill>
              <a:effectLst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1F2328"/>
                </a:solidFill>
                <a:effectLst/>
              </a:rPr>
              <a:t>Первые два блока представлены в JSON-формате и дополнительно закодированы в формат base64. Набор полей содержит произвольные пары имя/значения, притом стандарт JWT определяет несколько зарезервированных имен (</a:t>
            </a:r>
            <a:r>
              <a:rPr lang="ru-RU" b="0" i="0" dirty="0" err="1">
                <a:solidFill>
                  <a:srgbClr val="1F2328"/>
                </a:solidFill>
                <a:effectLst/>
              </a:rPr>
              <a:t>iss</a:t>
            </a:r>
            <a:r>
              <a:rPr lang="ru-RU" b="0" i="0" dirty="0">
                <a:solidFill>
                  <a:srgbClr val="1F2328"/>
                </a:solidFill>
                <a:effectLst/>
              </a:rPr>
              <a:t>, </a:t>
            </a:r>
            <a:r>
              <a:rPr lang="ru-RU" b="0" i="0" dirty="0" err="1">
                <a:solidFill>
                  <a:srgbClr val="1F2328"/>
                </a:solidFill>
                <a:effectLst/>
              </a:rPr>
              <a:t>aud</a:t>
            </a:r>
            <a:r>
              <a:rPr lang="ru-RU" b="0" i="0" dirty="0">
                <a:solidFill>
                  <a:srgbClr val="1F2328"/>
                </a:solidFill>
                <a:effectLst/>
              </a:rPr>
              <a:t>, </a:t>
            </a:r>
            <a:r>
              <a:rPr lang="ru-RU" b="0" i="0" dirty="0" err="1">
                <a:solidFill>
                  <a:srgbClr val="1F2328"/>
                </a:solidFill>
                <a:effectLst/>
              </a:rPr>
              <a:t>exp</a:t>
            </a:r>
            <a:r>
              <a:rPr lang="ru-RU" b="0" i="0" dirty="0">
                <a:solidFill>
                  <a:srgbClr val="1F2328"/>
                </a:solidFill>
                <a:effectLst/>
              </a:rPr>
              <a:t> и другие). </a:t>
            </a:r>
            <a:endParaRPr lang="en-US" b="0" i="0" dirty="0">
              <a:solidFill>
                <a:srgbClr val="1F2328"/>
              </a:solidFill>
              <a:effectLst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1F2328"/>
                </a:solidFill>
                <a:effectLst/>
              </a:rPr>
              <a:t>Сигнатура может генерироваться при помощи и симметричных алгоритмов шифрования, и асимметричных. </a:t>
            </a:r>
            <a:endParaRPr lang="en-US" b="0" i="0" dirty="0">
              <a:solidFill>
                <a:srgbClr val="1F2328"/>
              </a:solidFill>
              <a:effectLst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1F2328"/>
                </a:solidFill>
                <a:effectLst/>
              </a:rPr>
              <a:t>Кроме того, существует отдельный стандарт, отписывающий формат зашифрованного JWT-токена.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7922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E5401A51-61C6-D61C-BD1E-D434039EC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8963"/>
            <a:ext cx="12192000" cy="568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965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638712-2824-6CA9-80F4-C8456D01C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Web Token – Header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795DC6-9842-2A47-EEB7-029ED3972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Заголовок состоит из </a:t>
            </a:r>
            <a:r>
              <a:rPr lang="en-US" dirty="0"/>
              <a:t>JSON-</a:t>
            </a:r>
            <a:r>
              <a:rPr lang="ru-RU" dirty="0"/>
              <a:t>объекта с двумя полями:</a:t>
            </a:r>
          </a:p>
          <a:p>
            <a:pPr marL="0" indent="0">
              <a:buNone/>
            </a:pPr>
            <a:r>
              <a:rPr lang="ru-RU" dirty="0"/>
              <a:t>	тип токена – </a:t>
            </a:r>
            <a:r>
              <a:rPr lang="en-US" dirty="0"/>
              <a:t>JWT;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dirty="0"/>
              <a:t>алгоритм шифрования – пример «</a:t>
            </a:r>
            <a:r>
              <a:rPr lang="en-US" dirty="0"/>
              <a:t>HMAC SHA-256</a:t>
            </a:r>
            <a:r>
              <a:rPr lang="ru-RU" dirty="0"/>
              <a:t>»</a:t>
            </a:r>
          </a:p>
          <a:p>
            <a:pPr marL="0" indent="0">
              <a:buNone/>
            </a:pPr>
            <a:r>
              <a:rPr lang="ru-RU" dirty="0"/>
              <a:t>Далее заголовок кодируется с помощью </a:t>
            </a:r>
            <a:r>
              <a:rPr lang="en-US" dirty="0"/>
              <a:t>Base64.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0859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249C68-396A-8FB2-955D-27BEE4E0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Web Token - Payload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B730E8-75C8-0BD0-EF36-A9CC40B62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Payload – </a:t>
            </a:r>
            <a:r>
              <a:rPr lang="ru-RU" sz="2400" dirty="0"/>
              <a:t>полезная нагрузка в виде JSON-объекта. Она содержит данные об авторизованном пользователе. Значение этой части JWT-токена разное в разных веб‑приложениях. Мы можем записать здесь любые публичные данные, которые могут быть полезны при авторизации.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"</a:t>
            </a:r>
            <a:r>
              <a:rPr lang="en-US" sz="2400" dirty="0" err="1"/>
              <a:t>iss</a:t>
            </a:r>
            <a:r>
              <a:rPr lang="en-US" sz="2400" dirty="0"/>
              <a:t>": "</a:t>
            </a:r>
            <a:r>
              <a:rPr lang="en-US" sz="2400" dirty="0" err="1"/>
              <a:t>portswigger</a:t>
            </a:r>
            <a:r>
              <a:rPr lang="en-US" sz="2400" dirty="0"/>
              <a:t>", "exp": 1648037164, “name": "Carlos Montoya", </a:t>
            </a:r>
          </a:p>
          <a:p>
            <a:pPr marL="0" indent="0">
              <a:buNone/>
            </a:pPr>
            <a:r>
              <a:rPr lang="en-US" sz="2400" dirty="0"/>
              <a:t>  "sub": "</a:t>
            </a:r>
            <a:r>
              <a:rPr lang="en-US" sz="2400" dirty="0" err="1"/>
              <a:t>carlos</a:t>
            </a:r>
            <a:r>
              <a:rPr lang="en-US" sz="2400" dirty="0"/>
              <a:t>", "role": "</a:t>
            </a:r>
            <a:r>
              <a:rPr lang="en-US" sz="2400" dirty="0" err="1"/>
              <a:t>blog_author</a:t>
            </a:r>
            <a:r>
              <a:rPr lang="en-US" sz="2400" dirty="0"/>
              <a:t>",</a:t>
            </a:r>
          </a:p>
          <a:p>
            <a:pPr marL="0" indent="0">
              <a:buNone/>
            </a:pPr>
            <a:r>
              <a:rPr lang="en-US" sz="2400" dirty="0"/>
              <a:t>  "email": "carlos@carlos-montoya.net", "</a:t>
            </a:r>
            <a:r>
              <a:rPr lang="en-US" sz="2400" dirty="0" err="1"/>
              <a:t>iat</a:t>
            </a:r>
            <a:r>
              <a:rPr lang="en-US" sz="2400" dirty="0"/>
              <a:t>": 1516239022</a:t>
            </a:r>
          </a:p>
          <a:p>
            <a:pPr marL="0" indent="0">
              <a:buNone/>
            </a:pPr>
            <a:r>
              <a:rPr lang="en-US" sz="2400" dirty="0"/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53151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45749-37D3-0594-0D69-702434D7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Web Token – Signature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BEFB86-0DB8-1989-AC58-1032B4BFA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Для создания подписи необходимо взять закодированный в Base64 заголовок, закодированную в Base64 полезную нагрузку, секретную строку и зашифровать эти данные. При этом нужно использовать тот же алгоритм шифрования, который указан в заголовке JWT-токена.</a:t>
            </a:r>
          </a:p>
          <a:p>
            <a:pPr marL="0" indent="0">
              <a:buNone/>
            </a:pPr>
            <a:r>
              <a:rPr lang="ru-RU" dirty="0"/>
              <a:t>Вот пример для </a:t>
            </a:r>
            <a:r>
              <a:rPr lang="en-US" dirty="0"/>
              <a:t>HS256:</a:t>
            </a:r>
          </a:p>
          <a:p>
            <a:pPr marL="0" indent="0" algn="ctr">
              <a:buNone/>
            </a:pPr>
            <a:r>
              <a:rPr lang="en-US" i="1" dirty="0"/>
              <a:t>HMACSHA256(</a:t>
            </a:r>
          </a:p>
          <a:p>
            <a:pPr marL="0" indent="0" algn="ctr">
              <a:buNone/>
            </a:pPr>
            <a:r>
              <a:rPr lang="en-US" i="1" dirty="0"/>
              <a:t>  base64UrlEncode(header) + "." +</a:t>
            </a:r>
          </a:p>
          <a:p>
            <a:pPr marL="0" indent="0" algn="ctr">
              <a:buNone/>
            </a:pPr>
            <a:r>
              <a:rPr lang="en-US" i="1" dirty="0"/>
              <a:t>  base64UrlEncode(payload),</a:t>
            </a:r>
          </a:p>
          <a:p>
            <a:pPr marL="0" indent="0" algn="ctr">
              <a:buNone/>
            </a:pPr>
            <a:r>
              <a:rPr lang="en-US" i="1" dirty="0"/>
              <a:t>  your-256-bit-secret)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14249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B8F8F1-9751-640C-2469-28D0EE7B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424C43-E173-E55F-D940-5B973A218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400" dirty="0"/>
              <a:t>Все данные, которые нужны серверу, хранятся на стороне клиента в самом JWT. Это делает JWT популярным выбором для </a:t>
            </a:r>
            <a:r>
              <a:rPr lang="ru-RU" sz="2400" dirty="0" err="1"/>
              <a:t>высокораспределенных</a:t>
            </a:r>
            <a:r>
              <a:rPr lang="ru-RU" sz="2400" dirty="0"/>
              <a:t> веб‑сайтов, где пользователям необходимо беспрепятственно взаимодействовать с несколькими внутренними серверами.</a:t>
            </a:r>
          </a:p>
          <a:p>
            <a:pPr marL="0" indent="0">
              <a:buNone/>
            </a:pPr>
            <a:r>
              <a:rPr lang="ru-RU" sz="2400" dirty="0"/>
              <a:t>Безопасность коммуникации между веб‑браузером и веб‑приложением строится на том, что токены генерируются и подписываются только со стороны веб‑приложения. Злоумышленник в теории не сможет подделать токен, так как не знает секретный ключ, который используется для подписи токена.</a:t>
            </a:r>
          </a:p>
          <a:p>
            <a:pPr marL="0" indent="0">
              <a:buNone/>
            </a:pPr>
            <a:r>
              <a:rPr lang="ru-RU" sz="2400" dirty="0"/>
              <a:t>При подписи токена используется шифрование. С помощью подписи веб‑приложение проверяет, что токен действительно был сгенерирован им. Алгоритмы шифрования могут быть разными, например HS256 — HMAC с SHA-256.</a:t>
            </a:r>
          </a:p>
        </p:txBody>
      </p:sp>
    </p:spTree>
    <p:extLst>
      <p:ext uri="{BB962C8B-B14F-4D97-AF65-F5344CB8AC3E}">
        <p14:creationId xmlns:p14="http://schemas.microsoft.com/office/powerpoint/2010/main" val="3566929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6DFCE3-E6C2-DE72-26AE-936BB72D2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Web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A4ADC8-56FE-8686-6920-E5C50CAEC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i="0" dirty="0" err="1">
                <a:solidFill>
                  <a:srgbClr val="1F2328"/>
                </a:solidFill>
                <a:effectLst/>
              </a:rPr>
              <a:t>access</a:t>
            </a:r>
            <a:r>
              <a:rPr lang="ru-RU" b="1" i="0" dirty="0">
                <a:solidFill>
                  <a:srgbClr val="1F2328"/>
                </a:solidFill>
                <a:effectLst/>
              </a:rPr>
              <a:t> </a:t>
            </a:r>
            <a:r>
              <a:rPr lang="ru-RU" b="1" i="0" dirty="0" err="1">
                <a:solidFill>
                  <a:srgbClr val="1F2328"/>
                </a:solidFill>
                <a:effectLst/>
              </a:rPr>
              <a:t>token</a:t>
            </a:r>
            <a:r>
              <a:rPr lang="ru-RU" b="0" i="0" dirty="0">
                <a:solidFill>
                  <a:srgbClr val="1F2328"/>
                </a:solidFill>
                <a:effectLst/>
              </a:rPr>
              <a:t> - используется для </a:t>
            </a:r>
            <a:r>
              <a:rPr lang="ru-RU" b="1" i="0" dirty="0">
                <a:solidFill>
                  <a:srgbClr val="1F2328"/>
                </a:solidFill>
                <a:effectLst/>
              </a:rPr>
              <a:t>авторизации запросов</a:t>
            </a:r>
            <a:r>
              <a:rPr lang="ru-RU" b="0" i="0" dirty="0">
                <a:solidFill>
                  <a:srgbClr val="1F2328"/>
                </a:solidFill>
                <a:effectLst/>
              </a:rPr>
              <a:t> и хранения дополнительной информации о пользователе</a:t>
            </a:r>
            <a:r>
              <a:rPr lang="en-US" dirty="0">
                <a:solidFill>
                  <a:srgbClr val="1F2328"/>
                </a:solidFill>
              </a:rPr>
              <a:t>.</a:t>
            </a:r>
          </a:p>
          <a:p>
            <a:pPr marL="0" indent="0">
              <a:buNone/>
            </a:pPr>
            <a:r>
              <a:rPr lang="ru-RU" b="1" i="0" dirty="0" err="1">
                <a:solidFill>
                  <a:srgbClr val="1F2328"/>
                </a:solidFill>
                <a:effectLst/>
              </a:rPr>
              <a:t>refresh</a:t>
            </a:r>
            <a:r>
              <a:rPr lang="ru-RU" b="1" i="0" dirty="0">
                <a:solidFill>
                  <a:srgbClr val="1F2328"/>
                </a:solidFill>
                <a:effectLst/>
              </a:rPr>
              <a:t> </a:t>
            </a:r>
            <a:r>
              <a:rPr lang="ru-RU" b="1" i="0" dirty="0" err="1">
                <a:solidFill>
                  <a:srgbClr val="1F2328"/>
                </a:solidFill>
                <a:effectLst/>
              </a:rPr>
              <a:t>token</a:t>
            </a:r>
            <a:r>
              <a:rPr lang="ru-RU" b="0" i="0" dirty="0">
                <a:solidFill>
                  <a:srgbClr val="1F2328"/>
                </a:solidFill>
                <a:effectLst/>
              </a:rPr>
              <a:t> - выдается сервером по </a:t>
            </a:r>
            <a:r>
              <a:rPr lang="ru-RU" b="0" i="0" dirty="0" err="1">
                <a:solidFill>
                  <a:srgbClr val="1F2328"/>
                </a:solidFill>
                <a:effectLst/>
              </a:rPr>
              <a:t>результам</a:t>
            </a:r>
            <a:r>
              <a:rPr lang="ru-RU" b="0" i="0" dirty="0">
                <a:solidFill>
                  <a:srgbClr val="1F2328"/>
                </a:solidFill>
                <a:effectLst/>
              </a:rPr>
              <a:t> успешной аутентификации и используется для получения новой пары </a:t>
            </a:r>
            <a:r>
              <a:rPr lang="ru-RU" b="1" i="0" dirty="0" err="1">
                <a:solidFill>
                  <a:srgbClr val="1F2328"/>
                </a:solidFill>
                <a:effectLst/>
              </a:rPr>
              <a:t>access</a:t>
            </a:r>
            <a:r>
              <a:rPr lang="ru-RU" b="1" i="0" dirty="0">
                <a:solidFill>
                  <a:srgbClr val="1F2328"/>
                </a:solidFill>
                <a:effectLst/>
              </a:rPr>
              <a:t>/</a:t>
            </a:r>
            <a:r>
              <a:rPr lang="ru-RU" b="1" i="0" dirty="0" err="1">
                <a:solidFill>
                  <a:srgbClr val="1F2328"/>
                </a:solidFill>
                <a:effectLst/>
              </a:rPr>
              <a:t>refresh</a:t>
            </a:r>
            <a:r>
              <a:rPr lang="ru-RU" b="0" i="0" dirty="0">
                <a:solidFill>
                  <a:srgbClr val="1F2328"/>
                </a:solidFill>
                <a:effectLst/>
              </a:rPr>
              <a:t> токенов. </a:t>
            </a:r>
            <a:endParaRPr lang="en-US" b="0" i="0" dirty="0">
              <a:solidFill>
                <a:srgbClr val="1F2328"/>
              </a:solidFill>
              <a:effectLst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1F2328"/>
                </a:solidFill>
                <a:effectLst/>
              </a:rPr>
              <a:t>При истечении срока действия </a:t>
            </a:r>
            <a:r>
              <a:rPr lang="ru-RU" b="0" i="0" dirty="0" err="1">
                <a:solidFill>
                  <a:srgbClr val="1F2328"/>
                </a:solidFill>
                <a:effectLst/>
              </a:rPr>
              <a:t>access</a:t>
            </a:r>
            <a:r>
              <a:rPr lang="ru-RU" b="0" i="0" dirty="0">
                <a:solidFill>
                  <a:srgbClr val="1F2328"/>
                </a:solidFill>
                <a:effectLst/>
              </a:rPr>
              <a:t> </a:t>
            </a:r>
            <a:r>
              <a:rPr lang="ru-RU" b="0" i="0" dirty="0" err="1">
                <a:solidFill>
                  <a:srgbClr val="1F2328"/>
                </a:solidFill>
                <a:effectLst/>
              </a:rPr>
              <a:t>token'а</a:t>
            </a:r>
            <a:r>
              <a:rPr lang="ru-RU" b="0" i="0" dirty="0">
                <a:solidFill>
                  <a:srgbClr val="1F2328"/>
                </a:solidFill>
                <a:effectLst/>
              </a:rPr>
              <a:t>, или при повторном посещении сайта (если пользователь не делал выход/</a:t>
            </a:r>
            <a:r>
              <a:rPr lang="ru-RU" b="0" i="0" dirty="0" err="1">
                <a:solidFill>
                  <a:srgbClr val="1F2328"/>
                </a:solidFill>
                <a:effectLst/>
              </a:rPr>
              <a:t>logout</a:t>
            </a:r>
            <a:r>
              <a:rPr lang="ru-RU" b="0" i="0" dirty="0">
                <a:solidFill>
                  <a:srgbClr val="1F2328"/>
                </a:solidFill>
                <a:effectLst/>
              </a:rPr>
              <a:t> с сайта) мы используем </a:t>
            </a:r>
            <a:r>
              <a:rPr lang="ru-RU" b="1" i="0" dirty="0" err="1">
                <a:solidFill>
                  <a:srgbClr val="1F2328"/>
                </a:solidFill>
                <a:effectLst/>
              </a:rPr>
              <a:t>refresh</a:t>
            </a:r>
            <a:r>
              <a:rPr lang="ru-RU" b="1" i="0" dirty="0">
                <a:solidFill>
                  <a:srgbClr val="1F2328"/>
                </a:solidFill>
                <a:effectLst/>
              </a:rPr>
              <a:t> </a:t>
            </a:r>
            <a:r>
              <a:rPr lang="ru-RU" b="1" i="0" dirty="0" err="1">
                <a:solidFill>
                  <a:srgbClr val="1F2328"/>
                </a:solidFill>
                <a:effectLst/>
              </a:rPr>
              <a:t>token</a:t>
            </a:r>
            <a:r>
              <a:rPr lang="ru-RU" b="0" i="0" dirty="0">
                <a:solidFill>
                  <a:srgbClr val="1F2328"/>
                </a:solidFill>
                <a:effectLst/>
              </a:rPr>
              <a:t> для </a:t>
            </a:r>
            <a:r>
              <a:rPr lang="ru-RU" b="0" i="1" dirty="0" err="1">
                <a:solidFill>
                  <a:srgbClr val="1F2328"/>
                </a:solidFill>
                <a:effectLst/>
              </a:rPr>
              <a:t>реавторизации</a:t>
            </a:r>
            <a:r>
              <a:rPr lang="ru-RU" b="0" i="0" dirty="0">
                <a:solidFill>
                  <a:srgbClr val="1F2328"/>
                </a:solidFill>
                <a:effectLst/>
              </a:rPr>
              <a:t> (получении новых </a:t>
            </a:r>
            <a:r>
              <a:rPr lang="ru-RU" b="1" i="0" dirty="0" err="1">
                <a:solidFill>
                  <a:srgbClr val="1F2328"/>
                </a:solidFill>
                <a:effectLst/>
              </a:rPr>
              <a:t>access</a:t>
            </a:r>
            <a:r>
              <a:rPr lang="ru-RU" b="0" i="0" dirty="0">
                <a:solidFill>
                  <a:srgbClr val="1F2328"/>
                </a:solidFill>
                <a:effectLst/>
              </a:rPr>
              <a:t> и </a:t>
            </a:r>
            <a:r>
              <a:rPr lang="ru-RU" b="1" i="0" dirty="0" err="1">
                <a:solidFill>
                  <a:srgbClr val="1F2328"/>
                </a:solidFill>
                <a:effectLst/>
              </a:rPr>
              <a:t>refresh</a:t>
            </a:r>
            <a:r>
              <a:rPr lang="ru-RU" b="0" i="0" dirty="0">
                <a:solidFill>
                  <a:srgbClr val="1F2328"/>
                </a:solidFill>
                <a:effectLst/>
              </a:rPr>
              <a:t> токенов).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125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E8645E-C81F-4D27-B084-A870EF1B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Web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580354-24DA-2548-6988-01FDE39D8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токенах крайне не рекомендуется хранить в них какую либо </a:t>
            </a:r>
            <a:r>
              <a:rPr lang="ru-RU" dirty="0" err="1"/>
              <a:t>sensitive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(</a:t>
            </a:r>
            <a:r>
              <a:rPr lang="ru-RU" dirty="0" err="1"/>
              <a:t>passwords</a:t>
            </a:r>
            <a:r>
              <a:rPr lang="ru-RU" dirty="0"/>
              <a:t>, </a:t>
            </a:r>
            <a:r>
              <a:rPr lang="ru-RU" dirty="0" err="1"/>
              <a:t>payment</a:t>
            </a:r>
            <a:r>
              <a:rPr lang="ru-RU" dirty="0"/>
              <a:t> </a:t>
            </a:r>
            <a:r>
              <a:rPr lang="ru-RU" dirty="0" err="1"/>
              <a:t>credentials</a:t>
            </a:r>
            <a:r>
              <a:rPr lang="ru-RU" dirty="0"/>
              <a:t>, </a:t>
            </a:r>
            <a:r>
              <a:rPr lang="ru-RU" dirty="0" err="1"/>
              <a:t>etc</a:t>
            </a:r>
            <a:r>
              <a:rPr lang="ru-RU" dirty="0"/>
              <a:t>...).</a:t>
            </a:r>
          </a:p>
        </p:txBody>
      </p:sp>
      <p:pic>
        <p:nvPicPr>
          <p:cNvPr id="6149" name="Picture 5" descr="Picture background">
            <a:extLst>
              <a:ext uri="{FF2B5EF4-FFF2-40B4-BE49-F238E27FC236}">
                <a16:creationId xmlns:a16="http://schemas.microsoft.com/office/drawing/2014/main" id="{BD9340D5-9D21-AC87-B544-A9768BC85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053" y="2865120"/>
            <a:ext cx="6935893" cy="390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180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5869F-EB00-2E60-ED15-5617B5556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Web Token - </a:t>
            </a:r>
            <a:r>
              <a:rPr lang="ru-RU" dirty="0"/>
              <a:t>обновление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CCDF7B-B34E-83E6-11C7-CF2DF2497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>
              <a:spcBef>
                <a:spcPts val="2400"/>
              </a:spcBef>
              <a:spcAft>
                <a:spcPts val="450"/>
              </a:spcAft>
              <a:buFont typeface="+mj-lt"/>
              <a:buAutoNum type="arabicPeriod"/>
            </a:pPr>
            <a:r>
              <a:rPr lang="ru-RU" dirty="0">
                <a:solidFill>
                  <a:srgbClr val="333333"/>
                </a:solidFill>
                <a:latin typeface="-apple-system"/>
              </a:rPr>
              <a:t>З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апрос данных с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access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токеном</a:t>
            </a:r>
          </a:p>
          <a:p>
            <a:pPr marL="514350" indent="-514350" algn="l">
              <a:spcBef>
                <a:spcPts val="900"/>
              </a:spcBef>
              <a:buFont typeface="+mj-lt"/>
              <a:buAutoNum type="arabicPeriod"/>
            </a:pPr>
            <a:r>
              <a:rPr lang="ru-RU" dirty="0">
                <a:solidFill>
                  <a:srgbClr val="333333"/>
                </a:solidFill>
                <a:latin typeface="-apple-system"/>
              </a:rPr>
              <a:t>В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алидация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access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токена не прошла, возврат ошибки #401</a:t>
            </a:r>
          </a:p>
          <a:p>
            <a:pPr marL="514350" indent="-514350" algn="l">
              <a:spcBef>
                <a:spcPts val="900"/>
              </a:spcBef>
              <a:buFont typeface="+mj-lt"/>
              <a:buAutoNum type="arabicPeriod"/>
            </a:pPr>
            <a:r>
              <a:rPr lang="ru-RU" dirty="0">
                <a:solidFill>
                  <a:srgbClr val="333333"/>
                </a:solidFill>
                <a:latin typeface="-apple-system"/>
              </a:rPr>
              <a:t>З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апрос обновления токенов с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refresh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токеном,</a:t>
            </a:r>
          </a:p>
          <a:p>
            <a:pPr marL="514350" indent="-514350" algn="l">
              <a:spcBef>
                <a:spcPts val="900"/>
              </a:spcBef>
              <a:buFont typeface="+mj-lt"/>
              <a:buAutoNum type="arabicPeriod"/>
            </a:pPr>
            <a:r>
              <a:rPr lang="ru-RU" dirty="0">
                <a:solidFill>
                  <a:srgbClr val="333333"/>
                </a:solidFill>
                <a:latin typeface="-apple-system"/>
              </a:rPr>
              <a:t>П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роверка, не внесен ли токен в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black-list</a:t>
            </a: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514350" indent="-514350" algn="l">
              <a:spcBef>
                <a:spcPts val="900"/>
              </a:spcBef>
              <a:buFont typeface="+mj-lt"/>
              <a:buAutoNum type="arabicPeriod"/>
            </a:pPr>
            <a:r>
              <a:rPr lang="ru-RU" dirty="0">
                <a:solidFill>
                  <a:srgbClr val="333333"/>
                </a:solidFill>
                <a:latin typeface="-apple-system"/>
              </a:rPr>
              <a:t>П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олучение версии учетных данных из БД</a:t>
            </a:r>
          </a:p>
          <a:p>
            <a:pPr marL="514350" indent="-514350" algn="l">
              <a:spcBef>
                <a:spcPts val="900"/>
              </a:spcBef>
              <a:buFont typeface="+mj-lt"/>
              <a:buAutoNum type="arabicPeriod"/>
            </a:pPr>
            <a:r>
              <a:rPr lang="ru-RU" dirty="0">
                <a:solidFill>
                  <a:srgbClr val="333333"/>
                </a:solidFill>
                <a:latin typeface="-apple-system"/>
              </a:rPr>
              <a:t>В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алидация токена, проверка версии токена</a:t>
            </a:r>
          </a:p>
          <a:p>
            <a:pPr marL="514350" indent="-514350" algn="l">
              <a:spcBef>
                <a:spcPts val="900"/>
              </a:spcBef>
              <a:buFont typeface="+mj-lt"/>
              <a:buAutoNum type="arabicPeriod"/>
            </a:pPr>
            <a:r>
              <a:rPr lang="ru-RU" dirty="0">
                <a:solidFill>
                  <a:srgbClr val="333333"/>
                </a:solidFill>
                <a:latin typeface="-apple-system"/>
              </a:rPr>
              <a:t>Г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енерация новой пары токенов, отправка на клиент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3505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Обновление JWT">
            <a:extLst>
              <a:ext uri="{FF2B5EF4-FFF2-40B4-BE49-F238E27FC236}">
                <a16:creationId xmlns:a16="http://schemas.microsoft.com/office/drawing/2014/main" id="{B8C1DD15-4D5C-B457-BEAD-DC90A6CEB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3338"/>
            <a:ext cx="11531600" cy="679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538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AA139-0AEE-D8F5-99C0-7EECC24E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Web Token –</a:t>
            </a:r>
            <a:r>
              <a:rPr lang="ru-RU" dirty="0"/>
              <a:t> неудачное обновление</a:t>
            </a:r>
          </a:p>
        </p:txBody>
      </p:sp>
      <p:pic>
        <p:nvPicPr>
          <p:cNvPr id="8194" name="Picture 2" descr="Неуспешное обновление JWT">
            <a:extLst>
              <a:ext uri="{FF2B5EF4-FFF2-40B4-BE49-F238E27FC236}">
                <a16:creationId xmlns:a16="http://schemas.microsoft.com/office/drawing/2014/main" id="{1D83E861-85C1-1946-5549-CC072DE98B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1843881"/>
            <a:ext cx="77152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287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1C8D8-E18A-AC46-B598-836F01775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JWT </a:t>
            </a:r>
            <a:r>
              <a:rPr lang="ru-RU" dirty="0"/>
              <a:t>– сигнатура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90D3ED2-FF9D-003B-969A-E8D166D73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58" y="1264532"/>
            <a:ext cx="11430283" cy="549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280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106A72-5431-7D3D-1F13-305D62BD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– </a:t>
            </a:r>
            <a:r>
              <a:rPr lang="ru-RU" dirty="0"/>
              <a:t>можно прочитать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9CE4C4-333B-724B-E0E7-5880D09C6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Поскольку каждый может прочитать, что находится внутри токена, вам следует учитывать конфиденциальность. </a:t>
            </a:r>
          </a:p>
          <a:p>
            <a:pPr marL="0" indent="0">
              <a:buNone/>
            </a:pPr>
            <a:r>
              <a:rPr lang="ru-RU" sz="3600" dirty="0"/>
              <a:t>Если вы хотите поместить в токен конфиденциальные данные о пользователе или даже персональную информацию, помните, что любой может расшифровать токен и получить доступ к данным.</a:t>
            </a:r>
          </a:p>
        </p:txBody>
      </p:sp>
    </p:spTree>
    <p:extLst>
      <p:ext uri="{BB962C8B-B14F-4D97-AF65-F5344CB8AC3E}">
        <p14:creationId xmlns:p14="http://schemas.microsoft.com/office/powerpoint/2010/main" val="2147504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0DF068-2A50-36FC-DAD0-C62A3526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– </a:t>
            </a:r>
            <a:r>
              <a:rPr lang="ru-RU" dirty="0"/>
              <a:t>можно прочитать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904F0A-09EA-2E2E-10D7-4AC967EA7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Если вы не можете удалить такую информацию из токена, вам следует рассмотреть возможность перехода на </a:t>
            </a:r>
            <a:r>
              <a:rPr lang="en-US" sz="3600" b="1" dirty="0"/>
              <a:t>phantom token</a:t>
            </a:r>
            <a:r>
              <a:rPr lang="ru-RU" sz="3600" dirty="0"/>
              <a:t> или </a:t>
            </a:r>
            <a:r>
              <a:rPr lang="en-US" sz="3600" b="1" dirty="0"/>
              <a:t>split token</a:t>
            </a:r>
            <a:r>
              <a:rPr lang="ru-RU" sz="3600" dirty="0"/>
              <a:t>, при которых вы используете непрозрачный токен за пределами своей инфраструктуры, а JWT-токены доступны только вашим API</a:t>
            </a:r>
          </a:p>
        </p:txBody>
      </p:sp>
    </p:spTree>
    <p:extLst>
      <p:ext uri="{BB962C8B-B14F-4D97-AF65-F5344CB8AC3E}">
        <p14:creationId xmlns:p14="http://schemas.microsoft.com/office/powerpoint/2010/main" val="3981620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CF3F5-6887-47F6-810B-9E08397B4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Phantom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22408B-E892-5D73-AF91-548338B0C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Непрозрачный токен — это случайная строка, которая не имеет значения для сервера ресурсов, поэтому токен является непрозрачным. 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Однако с токеном связаны метаданные, такие как срок его действия или список разрешённых областей, которые могут иметь значение или даже быть жизненно важными для принятия решения о авторизации на сервере ресурсов, также известном как API или </a:t>
            </a:r>
            <a:r>
              <a:rPr lang="ru-RU" dirty="0" err="1"/>
              <a:t>микросервис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0278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988B1-AA07-6C2A-492E-56CA17BB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Phantom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280809-A6C3-B8C1-5A44-70093AE4E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4D4D4D"/>
                </a:solidFill>
                <a:effectLst/>
              </a:rPr>
              <a:t>В системе, использующей исключительно непрозрачные токены, сервер ресурсов не может получить такую информацию из самого токена, а должен вызывать сервер авторизации, отправляя запрос на конечную точку самоанализа, как показано ниже.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6366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42C83-BC17-C3E3-FC04-0E7E24F5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F192C13-31CB-12B9-978E-3AAC9BE487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59" y="0"/>
            <a:ext cx="10422082" cy="6850392"/>
          </a:xfrm>
        </p:spPr>
      </p:pic>
    </p:spTree>
    <p:extLst>
      <p:ext uri="{BB962C8B-B14F-4D97-AF65-F5344CB8AC3E}">
        <p14:creationId xmlns:p14="http://schemas.microsoft.com/office/powerpoint/2010/main" val="915980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0B066-A84B-8588-CA83-16694C130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Phantom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E5936F-D170-5F81-CD9B-B3F0E3BF6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Подход с использованием фантомных</a:t>
            </a:r>
            <a:r>
              <a:rPr lang="en-US" dirty="0"/>
              <a:t>(</a:t>
            </a:r>
            <a:r>
              <a:rPr lang="ru-RU" dirty="0"/>
              <a:t>непрозрачных токенов</a:t>
            </a:r>
            <a:r>
              <a:rPr lang="en-US" dirty="0"/>
              <a:t>)</a:t>
            </a:r>
            <a:r>
              <a:rPr lang="ru-RU" dirty="0"/>
              <a:t> токенов — это шаблон для защиты API и </a:t>
            </a:r>
            <a:r>
              <a:rPr lang="ru-RU" dirty="0" err="1"/>
              <a:t>микросервисов</a:t>
            </a:r>
            <a:r>
              <a:rPr lang="ru-RU" dirty="0"/>
              <a:t>, который сочетает в себе безопасность непрозрачных токенов с удобством JWT. </a:t>
            </a:r>
          </a:p>
          <a:p>
            <a:pPr marL="0" indent="0">
              <a:buNone/>
            </a:pPr>
            <a:r>
              <a:rPr lang="ru-RU" dirty="0"/>
              <a:t>Идея состоит в том, чтобы использовать пару токенов по ссылке и по значению. </a:t>
            </a:r>
          </a:p>
          <a:p>
            <a:pPr marL="0" indent="0">
              <a:buNone/>
            </a:pPr>
            <a:r>
              <a:rPr lang="ru-RU" dirty="0"/>
              <a:t>Токен по значению (JWT) можно получить с помощью эквивалента по ссылке (непрозрачного токена). </a:t>
            </a:r>
          </a:p>
          <a:p>
            <a:pPr marL="0" indent="0">
              <a:buNone/>
            </a:pPr>
            <a:r>
              <a:rPr lang="ru-RU" dirty="0"/>
              <a:t>Клиент ничего  не знает о JWT.</a:t>
            </a:r>
          </a:p>
        </p:txBody>
      </p:sp>
    </p:spTree>
    <p:extLst>
      <p:ext uri="{BB962C8B-B14F-4D97-AF65-F5344CB8AC3E}">
        <p14:creationId xmlns:p14="http://schemas.microsoft.com/office/powerpoint/2010/main" val="940042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F16B1-F580-3030-9AF1-F8F720C4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Phantom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CDF5B1-2CF9-6AC1-41B2-3A48AEEDE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Когда клиент запрашивает токен, служба токенов возвращает токен по ссылке. Вместо того чтобы вызывать службу токенов для получения токена по ссылке для каждого запроса, API и </a:t>
            </a:r>
            <a:r>
              <a:rPr lang="ru-RU" dirty="0" err="1"/>
              <a:t>микросервисы</a:t>
            </a:r>
            <a:r>
              <a:rPr lang="ru-RU" dirty="0"/>
              <a:t> используют шлюз API, обратный прокси-сервер или любое другое промежуточное ПО, которое обычно размещается между клиентом и API.</a:t>
            </a:r>
          </a:p>
          <a:p>
            <a:pPr marL="0" indent="0">
              <a:buNone/>
            </a:pPr>
            <a:r>
              <a:rPr lang="ru-RU" b="0" i="0" dirty="0">
                <a:effectLst/>
              </a:rPr>
              <a:t>API и </a:t>
            </a:r>
            <a:r>
              <a:rPr lang="ru-RU" b="0" i="0" dirty="0" err="1">
                <a:effectLst/>
              </a:rPr>
              <a:t>микросервисы</a:t>
            </a:r>
            <a:r>
              <a:rPr lang="ru-RU" b="0" i="0" dirty="0">
                <a:effectLst/>
              </a:rPr>
              <a:t> могут использовать JWT, не раскрывая никаких данных клиенту, поскольку клиент получает только непрозрачный токен.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9051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09458-3724-FB51-4224-75960DC5D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C2C5DB6-F1D4-A33C-64C2-15DC525C99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364" y="446808"/>
            <a:ext cx="12121272" cy="5725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892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4AF0C-93C9-5028-4E69-BC92B9A4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Phantom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8DC604-BF81-9825-19DE-1843C8F40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b="0" i="0" dirty="0">
                <a:effectLst/>
              </a:rPr>
              <a:t>Клиент получает токен по ссылке с помощью любого потока </a:t>
            </a:r>
            <a:r>
              <a:rPr lang="ru-RU" b="0" i="0" dirty="0" err="1">
                <a:effectLst/>
              </a:rPr>
              <a:t>OAuth</a:t>
            </a:r>
            <a:r>
              <a:rPr lang="ru-RU" b="0" i="0" dirty="0">
                <a:effectLst/>
              </a:rPr>
              <a:t> 2.0.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effectLst/>
              </a:rPr>
              <a:t>Клиент пересылает токен в своих запросах к API.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effectLst/>
              </a:rPr>
              <a:t>Обратный прокси-сервер ищет токен по значению, вызывая конечную точку самоанализа службы токенов.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effectLst/>
              </a:rPr>
              <a:t>Обратный прокси-сервер заменяет токен по ссылке на токен по значению в фактическом запросе к </a:t>
            </a:r>
            <a:r>
              <a:rPr lang="ru-RU" b="0" i="0" dirty="0" err="1">
                <a:effectLst/>
              </a:rPr>
              <a:t>микросервису</a:t>
            </a:r>
            <a:r>
              <a:rPr lang="ru-RU" b="0" i="0" dirty="0">
                <a:effectLst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8824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E204F-A7D9-8F31-FFEE-021D96F21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Phantom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1C21CB-FE89-EF1A-4F1B-F3A8F2DB1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Основное преимущество использования непрозрачных токенов — безопасность. 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Токены доступа предназначены для сервера ресурсов, API.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При использовании непрозрачных токенов клиентам не разрешается реализовывать логику на основе содержимого токенов доступа. 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Непрозрачные токены для клиентов ограничивают регулируемое пространство и устраняют риск утечки данных и нарушений нормативных требований. </a:t>
            </a:r>
          </a:p>
        </p:txBody>
      </p:sp>
    </p:spTree>
    <p:extLst>
      <p:ext uri="{BB962C8B-B14F-4D97-AF65-F5344CB8AC3E}">
        <p14:creationId xmlns:p14="http://schemas.microsoft.com/office/powerpoint/2010/main" val="978198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915BA3-FD20-3D0E-BCA9-524CBD4B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Phantom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D9C632-9A74-F23E-C965-909DE31D3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Повышается безопасность и оптимизируется производительность. </a:t>
            </a:r>
          </a:p>
          <a:p>
            <a:pPr marL="0" indent="0">
              <a:buNone/>
            </a:pPr>
            <a:r>
              <a:rPr lang="ru-RU" dirty="0" err="1"/>
              <a:t>Микросервисы</a:t>
            </a:r>
            <a:r>
              <a:rPr lang="ru-RU" dirty="0"/>
              <a:t> будут использовать токены JWT, которые содержат все данные, необходимые сервису для обработки. </a:t>
            </a:r>
          </a:p>
          <a:p>
            <a:pPr marL="0" indent="0">
              <a:buNone/>
            </a:pPr>
            <a:r>
              <a:rPr lang="ru-RU" dirty="0"/>
              <a:t>Не нужно отправлять запросы, которые занимают много времени. </a:t>
            </a:r>
          </a:p>
          <a:p>
            <a:pPr marL="0" indent="0">
              <a:buNone/>
            </a:pPr>
            <a:r>
              <a:rPr lang="ru-RU" dirty="0"/>
              <a:t>Кроме того, шаблон может использовать механизмы кэширования обратного прокси-сервера. Токен по значению может кэшироваться до истечения срока его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395406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A42-F79E-86E6-FD94-FDD2F682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Phantom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E93F5D-DC9B-7E60-392D-CB7438476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Подход с использованием фантомных токенов соответствует стандарту </a:t>
            </a:r>
            <a:r>
              <a:rPr lang="ru-RU" dirty="0" err="1"/>
              <a:t>OAuth</a:t>
            </a:r>
            <a:r>
              <a:rPr lang="ru-RU" dirty="0"/>
              <a:t> 2.0. Ни клиент, ни API не должны внедрять какое-либо проприетарное решение для этого шаблона. Это делает шаблон независимым от поставщика и применимым для любой экосистемы </a:t>
            </a:r>
            <a:r>
              <a:rPr lang="ru-RU" dirty="0" err="1"/>
              <a:t>OAuth</a:t>
            </a:r>
            <a:r>
              <a:rPr lang="ru-RU" dirty="0"/>
              <a:t> 2.0.</a:t>
            </a:r>
          </a:p>
        </p:txBody>
      </p:sp>
    </p:spTree>
    <p:extLst>
      <p:ext uri="{BB962C8B-B14F-4D97-AF65-F5344CB8AC3E}">
        <p14:creationId xmlns:p14="http://schemas.microsoft.com/office/powerpoint/2010/main" val="34934138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2EE387-593D-3CB5-7142-3AD19EB3D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F86A9B-AF19-C665-E01B-2546A1A71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Подход </a:t>
            </a:r>
            <a:r>
              <a:rPr lang="en-US" dirty="0"/>
              <a:t>Split Token </a:t>
            </a:r>
            <a:r>
              <a:rPr lang="ru-RU" dirty="0"/>
              <a:t>основан на тех же принципах, что и подход с фантомными токенами: клиент по-прежнему получает непрозрачный токен, а API получает JWT. 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Но при таком подходе нет необходимости в том, чтобы шлюз API заменял непрозрачный токен на JWT. 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Более того, JWT не кэшируется целиком в шлюзе API, что повышает безопасность.</a:t>
            </a:r>
          </a:p>
        </p:txBody>
      </p:sp>
    </p:spTree>
    <p:extLst>
      <p:ext uri="{BB962C8B-B14F-4D97-AF65-F5344CB8AC3E}">
        <p14:creationId xmlns:p14="http://schemas.microsoft.com/office/powerpoint/2010/main" val="3631169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8BB91D-16D2-4BE7-E0E9-B18D003D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Split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5BDFA4-9F1D-2EC0-EC43-8EAB4AB6B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b="0" i="0" dirty="0">
                <a:effectLst/>
              </a:rPr>
              <a:t>Служба токенов разделяет токен на две части:</a:t>
            </a:r>
          </a:p>
          <a:p>
            <a:r>
              <a:rPr lang="ru-RU" b="0" i="0" dirty="0">
                <a:effectLst/>
              </a:rPr>
              <a:t>подпись JWT</a:t>
            </a:r>
          </a:p>
          <a:p>
            <a:r>
              <a:rPr lang="ru-RU" b="0" i="0" dirty="0">
                <a:effectLst/>
              </a:rPr>
              <a:t>голова и тело JWT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39768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24487-E39F-E08C-9B62-490EA122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42FCD16-A68E-5F6A-B96F-8C886A953E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70747" cy="6492875"/>
          </a:xfrm>
        </p:spPr>
      </p:pic>
    </p:spTree>
    <p:extLst>
      <p:ext uri="{BB962C8B-B14F-4D97-AF65-F5344CB8AC3E}">
        <p14:creationId xmlns:p14="http://schemas.microsoft.com/office/powerpoint/2010/main" val="2839348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57B0D-2AC2-216D-E0D5-4A68557A2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Split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57E36B-34B4-A874-B446-3D89B0700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b="0" i="0" dirty="0">
                <a:effectLst/>
              </a:rPr>
              <a:t>Служба токенов отправляет клиенту сигнатурную часть токена.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effectLst/>
              </a:rPr>
              <a:t>В то же время служба токенов отправляет шлюзу API хешированную подпись, а также заголовок и тело токена.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effectLst/>
              </a:rPr>
              <a:t>Шлюз API кэширует части токена.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effectLst/>
              </a:rPr>
              <a:t>Клиент использует подпись в качестве непрозрачного токена доступа при отправке запросов в API.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effectLst/>
              </a:rPr>
              <a:t>Шлюз API </a:t>
            </a:r>
            <a:r>
              <a:rPr lang="ru-RU" b="0" i="0" dirty="0" err="1">
                <a:effectLst/>
              </a:rPr>
              <a:t>хэширует</a:t>
            </a:r>
            <a:r>
              <a:rPr lang="ru-RU" b="0" i="0" dirty="0">
                <a:effectLst/>
              </a:rPr>
              <a:t> подпись и ищет токен в кэше.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effectLst/>
              </a:rPr>
              <a:t>Заголовок, тело и подпись JWT объединяются и отправляются в службу API.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25018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99030-F511-69C0-E09C-73B69C950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Split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62053A-F856-9A5C-EF22-82B54A000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Подход</a:t>
            </a:r>
            <a:r>
              <a:rPr lang="en-US" dirty="0"/>
              <a:t> </a:t>
            </a:r>
            <a:r>
              <a:rPr lang="en-HK" dirty="0"/>
              <a:t>Split Token</a:t>
            </a:r>
            <a:r>
              <a:rPr lang="ru-RU" dirty="0"/>
              <a:t> дополнительно повышает безопасность ваших токенов. Ни клиент, ни API не получают всю информацию, необходимую для подготовки подписанного JWT, который можно использовать с API. 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Даже если кому-то удастся проникнуть в базу данных кэша API Gateway, хранящаяся там информация будет бесполезна без оригинальной части с подписью, которая доступна только клиенту. </a:t>
            </a:r>
            <a:endParaRPr lang="en-HK" dirty="0"/>
          </a:p>
          <a:p>
            <a:pPr marL="0" indent="0">
              <a:buNone/>
            </a:pPr>
            <a:r>
              <a:rPr lang="ru-RU" b="1" dirty="0"/>
              <a:t>Если шлюз кэширует целые JWT, такая утечка данных может представлять большую опасность для ваших 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6177606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D4334-CE38-001A-2C57-9A49E31A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Split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94A163-280A-9E27-DD74-F59418969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Подход </a:t>
            </a:r>
            <a:r>
              <a:rPr lang="en-US" dirty="0"/>
              <a:t>Split Token</a:t>
            </a:r>
            <a:r>
              <a:rPr lang="ru-RU" dirty="0"/>
              <a:t> избавляет от необходимости запрашивать у службы токенов JWT в обмен на непрозрачный токен, поэтому у шлюза API не будет дополнительных затрат на запрос у удалённой службы. 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Это особенно полезно в случаях, когда шлюз API работает на множестве инстансов, распределённых по всему миру, а служба токенов развёрнута лишь на нескольких из них.</a:t>
            </a:r>
          </a:p>
        </p:txBody>
      </p:sp>
    </p:spTree>
    <p:extLst>
      <p:ext uri="{BB962C8B-B14F-4D97-AF65-F5344CB8AC3E}">
        <p14:creationId xmlns:p14="http://schemas.microsoft.com/office/powerpoint/2010/main" val="9201461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BC5694-5F18-D6E6-5948-38DF7DA47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Коллизии хэшей при использовании </a:t>
            </a:r>
            <a:r>
              <a:rPr lang="en-US" dirty="0"/>
              <a:t>Split Token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DE0537-4AA8-536E-F69C-5E09561CF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Шаблон</a:t>
            </a:r>
            <a:r>
              <a:rPr lang="en-US" dirty="0"/>
              <a:t> </a:t>
            </a:r>
            <a:r>
              <a:rPr lang="ru-RU" dirty="0"/>
              <a:t>использует функцию хеширования, а затем использует хешированное значение в качестве ключа кэша. Это может вызвать некоторые опасения по поводу возможных коллизий </a:t>
            </a:r>
            <a:r>
              <a:rPr lang="ru-RU" dirty="0" err="1"/>
              <a:t>хешей</a:t>
            </a:r>
            <a:r>
              <a:rPr lang="ru-RU" dirty="0"/>
              <a:t>.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Однако следует помнить, что каждый JWT содержит случайный идентификатор (</a:t>
            </a:r>
            <a:r>
              <a:rPr lang="ru-RU" dirty="0" err="1"/>
              <a:t>jti</a:t>
            </a:r>
            <a:r>
              <a:rPr lang="ru-RU" dirty="0"/>
              <a:t> </a:t>
            </a:r>
            <a:r>
              <a:rPr lang="ru-RU" dirty="0" err="1"/>
              <a:t>claim</a:t>
            </a:r>
            <a:r>
              <a:rPr lang="ru-RU" dirty="0"/>
              <a:t>), а это значит, что два токена доступа не могут иметь одинаковую полезную нагрузку.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Этот факт, а также использование </a:t>
            </a:r>
            <a:r>
              <a:rPr lang="ru-RU" b="1" dirty="0"/>
              <a:t>надёжного алгоритма хеширования</a:t>
            </a:r>
            <a:r>
              <a:rPr lang="ru-RU" dirty="0"/>
              <a:t>, например </a:t>
            </a:r>
            <a:r>
              <a:rPr lang="ru-RU" b="1" dirty="0"/>
              <a:t>SHA-256</a:t>
            </a:r>
            <a:r>
              <a:rPr lang="ru-RU" dirty="0"/>
              <a:t>, означает, что вероятность коллизии </a:t>
            </a:r>
            <a:r>
              <a:rPr lang="ru-RU" dirty="0" err="1"/>
              <a:t>хешей</a:t>
            </a:r>
            <a:r>
              <a:rPr lang="ru-RU" dirty="0"/>
              <a:t> близка к нулю.</a:t>
            </a:r>
          </a:p>
        </p:txBody>
      </p:sp>
    </p:spTree>
    <p:extLst>
      <p:ext uri="{BB962C8B-B14F-4D97-AF65-F5344CB8AC3E}">
        <p14:creationId xmlns:p14="http://schemas.microsoft.com/office/powerpoint/2010/main" val="31460536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37A40-0C5B-C257-D957-47D73F63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Советы по использованию </a:t>
            </a:r>
            <a:r>
              <a:rPr lang="en-US" dirty="0"/>
              <a:t>JWT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C41EC0-0FDF-2517-E561-415E9CCB8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b="1" i="0" dirty="0">
                <a:solidFill>
                  <a:srgbClr val="000000"/>
                </a:solidFill>
                <a:effectLst/>
              </a:rPr>
              <a:t>Избегайте использования JWT с конфиденциальными данными на пользовательском уровне.</a:t>
            </a:r>
          </a:p>
          <a:p>
            <a:pPr marL="0" indent="0">
              <a:buNone/>
            </a:pPr>
            <a:endParaRPr lang="ru-RU" b="1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ru-RU" dirty="0"/>
              <a:t>К</a:t>
            </a:r>
            <a:r>
              <a:rPr lang="ru-RU" b="0" i="0" dirty="0">
                <a:effectLst/>
              </a:rPr>
              <a:t>лиенту пользовательского интерфейса гораздо безопаснее вызывать конечную точку с информацией о пользователе и получать оттуда данные пользователя, а не хранить их непосредственно в токене.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9643153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2526-2633-3309-72B8-A53CA2CF1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0A568-3947-86BF-793A-3D86AEFD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Советы по использованию </a:t>
            </a:r>
            <a:r>
              <a:rPr lang="en-US" dirty="0"/>
              <a:t>JWT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2F609-4774-6784-F870-8B224BE15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ru-RU" b="1" i="0" dirty="0">
                <a:solidFill>
                  <a:srgbClr val="000000"/>
                </a:solidFill>
                <a:effectLst/>
              </a:rPr>
              <a:t>Алгоритмы подписи и шифрования JWT</a:t>
            </a:r>
          </a:p>
          <a:p>
            <a:pPr marL="0" indent="0">
              <a:buNone/>
            </a:pPr>
            <a:r>
              <a:rPr lang="ru-RU" dirty="0"/>
              <a:t>Наилучшим вариантом с точки зрения безопасности и производительности является </a:t>
            </a:r>
            <a:r>
              <a:rPr lang="ru-RU" dirty="0" err="1">
                <a:latin typeface="Roboto-Regular"/>
              </a:rPr>
              <a:t>EdDSA</a:t>
            </a:r>
            <a:r>
              <a:rPr lang="ru-RU" dirty="0"/>
              <a:t>, хотя ES256 (алгоритм цифровой подписи на основе эллиптических кривых (ECDSA) с использованием P-256 и SHA-256) также является хорошим выбором. </a:t>
            </a:r>
          </a:p>
          <a:p>
            <a:pPr marL="0" indent="0">
              <a:buNone/>
            </a:pPr>
            <a:r>
              <a:rPr lang="ru-RU" dirty="0"/>
              <a:t>Наиболее широко используемый вариант, поддерживаемый большинством технологических стеков, — RS256 (RSASSA-PKCS1-v1_5 с использованием SHA-256).</a:t>
            </a:r>
          </a:p>
        </p:txBody>
      </p:sp>
    </p:spTree>
    <p:extLst>
      <p:ext uri="{BB962C8B-B14F-4D97-AF65-F5344CB8AC3E}">
        <p14:creationId xmlns:p14="http://schemas.microsoft.com/office/powerpoint/2010/main" val="42617944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B5870-D3D1-9BA0-54B1-C2CB885A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416CB-5D59-7BE9-D5EF-AF26875C9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Советы по использованию </a:t>
            </a:r>
            <a:r>
              <a:rPr lang="en-US" dirty="0"/>
              <a:t>JWT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2C4ED5-DF72-8625-EA55-87A3F7471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ru-RU" b="1" i="0" dirty="0">
                <a:solidFill>
                  <a:srgbClr val="000000"/>
                </a:solidFill>
                <a:effectLst/>
              </a:rPr>
              <a:t>Алгоритмы подписи и шифрования JWT</a:t>
            </a:r>
          </a:p>
          <a:p>
            <a:pPr marL="0" indent="0">
              <a:buNone/>
            </a:pPr>
            <a:r>
              <a:rPr lang="ru-RU" i="0" dirty="0">
                <a:effectLst/>
                <a:latin typeface="Arial" panose="020B0604020202020204" pitchFamily="34" charset="0"/>
              </a:rPr>
              <a:t>Эллиптическая криптография</a:t>
            </a:r>
            <a:r>
              <a:rPr lang="ru-RU" b="0" i="0" dirty="0">
                <a:effectLst/>
                <a:latin typeface="Arial" panose="020B0604020202020204" pitchFamily="34" charset="0"/>
              </a:rPr>
              <a:t> — раздел </a:t>
            </a:r>
            <a:r>
              <a:rPr lang="ru-RU" dirty="0"/>
              <a:t>криптографии</a:t>
            </a:r>
            <a:r>
              <a:rPr lang="ru-RU" b="0" i="0" dirty="0">
                <a:effectLst/>
                <a:latin typeface="Arial" panose="020B0604020202020204" pitchFamily="34" charset="0"/>
              </a:rPr>
              <a:t>, который изучает </a:t>
            </a:r>
            <a:r>
              <a:rPr lang="ru-RU" dirty="0"/>
              <a:t>асимметричные криптосистемы</a:t>
            </a:r>
            <a:r>
              <a:rPr lang="ru-RU" b="0" i="0" dirty="0">
                <a:effectLst/>
                <a:latin typeface="Arial" panose="020B0604020202020204" pitchFamily="34" charset="0"/>
              </a:rPr>
              <a:t>, основанные на </a:t>
            </a:r>
            <a:r>
              <a:rPr lang="ru-RU" dirty="0"/>
              <a:t>эллиптических кривых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над </a:t>
            </a:r>
            <a:r>
              <a:rPr lang="ru-RU" dirty="0"/>
              <a:t>конечными полями</a:t>
            </a:r>
            <a:r>
              <a:rPr lang="ru-RU" b="0" i="0" dirty="0">
                <a:effectLst/>
                <a:latin typeface="Arial" panose="020B0604020202020204" pitchFamily="34" charset="0"/>
              </a:rPr>
              <a:t>. 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Arial" panose="020B0604020202020204" pitchFamily="34" charset="0"/>
              </a:rPr>
              <a:t>Основное преимущество эллиптической криптографии заключается в том, что на сегодняшний день неизвестны </a:t>
            </a:r>
            <a:r>
              <a:rPr lang="ru-RU" b="0" i="0" dirty="0" err="1">
                <a:effectLst/>
                <a:latin typeface="Arial" panose="020B0604020202020204" pitchFamily="34" charset="0"/>
              </a:rPr>
              <a:t>субэкспоненциальные</a:t>
            </a:r>
            <a:r>
              <a:rPr lang="ru-RU" b="0" i="0" dirty="0">
                <a:effectLst/>
                <a:latin typeface="Arial" panose="020B0604020202020204" pitchFamily="34" charset="0"/>
              </a:rPr>
              <a:t> </a:t>
            </a:r>
            <a:r>
              <a:rPr lang="ru-RU" dirty="0"/>
              <a:t>алгоритмы</a:t>
            </a:r>
            <a:r>
              <a:rPr lang="ru-RU" b="0" i="0" dirty="0">
                <a:effectLst/>
                <a:latin typeface="Arial" panose="020B0604020202020204" pitchFamily="34" charset="0"/>
              </a:rPr>
              <a:t> </a:t>
            </a:r>
            <a:r>
              <a:rPr lang="ru-RU" dirty="0"/>
              <a:t>дискретного логарифмирования</a:t>
            </a:r>
            <a:r>
              <a:rPr lang="ru-RU" b="0" i="0" dirty="0">
                <a:effectLst/>
                <a:latin typeface="Arial" panose="020B0604020202020204" pitchFamily="34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75592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258E7-D4C8-C1EB-9D2F-237DA455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E4CF82-7E14-DE0E-88BF-3C7B63A8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Советы по использованию </a:t>
            </a:r>
            <a:r>
              <a:rPr lang="en-US" dirty="0"/>
              <a:t>JWT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017AAA-1A8E-6510-CF1B-D68872F66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ru-RU" b="1" i="0" dirty="0">
                <a:solidFill>
                  <a:srgbClr val="000000"/>
                </a:solidFill>
                <a:effectLst/>
              </a:rPr>
              <a:t>Алгоритмы подписи и шифрования JWT</a:t>
            </a:r>
          </a:p>
          <a:p>
            <a:pPr marL="0" indent="0">
              <a:buNone/>
            </a:pPr>
            <a:r>
              <a:rPr lang="ru-RU" i="0" dirty="0">
                <a:solidFill>
                  <a:srgbClr val="000000"/>
                </a:solidFill>
                <a:effectLst/>
              </a:rPr>
              <a:t>Пусть в некоторой конечной мультипликативной абелевой группе задано уравнение </a:t>
            </a:r>
            <a:r>
              <a:rPr lang="ru-RU" i="0" dirty="0" err="1">
                <a:solidFill>
                  <a:srgbClr val="000000"/>
                </a:solidFill>
                <a:effectLst/>
              </a:rPr>
              <a:t>g^x</a:t>
            </a:r>
            <a:r>
              <a:rPr lang="ru-RU" i="0" dirty="0">
                <a:solidFill>
                  <a:srgbClr val="000000"/>
                </a:solidFill>
                <a:effectLst/>
              </a:rPr>
              <a:t>=a.</a:t>
            </a:r>
          </a:p>
          <a:p>
            <a:pPr marL="0" indent="0">
              <a:buNone/>
            </a:pPr>
            <a:r>
              <a:rPr lang="ru-RU" i="0" dirty="0">
                <a:solidFill>
                  <a:srgbClr val="000000"/>
                </a:solidFill>
                <a:effectLst/>
              </a:rPr>
              <a:t>Решение задачи дискретного логарифмирования состоит в нахождении некоторого целого неотрицательного числа x, удовлетворяющего уравнению (1). </a:t>
            </a:r>
          </a:p>
          <a:p>
            <a:pPr marL="0" indent="0">
              <a:buNone/>
            </a:pPr>
            <a:endParaRPr lang="ru-RU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267085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A1643-73B6-16E0-AD76-91D1FA76B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1B8CD2-EDD5-6AD9-9456-D19BE6EE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Советы по использованию </a:t>
            </a:r>
            <a:r>
              <a:rPr lang="en-US" dirty="0"/>
              <a:t>JWT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BDB550-41D3-3788-3D48-369FC913F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ru-RU" b="1" i="0" dirty="0">
                <a:solidFill>
                  <a:srgbClr val="000000"/>
                </a:solidFill>
                <a:effectLst/>
              </a:rPr>
              <a:t>Алгоритмы подписи и шифрования JWT</a:t>
            </a:r>
          </a:p>
          <a:p>
            <a:pPr marL="0" indent="0">
              <a:buNone/>
            </a:pPr>
            <a:endParaRPr lang="ru-RU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ru-RU" b="1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7176" name="Picture 8" descr="Picture background">
            <a:extLst>
              <a:ext uri="{FF2B5EF4-FFF2-40B4-BE49-F238E27FC236}">
                <a16:creationId xmlns:a16="http://schemas.microsoft.com/office/drawing/2014/main" id="{55287325-8B2D-AECC-E19F-22143E9EE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861" y="2452255"/>
            <a:ext cx="7326278" cy="415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0197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C145D-ADE7-EE78-9659-1E19CB95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A6358-870E-D910-37F4-6C0381821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C2644867-727B-03A7-A288-EE0D5F33C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0"/>
            <a:ext cx="1217453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0995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5692</TotalTime>
  <Words>1947</Words>
  <Application>Microsoft Office PowerPoint</Application>
  <PresentationFormat>Широкоэкранный</PresentationFormat>
  <Paragraphs>144</Paragraphs>
  <Slides>46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51" baseType="lpstr">
      <vt:lpstr>-apple-system</vt:lpstr>
      <vt:lpstr>Arial</vt:lpstr>
      <vt:lpstr>Calibri</vt:lpstr>
      <vt:lpstr>Roboto-Regular</vt:lpstr>
      <vt:lpstr>Тема Office</vt:lpstr>
      <vt:lpstr>Безопасность WEB-приложений.  Cookies и JWT.</vt:lpstr>
      <vt:lpstr>Идентификация</vt:lpstr>
      <vt:lpstr>Аутентификация</vt:lpstr>
      <vt:lpstr>Авторизация</vt:lpstr>
      <vt:lpstr>Валидация</vt:lpstr>
      <vt:lpstr>JWT – Json Web Token</vt:lpstr>
      <vt:lpstr>JWT – Json Web Token</vt:lpstr>
      <vt:lpstr>JWT – Json Web Token</vt:lpstr>
      <vt:lpstr>JWT – Json Web Token</vt:lpstr>
      <vt:lpstr>JWT – Json Web Token</vt:lpstr>
      <vt:lpstr>Презентация PowerPoint</vt:lpstr>
      <vt:lpstr>Json Web Token – Header</vt:lpstr>
      <vt:lpstr>Json Web Token - Payload</vt:lpstr>
      <vt:lpstr>Json Web Token – Signature</vt:lpstr>
      <vt:lpstr>Безопасность</vt:lpstr>
      <vt:lpstr>Json Web Token</vt:lpstr>
      <vt:lpstr>Json Web Token</vt:lpstr>
      <vt:lpstr>Json Web Token - обновление</vt:lpstr>
      <vt:lpstr>Презентация PowerPoint</vt:lpstr>
      <vt:lpstr>Json Web Token – неудачное обновление</vt:lpstr>
      <vt:lpstr>JWT – сигнатура</vt:lpstr>
      <vt:lpstr>JWT – можно прочитать</vt:lpstr>
      <vt:lpstr>JWT – можно прочитать</vt:lpstr>
      <vt:lpstr>Phantom Token</vt:lpstr>
      <vt:lpstr>Phantom Token</vt:lpstr>
      <vt:lpstr>Презентация PowerPoint</vt:lpstr>
      <vt:lpstr>Использование Phantom Token</vt:lpstr>
      <vt:lpstr>Использование Phantom Token</vt:lpstr>
      <vt:lpstr>Презентация PowerPoint</vt:lpstr>
      <vt:lpstr>Использование Phantom Token</vt:lpstr>
      <vt:lpstr>Преимущества Phantom Token</vt:lpstr>
      <vt:lpstr>Преимущества Phantom Token</vt:lpstr>
      <vt:lpstr>Преимущества Phantom Token</vt:lpstr>
      <vt:lpstr>Split Token</vt:lpstr>
      <vt:lpstr>Использование Split Token</vt:lpstr>
      <vt:lpstr>Презентация PowerPoint</vt:lpstr>
      <vt:lpstr>Использование Split Token</vt:lpstr>
      <vt:lpstr>Преимущества Split Token</vt:lpstr>
      <vt:lpstr>Преимущества Split Token</vt:lpstr>
      <vt:lpstr>Коллизии хэшей при использовании Split Token</vt:lpstr>
      <vt:lpstr>Советы по использованию JWT</vt:lpstr>
      <vt:lpstr>Советы по использованию JWT</vt:lpstr>
      <vt:lpstr>Советы по использованию JWT</vt:lpstr>
      <vt:lpstr>Советы по использованию JWT</vt:lpstr>
      <vt:lpstr>Советы по использованию JWT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безопасность</dc:title>
  <dc:creator>porygriu@outlook.com</dc:creator>
  <cp:lastModifiedBy>Иван Петров</cp:lastModifiedBy>
  <cp:revision>169</cp:revision>
  <dcterms:created xsi:type="dcterms:W3CDTF">2023-08-23T15:20:34Z</dcterms:created>
  <dcterms:modified xsi:type="dcterms:W3CDTF">2026-08-26T04:35:16Z</dcterms:modified>
</cp:coreProperties>
</file>