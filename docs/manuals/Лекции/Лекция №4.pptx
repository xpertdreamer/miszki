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344" r:id="rId3"/>
    <p:sldId id="345" r:id="rId4"/>
    <p:sldId id="351" r:id="rId5"/>
    <p:sldId id="352" r:id="rId6"/>
    <p:sldId id="353" r:id="rId7"/>
    <p:sldId id="354" r:id="rId8"/>
    <p:sldId id="355" r:id="rId9"/>
    <p:sldId id="356" r:id="rId10"/>
    <p:sldId id="358" r:id="rId11"/>
    <p:sldId id="357" r:id="rId12"/>
    <p:sldId id="359" r:id="rId13"/>
    <p:sldId id="360" r:id="rId14"/>
    <p:sldId id="365" r:id="rId15"/>
    <p:sldId id="361" r:id="rId16"/>
    <p:sldId id="362" r:id="rId17"/>
    <p:sldId id="363" r:id="rId18"/>
    <p:sldId id="364" r:id="rId19"/>
    <p:sldId id="366" r:id="rId20"/>
    <p:sldId id="368" r:id="rId21"/>
    <p:sldId id="369" r:id="rId22"/>
    <p:sldId id="370" r:id="rId23"/>
    <p:sldId id="371" r:id="rId24"/>
    <p:sldId id="372" r:id="rId25"/>
    <p:sldId id="373" r:id="rId26"/>
    <p:sldId id="374" r:id="rId27"/>
    <p:sldId id="375" r:id="rId28"/>
    <p:sldId id="376" r:id="rId29"/>
    <p:sldId id="377" r:id="rId30"/>
    <p:sldId id="378" r:id="rId31"/>
    <p:sldId id="379" r:id="rId32"/>
    <p:sldId id="380" r:id="rId33"/>
    <p:sldId id="381" r:id="rId34"/>
    <p:sldId id="382" r:id="rId35"/>
    <p:sldId id="383" r:id="rId36"/>
    <p:sldId id="384" r:id="rId37"/>
    <p:sldId id="385" r:id="rId38"/>
    <p:sldId id="386" r:id="rId3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8" autoAdjust="0"/>
    <p:restoredTop sz="85768" autoAdjust="0"/>
  </p:normalViewPr>
  <p:slideViewPr>
    <p:cSldViewPr snapToGrid="0">
      <p:cViewPr varScale="1">
        <p:scale>
          <a:sx n="50" d="100"/>
          <a:sy n="50" d="100"/>
        </p:scale>
        <p:origin x="48" y="5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D2E9C8-EA95-44DC-97D6-381D54E0192E}" type="datetimeFigureOut">
              <a:rPr lang="ru-RU" smtClean="0"/>
              <a:t>26.08.2026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1D21C1-FA3C-45BD-918C-3C5610939C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837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4A4D63-4867-5E7E-656B-50D2AE31E9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2D4775-E59B-9065-E262-D7EF084457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13F79C-2546-8A08-7886-25B3FF21A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6D0B5-4627-4654-B836-B6EC90072DE6}" type="datetimeFigureOut">
              <a:rPr lang="ru-RU" smtClean="0"/>
              <a:t>26.08.2026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B734330-F5EE-3A65-F076-11D4F5223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7CFFF9-2C6E-9193-3781-E2BF5DAD3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0DE34-1BEB-4871-8740-9BC4F9DF8F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1854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A907D3-665F-03B3-9D82-743E093A8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566925-0F74-08D6-AE23-F21E98D49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defRPr>
                <a:solidFill>
                  <a:schemeClr val="tx1"/>
                </a:solidFill>
              </a:defRPr>
            </a:lvl1pPr>
            <a:lvl2pPr algn="just">
              <a:defRPr>
                <a:solidFill>
                  <a:schemeClr val="tx1"/>
                </a:solidFill>
              </a:defRPr>
            </a:lvl2pPr>
            <a:lvl3pPr algn="just">
              <a:defRPr>
                <a:solidFill>
                  <a:schemeClr val="tx1"/>
                </a:solidFill>
              </a:defRPr>
            </a:lvl3pPr>
            <a:lvl4pPr algn="just">
              <a:defRPr>
                <a:solidFill>
                  <a:schemeClr val="tx1"/>
                </a:solidFill>
              </a:defRPr>
            </a:lvl4pPr>
            <a:lvl5pPr algn="just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6E2D9BF-9BA4-D3E5-E2FD-16549DD25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6D0B5-4627-4654-B836-B6EC90072DE6}" type="datetimeFigureOut">
              <a:rPr lang="ru-RU" smtClean="0"/>
              <a:t>26.08.2026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99E0E6-04F4-68F0-A51F-082C2949A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DF5DD2-155C-BEF1-EDB7-AE2A89EEC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0DE34-1BEB-4871-8740-9BC4F9DF8F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5339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BA58B0-2475-A234-5D92-EB319E54D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1DE0B5E-82E2-4301-0A63-873CAB7B5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43CA34-65F9-EA7E-2FE0-EB350B0D3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10B1F8-EFC2-C5EA-DF92-252959FFF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ECA62E-B125-C3B8-050B-9B9135DB4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2719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A4D474-24FB-BB35-6BE3-43C821B10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F47FF2-3F2F-1239-E1E5-63B1CE0983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 algn="just">
              <a:defRPr>
                <a:solidFill>
                  <a:schemeClr val="tx1"/>
                </a:solidFill>
              </a:defRPr>
            </a:lvl1pPr>
            <a:lvl2pPr algn="just">
              <a:defRPr>
                <a:solidFill>
                  <a:schemeClr val="tx1"/>
                </a:solidFill>
              </a:defRPr>
            </a:lvl2pPr>
            <a:lvl3pPr algn="just">
              <a:defRPr>
                <a:solidFill>
                  <a:schemeClr val="tx1"/>
                </a:solidFill>
              </a:defRPr>
            </a:lvl3pPr>
            <a:lvl4pPr algn="just">
              <a:defRPr>
                <a:solidFill>
                  <a:schemeClr val="tx1"/>
                </a:solidFill>
              </a:defRPr>
            </a:lvl4pPr>
            <a:lvl5pPr algn="just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CF0A9E9-591A-412B-F4B6-24BFEEE8F4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algn="just">
              <a:defRPr>
                <a:solidFill>
                  <a:schemeClr val="tx1"/>
                </a:solidFill>
              </a:defRPr>
            </a:lvl1pPr>
            <a:lvl2pPr algn="just">
              <a:defRPr>
                <a:solidFill>
                  <a:schemeClr val="tx1"/>
                </a:solidFill>
              </a:defRPr>
            </a:lvl2pPr>
            <a:lvl3pPr algn="just">
              <a:defRPr>
                <a:solidFill>
                  <a:schemeClr val="tx1"/>
                </a:solidFill>
              </a:defRPr>
            </a:lvl3pPr>
            <a:lvl4pPr algn="just">
              <a:defRPr>
                <a:solidFill>
                  <a:schemeClr val="tx1"/>
                </a:solidFill>
              </a:defRPr>
            </a:lvl4pPr>
            <a:lvl5pPr algn="just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30A9B05-3400-95B1-EDC6-1A81DB005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BD98076-48C0-13EC-B58E-BFEBC4D3D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F50A10C-E49D-98B3-6940-4AD405E86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9417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92B8D7-8C24-CD6A-24CF-D85C02642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8181D98-F7C9-27CE-8555-5378E187A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09F17AB-0E0B-ACBB-BFCF-5BE6A088A6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36D93FB-F317-1E80-E64C-9CCAD73F6D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E55B89D-9658-7DE9-5361-72576FF01E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47EA6F6-01EB-C735-E5E9-466653562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983236D-2E45-AF9F-29CF-1BCD9E5B0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8B87952-20E1-F943-D633-B945E5FAA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2737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D97868-701D-0864-3F72-3F73C2F2F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25F3226-F8FF-3601-A721-7A5164740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C1349F6-C9AC-69C4-6CDF-D3FF1E356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1CFFC58-6F88-45A3-8863-B3A47E411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0071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0900B60-5D34-2EAD-75E4-6362B8BB3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A332A0D-F144-5629-2918-4AC3B2A87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EA6117C-A750-E451-61F1-A23F7EAC8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4876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883CE8-EEFB-3728-C792-33F9B7E89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F636B0-2AF6-261A-AF3B-58C48790E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FF0DCE7-FD2E-FDFA-834E-AB143A801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D6E01CB-A999-3B9A-26C3-3B8B4772C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AFA5FB6-0ADB-4897-EC89-997C6629E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438693E-3582-C76A-F7EA-35626DBB9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0773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43F6F8-06F4-D6FB-FF96-B63434519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E6E2142-FBAD-832C-00D7-9093123C04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1EED1E1-6746-7122-1FA6-51D8B312AD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59B3343-D4C8-9DD4-539E-0C33CF078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B6345B8-3F70-71A5-A28A-D66D10F6C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900B39C-E10C-6728-7702-E9A288AAE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5892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09A775-4566-AB37-ECA3-511886458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15F404F-7C02-7A06-20E2-BC0FF14B7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FCFF75-6691-82BF-F867-D54B7D9E8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43EBE1-B8AC-F436-F054-250DD167C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9CE126-C0F5-80AD-877D-A8ADA92F1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0776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81F1B13-0870-5354-FB4A-2A89CBAE6E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9EC8834-8F73-C9D0-6D17-92DDA90FE7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9E1AE2-62A4-0FB1-0E68-4CDE18121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ED4CF8-25F3-CE9F-E2A2-B13962D40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03A55C-B2DE-1FC1-5699-7C7C183A1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3992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web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A88E3A-7C7D-A8D5-CA5D-44F5186A3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0ECD909-37F8-6264-EDA4-21FCBDC7B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0B4642-4503-07B4-793C-F293B371CF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D6D0B5-4627-4654-B836-B6EC90072DE6}" type="datetimeFigureOut">
              <a:rPr lang="ru-RU" smtClean="0"/>
              <a:t>26.08.2026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AFF8FD-9F33-62BB-4DE9-EE176E4671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EF3BDB-B96E-71C3-64DF-890259AF59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F0DE34-1BEB-4871-8740-9BC4F9DF8F14}" type="slidenum">
              <a:rPr lang="ru-RU" smtClean="0"/>
              <a:t>‹#›</a:t>
            </a:fld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315B88C-F567-7C5A-0BE9-DC77DC1A098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9654" y="0"/>
            <a:ext cx="2652346" cy="624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863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pennet.ru/docs/RUS/ldap_apacheds/tech/ssl.html#signaturealgorithm" TargetMode="External"/><Relationship Id="rId2" Type="http://schemas.openxmlformats.org/officeDocument/2006/relationships/hyperlink" Target="cert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9D09EB-D310-56F2-2FA2-5E9D4A8E1F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4800" dirty="0"/>
              <a:t>Сертификаты. </a:t>
            </a:r>
            <a:br>
              <a:rPr lang="ru-RU" sz="4800" dirty="0"/>
            </a:br>
            <a:r>
              <a:rPr lang="ru-RU" sz="4800" dirty="0"/>
              <a:t>Протокол HTTPS. </a:t>
            </a:r>
            <a:br>
              <a:rPr lang="ru-RU" sz="4800" dirty="0"/>
            </a:br>
            <a:r>
              <a:rPr lang="ru-RU" sz="4800" dirty="0"/>
              <a:t>Протокол Диффи-Хеллмана.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94C793E-E34E-6099-5764-06CE9A06D3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28644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Сертификат </a:t>
            </a:r>
            <a:r>
              <a:rPr lang="en-US" dirty="0"/>
              <a:t>X.509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dirty="0"/>
              <a:t>Сертификат</a:t>
            </a:r>
          </a:p>
          <a:p>
            <a:pPr lvl="1"/>
            <a:r>
              <a:rPr lang="ru-RU" dirty="0"/>
              <a:t>Версия</a:t>
            </a:r>
          </a:p>
          <a:p>
            <a:pPr lvl="1"/>
            <a:r>
              <a:rPr lang="ru-RU" dirty="0"/>
              <a:t>Серийный номер</a:t>
            </a:r>
          </a:p>
          <a:p>
            <a:pPr lvl="1"/>
            <a:r>
              <a:rPr lang="ru-RU" dirty="0"/>
              <a:t>Идентификатор алгоритма подписи</a:t>
            </a:r>
          </a:p>
          <a:p>
            <a:pPr lvl="1"/>
            <a:r>
              <a:rPr lang="ru-RU" dirty="0"/>
              <a:t>Имя издателя</a:t>
            </a:r>
          </a:p>
          <a:p>
            <a:pPr lvl="1"/>
            <a:r>
              <a:rPr lang="ru-RU" dirty="0"/>
              <a:t>Период действия:</a:t>
            </a:r>
          </a:p>
          <a:p>
            <a:pPr lvl="2"/>
            <a:r>
              <a:rPr lang="ru-RU" dirty="0"/>
              <a:t>Не ранее</a:t>
            </a:r>
          </a:p>
          <a:p>
            <a:pPr lvl="2"/>
            <a:r>
              <a:rPr lang="ru-RU" dirty="0"/>
              <a:t>Не позднее</a:t>
            </a:r>
          </a:p>
          <a:p>
            <a:pPr lvl="1"/>
            <a:r>
              <a:rPr lang="ru-RU" dirty="0"/>
              <a:t>Имя субъекта</a:t>
            </a:r>
          </a:p>
          <a:p>
            <a:pPr lvl="1"/>
            <a:r>
              <a:rPr lang="ru-RU" dirty="0"/>
              <a:t>Информация об открытом ключе субъекта:</a:t>
            </a:r>
          </a:p>
          <a:p>
            <a:pPr lvl="2"/>
            <a:r>
              <a:rPr lang="ru-RU" dirty="0"/>
              <a:t>Алгоритм открытого ключа</a:t>
            </a:r>
          </a:p>
          <a:p>
            <a:pPr lvl="2"/>
            <a:r>
              <a:rPr lang="ru-RU" dirty="0"/>
              <a:t>Открытый ключ субъекта</a:t>
            </a:r>
          </a:p>
          <a:p>
            <a:pPr lvl="1"/>
            <a:r>
              <a:rPr lang="ru-RU" dirty="0"/>
              <a:t>Уникальный идентификатор издателя (обязательно только для v2 и v3)</a:t>
            </a:r>
          </a:p>
          <a:p>
            <a:pPr lvl="1"/>
            <a:r>
              <a:rPr lang="ru-RU" dirty="0"/>
              <a:t>Уникальный идентификатор субъекта ​​(обязательно только для v2 и v3)</a:t>
            </a:r>
          </a:p>
          <a:p>
            <a:pPr lvl="1"/>
            <a:r>
              <a:rPr lang="ru-RU" dirty="0"/>
              <a:t>Дополнения (для v2 и v3)</a:t>
            </a:r>
          </a:p>
          <a:p>
            <a:pPr lvl="2"/>
            <a:r>
              <a:rPr lang="ru-RU" dirty="0"/>
              <a:t>Возможные дополнительные детали</a:t>
            </a:r>
          </a:p>
          <a:p>
            <a:r>
              <a:rPr lang="ru-RU" dirty="0"/>
              <a:t>Алгоритм подписи сертификата (обязательно только для v3)</a:t>
            </a:r>
          </a:p>
          <a:p>
            <a:r>
              <a:rPr lang="ru-RU" dirty="0"/>
              <a:t>Подпись сертификата (обязательно для всех версий)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0106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X.509 – </a:t>
            </a:r>
            <a:r>
              <a:rPr lang="ru-RU" dirty="0"/>
              <a:t>Реальный пример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 action="ppaction://hlinkfile"/>
              </a:rPr>
              <a:t>cert.html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Читайте описание полей </a:t>
            </a:r>
            <a:r>
              <a:rPr lang="ru-RU" dirty="0">
                <a:hlinkClick r:id="rId3"/>
              </a:rPr>
              <a:t>здесь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57587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X.509</a:t>
            </a:r>
            <a:r>
              <a:rPr lang="ru-RU" dirty="0"/>
              <a:t> – Типы сертификатов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b="1" i="1" dirty="0"/>
              <a:t>Подтверждённый домен </a:t>
            </a:r>
            <a:r>
              <a:rPr lang="ru-RU" dirty="0"/>
              <a:t>(</a:t>
            </a:r>
            <a:r>
              <a:rPr lang="en-US" dirty="0"/>
              <a:t>DV)</a:t>
            </a:r>
            <a:r>
              <a:rPr lang="ru-RU" dirty="0"/>
              <a:t> – самый распространённый тип сертификатов DV подтверждает, что домен соответствует определённому публичному ключу. Браузер устанавливает безопасное соединение с сервером и демонстрирует значок закрытого замка. Нажатие по значку выводит сообщение «Этот веб-сайт не предоставил информации о владельце». Для получения этого сертификата не выдвигается никаких дополнительных требований, кроме владения доменом — сертификат DV просто гарантирует, что для этого домена предъявлен правильный публичный ключ</a:t>
            </a:r>
          </a:p>
        </p:txBody>
      </p:sp>
    </p:spTree>
    <p:extLst>
      <p:ext uri="{BB962C8B-B14F-4D97-AF65-F5344CB8AC3E}">
        <p14:creationId xmlns:p14="http://schemas.microsoft.com/office/powerpoint/2010/main" val="3670987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X.509</a:t>
            </a:r>
            <a:r>
              <a:rPr lang="ru-RU" dirty="0"/>
              <a:t> – Типы сертификатов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ru-RU" b="1" i="1" dirty="0"/>
              <a:t>Расширенное подтверждение </a:t>
            </a:r>
            <a:r>
              <a:rPr lang="ru-RU" dirty="0"/>
              <a:t>– сертификаты EV подтверждают юридическое лицо, которому принадлежит веб-сайт. Это самый заслуживающий доверия тип сертификатов. Его выдают после того, как центр сертификации проверит юридическое лицо, которое контролирует домен. Юридическое лицо проверяется по нескольким условиям:</a:t>
            </a:r>
          </a:p>
          <a:p>
            <a:pPr lvl="1" algn="just"/>
            <a:r>
              <a:rPr lang="ru-RU" dirty="0"/>
              <a:t>управление доменом (наличие сертификата DV);</a:t>
            </a:r>
          </a:p>
          <a:p>
            <a:pPr lvl="1" algn="just"/>
            <a:r>
              <a:rPr lang="ru-RU" dirty="0"/>
              <a:t>государственный реестр для проверки, что компания зарегистрирована и действительна;</a:t>
            </a:r>
          </a:p>
          <a:p>
            <a:pPr lvl="1" algn="just"/>
            <a:r>
              <a:rPr lang="ru-RU" dirty="0"/>
              <a:t>независимые бизнес-справочники, такие как </a:t>
            </a:r>
            <a:r>
              <a:rPr lang="ru-RU" dirty="0" err="1"/>
              <a:t>Dunn</a:t>
            </a:r>
            <a:r>
              <a:rPr lang="ru-RU" dirty="0"/>
              <a:t> и </a:t>
            </a:r>
            <a:r>
              <a:rPr lang="ru-RU" dirty="0" err="1"/>
              <a:t>Bradstreet</a:t>
            </a:r>
            <a:r>
              <a:rPr lang="ru-RU" dirty="0"/>
              <a:t>, connect.data.com от </a:t>
            </a:r>
            <a:r>
              <a:rPr lang="ru-RU" dirty="0" err="1"/>
              <a:t>Salesforce</a:t>
            </a:r>
            <a:r>
              <a:rPr lang="ru-RU" dirty="0"/>
              <a:t>, </a:t>
            </a:r>
            <a:r>
              <a:rPr lang="ru-RU" dirty="0" err="1"/>
              <a:t>Yellow</a:t>
            </a:r>
            <a:r>
              <a:rPr lang="ru-RU" dirty="0"/>
              <a:t> </a:t>
            </a:r>
            <a:r>
              <a:rPr lang="ru-RU" dirty="0" err="1"/>
              <a:t>Pages</a:t>
            </a:r>
            <a:r>
              <a:rPr lang="ru-RU" dirty="0"/>
              <a:t> и др.;</a:t>
            </a:r>
          </a:p>
          <a:p>
            <a:pPr lvl="1" algn="just"/>
            <a:r>
              <a:rPr lang="ru-RU" dirty="0"/>
              <a:t>проверочный телефонный звонок;</a:t>
            </a:r>
          </a:p>
          <a:p>
            <a:pPr lvl="1" algn="just"/>
            <a:r>
              <a:rPr lang="ru-RU" dirty="0"/>
              <a:t>проверка всех доменных имён в сертификате (подстановочные символы явно запрещены в сертификатах EV).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7917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X.509</a:t>
            </a:r>
            <a:r>
              <a:rPr lang="ru-RU" dirty="0"/>
              <a:t> – Типы сертификатов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– </a:t>
            </a:r>
            <a:r>
              <a:rPr lang="ru-RU" dirty="0"/>
              <a:t>Как и EV, </a:t>
            </a:r>
            <a:r>
              <a:rPr lang="ru-RU" dirty="0" err="1"/>
              <a:t>сертификат</a:t>
            </a:r>
            <a:r>
              <a:rPr lang="ru-RU" b="1" i="1" dirty="0" err="1"/>
              <a:t>Подтверждённая</a:t>
            </a:r>
            <a:r>
              <a:rPr lang="ru-RU" b="1" i="1" dirty="0"/>
              <a:t> организация (</a:t>
            </a:r>
            <a:r>
              <a:rPr lang="en-US" b="1" i="1" dirty="0"/>
              <a:t>OV)</a:t>
            </a:r>
            <a:r>
              <a:rPr lang="ru-RU" b="1" i="1" dirty="0"/>
              <a:t> </a:t>
            </a:r>
            <a:r>
              <a:rPr lang="ru-RU" dirty="0"/>
              <a:t>ы OV подтверждают юридическое лицо, которому принадлежит веб-сайт. Но в отличие от EV, сертификаты OV HTTPS не отображают название подтверждённого юридического лица в пользовательском интерфейсе. В результате, сертификаты OV не так популярны, поскольку у них высокие требования для проверки, но они не дают преимуществ, видимых для пользователя</a:t>
            </a:r>
          </a:p>
        </p:txBody>
      </p:sp>
    </p:spTree>
    <p:extLst>
      <p:ext uri="{BB962C8B-B14F-4D97-AF65-F5344CB8AC3E}">
        <p14:creationId xmlns:p14="http://schemas.microsoft.com/office/powerpoint/2010/main" val="1559721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X.509</a:t>
            </a:r>
            <a:r>
              <a:rPr lang="ru-RU" dirty="0"/>
              <a:t> – Типы сертификатов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0535307"/>
              </p:ext>
            </p:extLst>
          </p:nvPr>
        </p:nvGraphicFramePr>
        <p:xfrm>
          <a:off x="838200" y="1825625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6270689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5374749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Название сертификата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Цена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0098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Подтверждённый домен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Почти бесплатно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244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Подтверждённая</a:t>
                      </a:r>
                      <a:r>
                        <a:rPr lang="ru-RU" baseline="0" dirty="0"/>
                        <a:t> организация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Где-то посередине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388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Расширенное подтверждение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Дорогой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05804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2835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X.509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Генерируем пару ключей для шифрования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Идём в УЦ и получаем себе сертификат открытого ключа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Подписываем документы с помощью своего сертификата или устанавливаем его к себе на сервер (данный сертификат необходим для сайтов)</a:t>
            </a:r>
          </a:p>
        </p:txBody>
      </p:sp>
    </p:spTree>
    <p:extLst>
      <p:ext uri="{BB962C8B-B14F-4D97-AF65-F5344CB8AC3E}">
        <p14:creationId xmlns:p14="http://schemas.microsoft.com/office/powerpoint/2010/main" val="2692796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происходит проверка сертификата?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Online Certificate Status Protocol – </a:t>
            </a:r>
            <a:r>
              <a:rPr lang="ru-RU" b="1" dirty="0"/>
              <a:t>протокол проверки статуса сертификата</a:t>
            </a:r>
          </a:p>
          <a:p>
            <a:pPr marL="0" indent="0">
              <a:buNone/>
            </a:pPr>
            <a:r>
              <a:rPr lang="ru-RU" b="1" dirty="0"/>
              <a:t>Существует всего 3 статуса сертификата:</a:t>
            </a:r>
          </a:p>
          <a:p>
            <a:pPr lvl="1"/>
            <a:r>
              <a:rPr lang="ru-RU" b="1" dirty="0"/>
              <a:t>Действующий</a:t>
            </a:r>
          </a:p>
          <a:p>
            <a:pPr lvl="1"/>
            <a:r>
              <a:rPr lang="ru-RU" b="1" dirty="0"/>
              <a:t>Отозванный</a:t>
            </a:r>
          </a:p>
          <a:p>
            <a:pPr lvl="1"/>
            <a:r>
              <a:rPr lang="ru-RU" b="1" dirty="0"/>
              <a:t>Статус неизвестен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55978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происходит проверка сертификата?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Certificate Revocation List</a:t>
            </a:r>
            <a:r>
              <a:rPr lang="ru-RU" b="1" dirty="0"/>
              <a:t> – список сертификатов, которые удостоверяющий центр пометил как отозванные.</a:t>
            </a:r>
          </a:p>
          <a:p>
            <a:pPr marL="0" indent="0">
              <a:buNone/>
            </a:pPr>
            <a:endParaRPr lang="ru-RU" b="1" dirty="0"/>
          </a:p>
          <a:p>
            <a:pPr marL="0" indent="0">
              <a:buNone/>
            </a:pPr>
            <a:r>
              <a:rPr lang="ru-RU" b="1" dirty="0"/>
              <a:t>Периодически центры публикуют такие списки.</a:t>
            </a:r>
          </a:p>
        </p:txBody>
      </p:sp>
    </p:spTree>
    <p:extLst>
      <p:ext uri="{BB962C8B-B14F-4D97-AF65-F5344CB8AC3E}">
        <p14:creationId xmlns:p14="http://schemas.microsoft.com/office/powerpoint/2010/main" val="2393426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происходит проверка?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Font typeface="+mj-lt"/>
              <a:buAutoNum type="arabicPeriod"/>
            </a:pPr>
            <a:r>
              <a:rPr lang="ru-RU" dirty="0"/>
              <a:t>Алиса и Боб - респонденты, каждый имеет сертификат открытого ключа, выданный некоторым центром сертификации (</a:t>
            </a:r>
            <a:r>
              <a:rPr lang="ru-RU" dirty="0" err="1"/>
              <a:t>Certificate</a:t>
            </a:r>
            <a:r>
              <a:rPr lang="ru-RU" dirty="0"/>
              <a:t> </a:t>
            </a:r>
            <a:r>
              <a:rPr lang="ru-RU" dirty="0" err="1"/>
              <a:t>Authority</a:t>
            </a:r>
            <a:r>
              <a:rPr lang="ru-RU" dirty="0"/>
              <a:t>).</a:t>
            </a:r>
          </a:p>
          <a:p>
            <a:pPr>
              <a:buFont typeface="+mj-lt"/>
              <a:buAutoNum type="arabicPeriod"/>
            </a:pPr>
            <a:r>
              <a:rPr lang="ru-RU" dirty="0"/>
              <a:t>Алиса хочет выполнить транзакцию с Бобом и отправляет ему свой сертификат открытого ключа.</a:t>
            </a:r>
          </a:p>
          <a:p>
            <a:pPr>
              <a:buFont typeface="+mj-lt"/>
              <a:buAutoNum type="arabicPeriod"/>
            </a:pPr>
            <a:r>
              <a:rPr lang="ru-RU" dirty="0"/>
              <a:t>Боб, обеспокоенный тем, что закрытый ключ Алисы мог быть скомпрометирован, создает «запрос OCSP», который содержит серийный номер сертификата Алисы и отправляет его в </a:t>
            </a:r>
            <a:r>
              <a:rPr lang="en-US" dirty="0"/>
              <a:t>CA</a:t>
            </a:r>
            <a:r>
              <a:rPr lang="ru-RU" dirty="0"/>
              <a:t>.</a:t>
            </a:r>
          </a:p>
          <a:p>
            <a:pPr>
              <a:buFont typeface="+mj-lt"/>
              <a:buAutoNum type="arabicPeriod"/>
            </a:pPr>
            <a:r>
              <a:rPr lang="ru-RU" dirty="0"/>
              <a:t>Сервис OCSP Центра сертификации считывает серийный номер сертификата из запроса Боба и производит поиск состояния сертификата Алиса. Возможное состояние, которое он обнаружит в базе данных Центра сертификации C</a:t>
            </a:r>
            <a:r>
              <a:rPr lang="en-US" dirty="0"/>
              <a:t>A</a:t>
            </a:r>
            <a:r>
              <a:rPr lang="ru-RU" dirty="0"/>
              <a:t> — сертификат отозван. В этом случае база данных C</a:t>
            </a:r>
            <a:r>
              <a:rPr lang="en-US" dirty="0"/>
              <a:t>A</a:t>
            </a:r>
            <a:r>
              <a:rPr lang="ru-RU" dirty="0"/>
              <a:t> является единственным достоверным источником, способным подтвердить факт компрометации сертификата Алёны.</a:t>
            </a:r>
          </a:p>
          <a:p>
            <a:pPr>
              <a:buFont typeface="+mj-lt"/>
              <a:buAutoNum type="arabicPeriod"/>
            </a:pPr>
            <a:r>
              <a:rPr lang="ru-RU" dirty="0"/>
              <a:t>Сервис OCSP Центра сертификации подтверждает, что сертификат Алисы все еще в порядке, и возвращает подписанный, положительный «ответ OCSP» Бобу.</a:t>
            </a:r>
          </a:p>
          <a:p>
            <a:pPr>
              <a:buFont typeface="+mj-lt"/>
              <a:buAutoNum type="arabicPeriod"/>
            </a:pPr>
            <a:r>
              <a:rPr lang="ru-RU" dirty="0"/>
              <a:t>Боб </a:t>
            </a:r>
            <a:r>
              <a:rPr lang="ru-RU" dirty="0" err="1"/>
              <a:t>криптографически</a:t>
            </a:r>
            <a:r>
              <a:rPr lang="ru-RU" dirty="0"/>
              <a:t> проверяет подписанный ответ Центра сертификации C</a:t>
            </a:r>
            <a:r>
              <a:rPr lang="en-US" dirty="0"/>
              <a:t>A</a:t>
            </a:r>
            <a:r>
              <a:rPr lang="ru-RU" dirty="0"/>
              <a:t>. Открытый ключ CA был сохранён у Боба заранее, и с его помощью он проверяет достоверность ответа Центра сертификации CA.</a:t>
            </a:r>
          </a:p>
          <a:p>
            <a:pPr>
              <a:buFont typeface="+mj-lt"/>
              <a:buAutoNum type="arabicPeriod"/>
            </a:pPr>
            <a:r>
              <a:rPr lang="ru-RU" dirty="0"/>
              <a:t>Боб завершает транзакцию с Алисой.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04065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Защищённая версия протокола </a:t>
            </a:r>
            <a:r>
              <a:rPr lang="en-US" dirty="0"/>
              <a:t>HTTP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3750" y="2278886"/>
            <a:ext cx="7624500" cy="448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284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</a:t>
            </a:r>
            <a:r>
              <a:rPr lang="ru-RU" dirty="0"/>
              <a:t> – уровни протокола</a:t>
            </a:r>
          </a:p>
        </p:txBody>
      </p:sp>
      <p:pic>
        <p:nvPicPr>
          <p:cNvPr id="2052" name="Picture 4" descr="HTTP as an application layer protocol, on top of TCP (transport layer) and IP (network layer) and below the presentation layer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6976" y="1687658"/>
            <a:ext cx="607057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16846" y="1687658"/>
            <a:ext cx="481877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Протокол прикладного уровня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Внутри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HTTP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передаются: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HTML –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страница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CSS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– каскадная таблица стилей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JavaScript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файлы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файлы, программного кода, которые выполняются на стороне клиента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Web APIs –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информация о доступных способах запроса и получения информации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После формирования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HTTP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запроса он передаётся на транспортный уровень</a:t>
            </a:r>
          </a:p>
          <a:p>
            <a:pPr marL="342900" indent="-342900" algn="just">
              <a:buFont typeface="+mj-lt"/>
              <a:buAutoNum type="arabicPeriod"/>
            </a:pP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90593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</a:t>
            </a:r>
            <a:r>
              <a:rPr lang="ru-RU" dirty="0"/>
              <a:t> – уровни протокола</a:t>
            </a:r>
          </a:p>
        </p:txBody>
      </p:sp>
      <p:pic>
        <p:nvPicPr>
          <p:cNvPr id="2052" name="Picture 4" descr="HTTP as an application layer protocol, on top of TCP (transport layer) and IP (network layer) and below the presentation layer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0819" y="1690688"/>
            <a:ext cx="607057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838200" y="1690688"/>
            <a:ext cx="48187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 startAt="4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На транспортном уровне начинает работать протокол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TCP (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 случае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HTTPS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используется защищённая версия протокола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TCP – TLS)</a:t>
            </a:r>
          </a:p>
          <a:p>
            <a:pPr marL="342900" indent="-342900" algn="just">
              <a:buFont typeface="+mj-lt"/>
              <a:buAutoNum type="arabicPeriod" startAt="4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Далее идёт переход на межсетевой уровень (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IP) 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94162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Это клиент-серверный протокол, работающий в формате «запрос-ответ»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Запрос формируется в браузере(ПО) и идёт на сервер. Между клиентом и сервером множество посредников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Посредниками являются: маршрутизаторы, модемы, шлюзы, прокси, кэши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512" y="4664424"/>
            <a:ext cx="7800975" cy="115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4492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</a:t>
            </a:r>
            <a:r>
              <a:rPr lang="ru-RU" dirty="0"/>
              <a:t> поток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just">
              <a:buFont typeface="+mj-lt"/>
              <a:buAutoNum type="arabicPeriod"/>
            </a:pPr>
            <a:r>
              <a:rPr lang="ru-RU" sz="2000" dirty="0"/>
              <a:t>Открытие TCP соединения: TCP-соединение будет использоваться для отправки запроса (или запросов) и получения ответа. Клиент может открыть новое соединение, </a:t>
            </a:r>
            <a:r>
              <a:rPr lang="ru-RU" sz="2000" dirty="0" err="1"/>
              <a:t>переиспользовать</a:t>
            </a:r>
            <a:r>
              <a:rPr lang="ru-RU" sz="2000" dirty="0"/>
              <a:t> существующее или открыть несколько TCP-соединений к серверу.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sz="2000" dirty="0"/>
              <a:t>Отправка HTTP-сообщения: HTTP-сообщения (до HTTP/2) являются </a:t>
            </a:r>
            <a:r>
              <a:rPr lang="ru-RU" sz="2000" dirty="0" err="1"/>
              <a:t>человекочитаемыми</a:t>
            </a:r>
            <a:r>
              <a:rPr lang="ru-RU" sz="2000" dirty="0"/>
              <a:t>. Начиная с HTTP/2, простые сообщения инкапсулируются во фреймы, делая невозможным их чтение напрямую, но принципиально остаются такими же.</a:t>
            </a:r>
          </a:p>
          <a:p>
            <a:pPr marL="514350" indent="-514350" algn="just">
              <a:buFont typeface="+mj-lt"/>
              <a:buAutoNum type="arabicPeriod"/>
            </a:pPr>
            <a:endParaRPr lang="ru-RU" sz="2000" dirty="0"/>
          </a:p>
          <a:p>
            <a:pPr marL="514350" indent="-514350" algn="just">
              <a:buFont typeface="+mj-lt"/>
              <a:buAutoNum type="arabicPeriod"/>
            </a:pPr>
            <a:endParaRPr lang="ru-RU" sz="2000" dirty="0"/>
          </a:p>
          <a:p>
            <a:pPr marL="514350" indent="-514350" algn="just">
              <a:buFont typeface="+mj-lt"/>
              <a:buAutoNum type="arabicPeriod"/>
            </a:pPr>
            <a:endParaRPr lang="en-US" sz="2000" dirty="0"/>
          </a:p>
          <a:p>
            <a:pPr marL="0" indent="0" algn="just">
              <a:buNone/>
            </a:pPr>
            <a:endParaRPr lang="ru-RU" sz="2000" dirty="0"/>
          </a:p>
          <a:p>
            <a:pPr marL="514350" indent="-514350" algn="just">
              <a:buFont typeface="+mj-lt"/>
              <a:buAutoNum type="arabicPeriod"/>
            </a:pPr>
            <a:endParaRPr lang="ru-RU" sz="2000" dirty="0"/>
          </a:p>
          <a:p>
            <a:pPr marL="514350" indent="-514350">
              <a:buFont typeface="+mj-lt"/>
              <a:buAutoNum type="arabicPeriod"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664" y="4249671"/>
            <a:ext cx="10968672" cy="206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8891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</a:t>
            </a:r>
            <a:r>
              <a:rPr lang="ru-RU" dirty="0"/>
              <a:t>поток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ru-RU" dirty="0"/>
              <a:t>Читает ответ от сервера: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514350" indent="-514350">
              <a:buFont typeface="+mj-lt"/>
              <a:buAutoNum type="arabicPeriod" startAt="4"/>
            </a:pPr>
            <a:endParaRPr lang="ru-RU" dirty="0"/>
          </a:p>
          <a:p>
            <a:pPr marL="514350" indent="-514350" algn="just">
              <a:buFont typeface="+mj-lt"/>
              <a:buAutoNum type="arabicPeriod" startAt="4"/>
            </a:pPr>
            <a:r>
              <a:rPr lang="ru-RU" dirty="0"/>
              <a:t>Закрывает или </a:t>
            </a:r>
            <a:r>
              <a:rPr lang="ru-RU" dirty="0" err="1"/>
              <a:t>переиспользует</a:t>
            </a:r>
            <a:r>
              <a:rPr lang="ru-RU" dirty="0"/>
              <a:t> соединение для дальнейших запросов.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837" y="2208638"/>
            <a:ext cx="6992326" cy="287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6409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</a:t>
            </a:r>
            <a:r>
              <a:rPr lang="ru-RU" dirty="0"/>
              <a:t>версии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HTTP/0.9 – </a:t>
            </a:r>
            <a:r>
              <a:rPr lang="ru-RU" dirty="0"/>
              <a:t>однострочный протокол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dirty="0"/>
              <a:t>Всего единственный метод</a:t>
            </a:r>
            <a:r>
              <a:rPr lang="en-US" dirty="0"/>
              <a:t> –</a:t>
            </a:r>
            <a:r>
              <a:rPr lang="ru-RU" dirty="0"/>
              <a:t> </a:t>
            </a:r>
            <a:r>
              <a:rPr lang="en-US" dirty="0"/>
              <a:t>GET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dirty="0"/>
              <a:t>Отсутствуют заголовки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dirty="0"/>
              <a:t>В ответ идёт просто страница </a:t>
            </a:r>
            <a:r>
              <a:rPr lang="en-US" dirty="0"/>
              <a:t>html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HTTP/1.0 – </a:t>
            </a:r>
            <a:r>
              <a:rPr lang="ru-RU" dirty="0"/>
              <a:t>направлен на повышение расширяемости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dirty="0"/>
              <a:t>Информации о версии добавляется к запросу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dirty="0"/>
              <a:t>Строка кода состояния отправляется в начале ответа – это позволяет распознавать результат запроса – успех или неудача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dirty="0"/>
              <a:t>Заголовки стали обязательными для запросов и ответов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dirty="0"/>
              <a:t>Теперь можно передавать не только </a:t>
            </a:r>
            <a:r>
              <a:rPr lang="en-US" dirty="0"/>
              <a:t>html </a:t>
            </a:r>
            <a:r>
              <a:rPr lang="ru-RU" dirty="0"/>
              <a:t>страницы, но и другой контент с помощью заголовка «</a:t>
            </a:r>
            <a:r>
              <a:rPr lang="en-US" dirty="0">
                <a:solidFill>
                  <a:srgbClr val="00B050"/>
                </a:solidFill>
              </a:rPr>
              <a:t>Content-Type</a:t>
            </a:r>
            <a:r>
              <a:rPr lang="ru-RU" dirty="0"/>
              <a:t>»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80856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</a:t>
            </a:r>
            <a:r>
              <a:rPr lang="ru-RU" dirty="0"/>
              <a:t>версии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dirty="0"/>
              <a:t>HTTP/1.1 </a:t>
            </a:r>
            <a:r>
              <a:rPr lang="ru-RU" dirty="0"/>
              <a:t>– стандартизация протокола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dirty="0"/>
              <a:t>Соединение можно использовать повторно, что экономит время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dirty="0"/>
              <a:t>Была добавлена конвейерная обработка. Это позволило отправить второй запрос до того, как ответ на первый был полностью передан. Это снизило задержку обмена данными.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dirty="0"/>
              <a:t>Также поддерживались фрагментированные ответы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dirty="0"/>
              <a:t>Было введено согласование контента, включая язык, кодировку и тип. Клиент и сервер теперь могут договориться о том, каким контентом обмениваться.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dirty="0"/>
              <a:t>Благодаря Host заголовку, возможность размещать разные домены с одного и того же IP-адреса позволила использовать коллокацию серверов.</a:t>
            </a:r>
          </a:p>
        </p:txBody>
      </p:sp>
    </p:spTree>
    <p:extLst>
      <p:ext uri="{BB962C8B-B14F-4D97-AF65-F5344CB8AC3E}">
        <p14:creationId xmlns:p14="http://schemas.microsoft.com/office/powerpoint/2010/main" val="18343279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</a:t>
            </a:r>
            <a:r>
              <a:rPr lang="ru-RU" dirty="0"/>
              <a:t>версии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Самое крупное изменение состоялось в 1994 году и добавило шифрование (сначала это был </a:t>
            </a:r>
            <a:r>
              <a:rPr lang="en-US" dirty="0">
                <a:solidFill>
                  <a:srgbClr val="00B050"/>
                </a:solidFill>
              </a:rPr>
              <a:t>SSL 1.0</a:t>
            </a:r>
            <a:r>
              <a:rPr lang="en-US" dirty="0"/>
              <a:t>, </a:t>
            </a:r>
            <a:r>
              <a:rPr lang="ru-RU" dirty="0"/>
              <a:t>затем </a:t>
            </a:r>
            <a:r>
              <a:rPr lang="en-US" dirty="0">
                <a:solidFill>
                  <a:srgbClr val="00B050"/>
                </a:solidFill>
              </a:rPr>
              <a:t>SSL 2.0</a:t>
            </a:r>
            <a:r>
              <a:rPr lang="en-US" dirty="0"/>
              <a:t> </a:t>
            </a:r>
            <a:r>
              <a:rPr lang="ru-RU" dirty="0"/>
              <a:t>и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3.0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ru-RU" dirty="0"/>
              <a:t>Протокол </a:t>
            </a:r>
            <a:r>
              <a:rPr lang="en-US" dirty="0"/>
              <a:t>SSL </a:t>
            </a:r>
            <a:r>
              <a:rPr lang="ru-RU" dirty="0"/>
              <a:t>стандартизировали и появился </a:t>
            </a:r>
            <a:r>
              <a:rPr lang="en-US" dirty="0">
                <a:solidFill>
                  <a:srgbClr val="00B050"/>
                </a:solidFill>
              </a:rPr>
              <a:t>TLS</a:t>
            </a:r>
          </a:p>
          <a:p>
            <a:pPr marL="0" indent="0">
              <a:buNone/>
            </a:pPr>
            <a:r>
              <a:rPr lang="en-US" dirty="0"/>
              <a:t>TLS – </a:t>
            </a:r>
            <a:r>
              <a:rPr lang="ru-RU" dirty="0"/>
              <a:t>протокол, обеспечивающий безопасность на транспортном уровне</a:t>
            </a:r>
          </a:p>
        </p:txBody>
      </p:sp>
    </p:spTree>
    <p:extLst>
      <p:ext uri="{BB962C8B-B14F-4D97-AF65-F5344CB8AC3E}">
        <p14:creationId xmlns:p14="http://schemas.microsoft.com/office/powerpoint/2010/main" val="15446847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</a:t>
            </a:r>
            <a:r>
              <a:rPr lang="ru-RU" dirty="0"/>
              <a:t>версии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US" dirty="0"/>
              <a:t>HTTP/2.0 – </a:t>
            </a:r>
            <a:r>
              <a:rPr lang="ru-RU" dirty="0"/>
              <a:t>повышение производительности. Технологии развивались, страницы становились всё больше, время получения страниц становилось всё больше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dirty="0"/>
              <a:t>Это двоичный протокол, а не текстовый протокол. Его нельзя прочитать и создать вручную.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dirty="0"/>
              <a:t>Это мультиплексированный протокол. Параллельные запросы могут выполняться по одному и тому же соединению.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dirty="0"/>
              <a:t>Он сжимает заголовки. Поскольку они часто одинаковы в наборе запросов, это устраняет дублирование и накладные расходы на передаваемые данные.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dirty="0"/>
              <a:t>Это позволяет серверу заполнять данные в клиентском кэше с помощью механизма, называемого </a:t>
            </a:r>
            <a:r>
              <a:rPr lang="ru-RU" dirty="0" err="1"/>
              <a:t>server</a:t>
            </a:r>
            <a:r>
              <a:rPr lang="ru-RU" dirty="0"/>
              <a:t> </a:t>
            </a:r>
            <a:r>
              <a:rPr lang="ru-RU" dirty="0" err="1"/>
              <a:t>push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004875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</a:t>
            </a:r>
            <a:r>
              <a:rPr lang="ru-RU" dirty="0"/>
              <a:t>версии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en-US" dirty="0"/>
              <a:t>HTTP/3 - HTTP </a:t>
            </a:r>
            <a:r>
              <a:rPr lang="ru-RU" dirty="0"/>
              <a:t>через </a:t>
            </a:r>
            <a:r>
              <a:rPr lang="en-US" dirty="0"/>
              <a:t>QUIC</a:t>
            </a:r>
            <a:endParaRPr lang="ru-RU" dirty="0"/>
          </a:p>
          <a:p>
            <a:pPr marL="0" indent="0" algn="just">
              <a:buNone/>
            </a:pPr>
            <a:r>
              <a:rPr lang="ru-RU" dirty="0"/>
              <a:t>QUIC разработан для обеспечения гораздо меньших задержек при HTTP-соединениях. Как и HTTP / 2, это мультиплексированный протокол, но HTTP / 2 работает через одно TCP-соединение, поэтому обнаружение потери пакетов и повторная передача, выполняемые на уровне TCP, могут блокировать все потоки. QUIC запускает несколько потоков через </a:t>
            </a:r>
            <a:r>
              <a:rPr lang="ru-RU" u="sng" dirty="0"/>
              <a:t>UDP</a:t>
            </a:r>
            <a:r>
              <a:rPr lang="ru-RU" dirty="0"/>
              <a:t> и реализует обнаружение потери пакетов и повторную передачу независимо для каждого потока, так что в случае возникновения ошибки блокируется только поток с данными в этом пакете.</a:t>
            </a:r>
          </a:p>
        </p:txBody>
      </p:sp>
    </p:spTree>
    <p:extLst>
      <p:ext uri="{BB962C8B-B14F-4D97-AF65-F5344CB8AC3E}">
        <p14:creationId xmlns:p14="http://schemas.microsoft.com/office/powerpoint/2010/main" val="11243600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версий</a:t>
            </a:r>
          </a:p>
        </p:txBody>
      </p:sp>
      <p:pic>
        <p:nvPicPr>
          <p:cNvPr id="7174" name="Picture 6" descr="https://img.halfrost.com/Blog/ArticleImage/129_1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8955" y="1690688"/>
            <a:ext cx="7974090" cy="5017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97369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Статистика использования на 2023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754045"/>
              </p:ext>
            </p:extLst>
          </p:nvPr>
        </p:nvGraphicFramePr>
        <p:xfrm>
          <a:off x="838200" y="1825625"/>
          <a:ext cx="105156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1062926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5451173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4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Версия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Использование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1825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4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HTTP/1.x</a:t>
                      </a:r>
                      <a:endParaRPr lang="ru-RU" sz="4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37.5 %</a:t>
                      </a:r>
                      <a:endParaRPr lang="ru-RU" sz="4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9410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HTTP/2.0</a:t>
                      </a:r>
                      <a:endParaRPr lang="ru-RU" sz="4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35.6 %</a:t>
                      </a:r>
                      <a:endParaRPr lang="ru-RU" sz="4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911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HTTP/3.0</a:t>
                      </a:r>
                      <a:endParaRPr lang="ru-RU" sz="4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26.9%</a:t>
                      </a:r>
                      <a:endParaRPr lang="ru-RU" sz="4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48853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53769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Безопасность протокола </a:t>
            </a:r>
            <a:r>
              <a:rPr lang="en-US" dirty="0"/>
              <a:t>HTTP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 dirty="0"/>
              <a:t>Content Security Policy – </a:t>
            </a:r>
            <a:r>
              <a:rPr lang="ru-RU" b="1" dirty="0"/>
              <a:t>дополнительный уровень безопасности. Для того чтобы включить CSP, необходимо настроить сервер так, чтобы в ответах он использовал HTTP-заголовок </a:t>
            </a:r>
            <a:r>
              <a:rPr lang="ru-RU" b="1" dirty="0" err="1"/>
              <a:t>Content-Security-Policy</a:t>
            </a:r>
            <a:endParaRPr lang="en-US" b="1" dirty="0"/>
          </a:p>
          <a:p>
            <a:pPr marL="0" indent="0" algn="just">
              <a:buNone/>
            </a:pPr>
            <a:r>
              <a:rPr lang="en-US" dirty="0"/>
              <a:t>CSP </a:t>
            </a:r>
            <a:r>
              <a:rPr lang="ru-RU" dirty="0"/>
              <a:t>позволяет защититься от:</a:t>
            </a:r>
          </a:p>
          <a:p>
            <a:pPr lvl="1" algn="just"/>
            <a:r>
              <a:rPr lang="ru-RU" dirty="0"/>
              <a:t>Межсайтового </a:t>
            </a:r>
            <a:r>
              <a:rPr lang="ru-RU" dirty="0" err="1"/>
              <a:t>скриптинга</a:t>
            </a:r>
            <a:r>
              <a:rPr lang="ru-RU" dirty="0"/>
              <a:t> (</a:t>
            </a:r>
            <a:r>
              <a:rPr lang="en-US" dirty="0"/>
              <a:t>XSS</a:t>
            </a:r>
            <a:r>
              <a:rPr lang="ru-RU" dirty="0"/>
              <a:t>) – добавление вредоносного кода. Данные скрипты дополнительно встраиваются в вашу страницу и пытаются его выполнить</a:t>
            </a:r>
          </a:p>
        </p:txBody>
      </p:sp>
    </p:spTree>
    <p:extLst>
      <p:ext uri="{BB962C8B-B14F-4D97-AF65-F5344CB8AC3E}">
        <p14:creationId xmlns:p14="http://schemas.microsoft.com/office/powerpoint/2010/main" val="31312619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Безопасность протокола </a:t>
            </a:r>
            <a:r>
              <a:rPr lang="en-US" dirty="0"/>
              <a:t>HTTP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Пример заголовка </a:t>
            </a:r>
            <a:r>
              <a:rPr lang="en-US" dirty="0"/>
              <a:t>CSP: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2470" y="2495419"/>
            <a:ext cx="5087060" cy="186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7200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Безопасность протокола </a:t>
            </a:r>
            <a:r>
              <a:rPr lang="en-US" dirty="0"/>
              <a:t>HTTP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HTTP </a:t>
            </a:r>
            <a:r>
              <a:rPr lang="ru-RU" dirty="0" err="1"/>
              <a:t>Strict-Transport-Security</a:t>
            </a:r>
            <a:r>
              <a:rPr lang="ru-RU" dirty="0"/>
              <a:t> - заголовок ответа (часто используется аббревиатура HSTS (</a:t>
            </a:r>
            <a:r>
              <a:rPr lang="ru-RU" dirty="0" err="1"/>
              <a:t>en</a:t>
            </a:r>
            <a:r>
              <a:rPr lang="ru-RU" dirty="0"/>
              <a:t>-US)), позволяющий </a:t>
            </a:r>
            <a:r>
              <a:rPr lang="ru-RU" dirty="0" err="1"/>
              <a:t>web</a:t>
            </a:r>
            <a:r>
              <a:rPr lang="ru-RU" dirty="0"/>
              <a:t>-сайтам уведомить браузер о том, что доступ к ним должен быть осуществлён только посредством HTTPS вместо HTTP.</a:t>
            </a:r>
          </a:p>
        </p:txBody>
      </p:sp>
    </p:spTree>
    <p:extLst>
      <p:ext uri="{BB962C8B-B14F-4D97-AF65-F5344CB8AC3E}">
        <p14:creationId xmlns:p14="http://schemas.microsoft.com/office/powerpoint/2010/main" val="20418368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Безопасность протокола </a:t>
            </a:r>
            <a:r>
              <a:rPr lang="en-US" dirty="0"/>
              <a:t>HTTP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ru-RU" dirty="0"/>
              <a:t>Если сайт поддерживает доступ с помощью HTTP и перенаправляет на HTTPS, посетители могут изначально </a:t>
            </a:r>
            <a:r>
              <a:rPr lang="ru-RU" dirty="0" err="1"/>
              <a:t>коммуницировать</a:t>
            </a:r>
            <a:r>
              <a:rPr lang="ru-RU" dirty="0"/>
              <a:t> с незащищённой версией сайта до перенаправления, если, к примеру, введут http://www.foo.com/ или даже просто foo.com. Это открывает возможности для атак посредников. Перенаправление может быть использовано для перевода посетителей на сайт злоумышленников вместо защищённой версии оригинального сайта.</a:t>
            </a:r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r>
              <a:rPr lang="ru-RU" dirty="0"/>
              <a:t>HTTP </a:t>
            </a:r>
            <a:r>
              <a:rPr lang="ru-RU" dirty="0" err="1"/>
              <a:t>Strict</a:t>
            </a:r>
            <a:r>
              <a:rPr lang="ru-RU" dirty="0"/>
              <a:t> </a:t>
            </a:r>
            <a:r>
              <a:rPr lang="ru-RU" dirty="0" err="1"/>
              <a:t>Transport</a:t>
            </a:r>
            <a:r>
              <a:rPr lang="ru-RU" dirty="0"/>
              <a:t> </a:t>
            </a:r>
            <a:r>
              <a:rPr lang="ru-RU" dirty="0" err="1"/>
              <a:t>Security</a:t>
            </a:r>
            <a:r>
              <a:rPr lang="ru-RU" dirty="0"/>
              <a:t> заголовок сообщает браузеру, что тот </a:t>
            </a:r>
            <a:r>
              <a:rPr lang="ru-RU" dirty="0">
                <a:solidFill>
                  <a:srgbClr val="FF0000"/>
                </a:solidFill>
              </a:rPr>
              <a:t>никогда не должен загружать сайт через HTTP </a:t>
            </a:r>
            <a:r>
              <a:rPr lang="ru-RU" dirty="0"/>
              <a:t>и всегда должен автоматически конвертировать все попытки доступа к сайту с помощью </a:t>
            </a:r>
            <a:r>
              <a:rPr lang="ru-RU" dirty="0">
                <a:solidFill>
                  <a:srgbClr val="00B050"/>
                </a:solidFill>
              </a:rPr>
              <a:t>HTTP в HTTPS</a:t>
            </a:r>
            <a:r>
              <a:rPr lang="ru-RU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2788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Безопасность протокола </a:t>
            </a:r>
            <a:r>
              <a:rPr lang="en-US" dirty="0"/>
              <a:t>HTTP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ru-RU" dirty="0"/>
              <a:t>Вы </a:t>
            </a:r>
            <a:r>
              <a:rPr lang="ru-RU" dirty="0" err="1"/>
              <a:t>залогинились</a:t>
            </a:r>
            <a:r>
              <a:rPr lang="ru-RU" dirty="0"/>
              <a:t> через </a:t>
            </a:r>
            <a:r>
              <a:rPr lang="ru-RU" dirty="0">
                <a:solidFill>
                  <a:srgbClr val="FF0000"/>
                </a:solidFill>
              </a:rPr>
              <a:t>бесплатную точку доступа </a:t>
            </a:r>
            <a:r>
              <a:rPr lang="ru-RU" dirty="0" err="1">
                <a:solidFill>
                  <a:srgbClr val="FF0000"/>
                </a:solidFill>
              </a:rPr>
              <a:t>WiFi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ru-RU" dirty="0"/>
              <a:t>в аэропорту и начали </a:t>
            </a:r>
            <a:r>
              <a:rPr lang="ru-RU" dirty="0" err="1"/>
              <a:t>серфить</a:t>
            </a:r>
            <a:r>
              <a:rPr lang="ru-RU" dirty="0"/>
              <a:t> в сети, посещая ваш сервис </a:t>
            </a:r>
            <a:r>
              <a:rPr lang="ru-RU" dirty="0" err="1"/>
              <a:t>online</a:t>
            </a:r>
            <a:r>
              <a:rPr lang="ru-RU" dirty="0"/>
              <a:t>-банкинга для того, чтобы проверить баланс и оплатить пару счетов. К сожалению, точка доступа на самом деле </a:t>
            </a:r>
            <a:r>
              <a:rPr lang="ru-RU" dirty="0">
                <a:solidFill>
                  <a:srgbClr val="FF0000"/>
                </a:solidFill>
              </a:rPr>
              <a:t>хакерский ноутбук</a:t>
            </a:r>
            <a:r>
              <a:rPr lang="ru-RU" dirty="0"/>
              <a:t>, и они перехватывают ваш оригинальный HTTP запрос и перенаправляют вас на клонированную версию вашего банковского сайта. Теперь ваша личная информация доступна хакерам.</a:t>
            </a:r>
          </a:p>
          <a:p>
            <a:pPr marL="0" indent="0" algn="just">
              <a:buNone/>
            </a:pPr>
            <a:r>
              <a:rPr lang="ru-RU" dirty="0" err="1"/>
              <a:t>Strict</a:t>
            </a:r>
            <a:r>
              <a:rPr lang="ru-RU" dirty="0"/>
              <a:t> </a:t>
            </a:r>
            <a:r>
              <a:rPr lang="ru-RU" dirty="0" err="1"/>
              <a:t>Transport</a:t>
            </a:r>
            <a:r>
              <a:rPr lang="ru-RU" dirty="0"/>
              <a:t> </a:t>
            </a:r>
            <a:r>
              <a:rPr lang="ru-RU" dirty="0" err="1"/>
              <a:t>Security</a:t>
            </a:r>
            <a:r>
              <a:rPr lang="ru-RU" dirty="0"/>
              <a:t> разрешает эту проблему; пока вы подключены к вашему банковскому сайту с помощью HTTPS и тот использует </a:t>
            </a:r>
            <a:r>
              <a:rPr lang="ru-RU" dirty="0" err="1"/>
              <a:t>Strict</a:t>
            </a:r>
            <a:r>
              <a:rPr lang="ru-RU" dirty="0"/>
              <a:t> </a:t>
            </a:r>
            <a:r>
              <a:rPr lang="ru-RU" dirty="0" err="1"/>
              <a:t>Transport</a:t>
            </a:r>
            <a:r>
              <a:rPr lang="ru-RU" dirty="0"/>
              <a:t> </a:t>
            </a:r>
            <a:r>
              <a:rPr lang="ru-RU" dirty="0" err="1"/>
              <a:t>Security</a:t>
            </a:r>
            <a:r>
              <a:rPr lang="ru-RU" dirty="0"/>
              <a:t>, ваш браузер знает, что должен автоматически использовать только HTTPS, который не позволяет хакерам производить подобные атаки посредников.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0156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Безопасность протокола </a:t>
            </a:r>
            <a:r>
              <a:rPr lang="en-US" dirty="0"/>
              <a:t>HTTP</a:t>
            </a:r>
            <a:r>
              <a:rPr lang="ru-RU" dirty="0"/>
              <a:t>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ru-RU" dirty="0"/>
              <a:t>HTTP </a:t>
            </a:r>
            <a:r>
              <a:rPr lang="ru-RU" dirty="0" err="1"/>
              <a:t>cookie</a:t>
            </a:r>
            <a:r>
              <a:rPr lang="ru-RU" dirty="0"/>
              <a:t> (</a:t>
            </a:r>
            <a:r>
              <a:rPr lang="ru-RU" dirty="0" err="1"/>
              <a:t>web</a:t>
            </a:r>
            <a:r>
              <a:rPr lang="ru-RU" dirty="0"/>
              <a:t> </a:t>
            </a:r>
            <a:r>
              <a:rPr lang="ru-RU" dirty="0" err="1"/>
              <a:t>cookie</a:t>
            </a:r>
            <a:r>
              <a:rPr lang="ru-RU" dirty="0"/>
              <a:t>, </a:t>
            </a:r>
            <a:r>
              <a:rPr lang="ru-RU" dirty="0" err="1"/>
              <a:t>куки</a:t>
            </a:r>
            <a:r>
              <a:rPr lang="ru-RU" dirty="0"/>
              <a:t> браузера) - это небольшой фрагмент данных, который сервер отправляет браузеру пользователя. Браузер может сохранить этот фрагмент у себя и отправлять на сервер с каждым последующим запросом.</a:t>
            </a:r>
            <a:endParaRPr lang="en-US" dirty="0"/>
          </a:p>
          <a:p>
            <a:pPr marL="0" indent="0" algn="just">
              <a:buNone/>
            </a:pPr>
            <a:r>
              <a:rPr lang="ru-RU" dirty="0"/>
              <a:t>Используются для: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dirty="0"/>
              <a:t>Управления сеансом (аутентификация, позволяющая взаимодействовать с личным кабинетом или корзиной покупок)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dirty="0"/>
              <a:t>Персонализация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dirty="0"/>
              <a:t>Отслеживание действий пользователя</a:t>
            </a:r>
          </a:p>
        </p:txBody>
      </p:sp>
    </p:spTree>
    <p:extLst>
      <p:ext uri="{BB962C8B-B14F-4D97-AF65-F5344CB8AC3E}">
        <p14:creationId xmlns:p14="http://schemas.microsoft.com/office/powerpoint/2010/main" val="28565985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Какие устанавливаются </a:t>
            </a:r>
            <a:r>
              <a:rPr lang="en-US" dirty="0"/>
              <a:t>Cookie?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sz="2000" dirty="0"/>
              <a:t>Клиент отправляет запрос серверу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000" dirty="0"/>
              <a:t>Сервер в ответе устанавливает заголовок «</a:t>
            </a:r>
            <a:r>
              <a:rPr lang="en-US" sz="2000" dirty="0"/>
              <a:t>Set-Cookie</a:t>
            </a:r>
            <a:r>
              <a:rPr lang="ru-RU" sz="2000" dirty="0"/>
              <a:t>», добавляя туда какую-либо информацию, понятную серверу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000" dirty="0"/>
              <a:t>Клиент получает ответ, забирает оттуда </a:t>
            </a:r>
            <a:r>
              <a:rPr lang="en-US" sz="2000" dirty="0"/>
              <a:t>Cookie </a:t>
            </a:r>
            <a:r>
              <a:rPr lang="ru-RU" sz="2000" dirty="0"/>
              <a:t>для данного сайта и сохраняет их к себе в локальное хранилище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000" dirty="0"/>
              <a:t>При следующем запросе использует </a:t>
            </a:r>
            <a:r>
              <a:rPr lang="en-US" sz="2000" dirty="0"/>
              <a:t>Cookie </a:t>
            </a:r>
            <a:r>
              <a:rPr lang="ru-RU" sz="2000" dirty="0"/>
              <a:t>для данного сайта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8112" y="4001294"/>
            <a:ext cx="4295775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0909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Какие бывают </a:t>
            </a:r>
            <a:r>
              <a:rPr lang="en-US" dirty="0"/>
              <a:t>Cookie?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b="1" i="1" dirty="0"/>
              <a:t>Сессионные </a:t>
            </a:r>
            <a:r>
              <a:rPr lang="ru-RU" b="1" i="1" dirty="0" err="1"/>
              <a:t>куки</a:t>
            </a:r>
            <a:r>
              <a:rPr lang="ru-RU" b="1" i="1" dirty="0"/>
              <a:t> </a:t>
            </a:r>
            <a:r>
              <a:rPr lang="ru-RU" dirty="0"/>
              <a:t>– такие </a:t>
            </a:r>
            <a:r>
              <a:rPr lang="ru-RU" dirty="0" err="1"/>
              <a:t>cookie</a:t>
            </a:r>
            <a:r>
              <a:rPr lang="ru-RU" dirty="0"/>
              <a:t> удаляются при закрытии клиента, то есть существуют только на протяжении текущего сеанса.</a:t>
            </a:r>
          </a:p>
          <a:p>
            <a:pPr marL="0" indent="0" algn="just">
              <a:buNone/>
            </a:pPr>
            <a:endParaRPr lang="en-US" b="1" i="1" dirty="0"/>
          </a:p>
          <a:p>
            <a:pPr algn="just"/>
            <a:r>
              <a:rPr lang="ru-RU" b="1" i="1" dirty="0"/>
              <a:t>Постоянные </a:t>
            </a:r>
            <a:r>
              <a:rPr lang="ru-RU" b="1" i="1" dirty="0" err="1"/>
              <a:t>куки</a:t>
            </a:r>
            <a:r>
              <a:rPr lang="ru-RU" b="1" i="1" dirty="0"/>
              <a:t> </a:t>
            </a:r>
            <a:r>
              <a:rPr lang="ru-RU" dirty="0"/>
              <a:t>– удаляются не с закрытием клиента, а при наступлении определённой даты или после определённого интервала времени.</a:t>
            </a:r>
            <a:endParaRPr lang="en-US" dirty="0"/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1421" y="2711036"/>
            <a:ext cx="7192379" cy="71447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1421" y="5050923"/>
            <a:ext cx="7287642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4463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Какие бывают </a:t>
            </a:r>
            <a:r>
              <a:rPr lang="en-US" dirty="0"/>
              <a:t>Cookie?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ru-RU" b="1" i="1" dirty="0"/>
              <a:t>Безопасные </a:t>
            </a:r>
            <a:r>
              <a:rPr lang="ru-RU" b="1" i="1" dirty="0" err="1"/>
              <a:t>куки</a:t>
            </a:r>
            <a:r>
              <a:rPr lang="ru-RU" b="1" i="1" dirty="0"/>
              <a:t> </a:t>
            </a:r>
            <a:r>
              <a:rPr lang="ru-RU" dirty="0"/>
              <a:t>– отсылаются на сервер только тогда, когда запрос отправляется по протоколу SSL и HTTPS. Однако важные данные никогда не следует передавать или хранить в </a:t>
            </a:r>
            <a:r>
              <a:rPr lang="ru-RU" dirty="0" err="1"/>
              <a:t>куках</a:t>
            </a:r>
            <a:r>
              <a:rPr lang="ru-RU" dirty="0"/>
              <a:t>.</a:t>
            </a:r>
          </a:p>
          <a:p>
            <a:pPr algn="just"/>
            <a:r>
              <a:rPr lang="en-US" b="1" i="1" dirty="0" err="1"/>
              <a:t>HttpOnly</a:t>
            </a:r>
            <a:r>
              <a:rPr lang="en-US" b="1" i="1" dirty="0"/>
              <a:t> </a:t>
            </a:r>
            <a:r>
              <a:rPr lang="ru-RU" b="1" i="1" dirty="0" err="1"/>
              <a:t>куки</a:t>
            </a:r>
            <a:r>
              <a:rPr lang="ru-RU" b="1" i="1" dirty="0"/>
              <a:t> </a:t>
            </a:r>
            <a:r>
              <a:rPr lang="ru-RU" dirty="0"/>
              <a:t>–предписывает браузерам не предоставлять файлы </a:t>
            </a:r>
            <a:r>
              <a:rPr lang="en-US" dirty="0"/>
              <a:t>cookie</a:t>
            </a:r>
            <a:r>
              <a:rPr lang="ru-RU" dirty="0"/>
              <a:t> по каналам, отличным от </a:t>
            </a:r>
            <a:r>
              <a:rPr lang="en-US" dirty="0"/>
              <a:t>HTTP</a:t>
            </a:r>
            <a:r>
              <a:rPr lang="ru-RU" dirty="0"/>
              <a:t> (и HTTPS) запросов. Это означает, что файл </a:t>
            </a:r>
            <a:r>
              <a:rPr lang="ru-RU" dirty="0" err="1"/>
              <a:t>cookie</a:t>
            </a:r>
            <a:r>
              <a:rPr lang="ru-RU" dirty="0"/>
              <a:t> не может быть доступен через клиентские скриптовые языки (в частности, </a:t>
            </a:r>
            <a:r>
              <a:rPr lang="ru-RU" dirty="0" err="1"/>
              <a:t>JavaScript</a:t>
            </a:r>
            <a:r>
              <a:rPr lang="ru-RU" dirty="0"/>
              <a:t>) и, следовательно, не может быть легко украден с помощью межсайтового </a:t>
            </a:r>
            <a:r>
              <a:rPr lang="ru-RU" dirty="0" err="1"/>
              <a:t>скриптинга</a:t>
            </a:r>
            <a:r>
              <a:rPr lang="ru-RU" dirty="0"/>
              <a:t> (распространенный метод атаки).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4763" y="5530233"/>
            <a:ext cx="7297168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7967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HTTPS – </a:t>
            </a:r>
            <a:r>
              <a:rPr lang="ru-RU" dirty="0"/>
              <a:t>использует </a:t>
            </a:r>
            <a:r>
              <a:rPr lang="en-US" dirty="0"/>
              <a:t>TLS</a:t>
            </a:r>
            <a:endParaRPr lang="ru-RU" dirty="0"/>
          </a:p>
        </p:txBody>
      </p:sp>
      <p:pic>
        <p:nvPicPr>
          <p:cNvPr id="14340" name="Picture 4" descr="Установление SSL/TLS соединения"/>
          <p:cNvPicPr>
            <a:picLocks noGrp="1" noChangeAspect="1" noChangeArrowheads="1"/>
          </p:cNvPicPr>
          <p:nvPr>
            <p:ph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2457" y="1825625"/>
            <a:ext cx="9187085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70891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HTTPS – </a:t>
            </a:r>
            <a:r>
              <a:rPr lang="ru-RU" dirty="0"/>
              <a:t>использует </a:t>
            </a:r>
            <a:r>
              <a:rPr lang="en-US" dirty="0"/>
              <a:t>TLS</a:t>
            </a:r>
            <a:endParaRPr lang="ru-RU" dirty="0"/>
          </a:p>
        </p:txBody>
      </p:sp>
      <p:pic>
        <p:nvPicPr>
          <p:cNvPr id="18434" name="Picture 2" descr="Установление SSL/TLS соединения"/>
          <p:cNvPicPr>
            <a:picLocks noGrp="1" noChangeAspect="1" noChangeArrowheads="1"/>
          </p:cNvPicPr>
          <p:nvPr>
            <p:ph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2827" y="1825625"/>
            <a:ext cx="772634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69813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HTTPS – </a:t>
            </a:r>
            <a:r>
              <a:rPr lang="ru-RU" dirty="0"/>
              <a:t>использует </a:t>
            </a:r>
            <a:r>
              <a:rPr lang="en-US" dirty="0"/>
              <a:t>TLS</a:t>
            </a:r>
            <a:endParaRPr lang="ru-RU" dirty="0"/>
          </a:p>
        </p:txBody>
      </p:sp>
      <p:pic>
        <p:nvPicPr>
          <p:cNvPr id="17410" name="Picture 2" descr="Установление SSL/TLS соединения"/>
          <p:cNvPicPr>
            <a:picLocks noGrp="1" noChangeAspect="1" noChangeArrowheads="1"/>
          </p:cNvPicPr>
          <p:nvPr>
            <p:ph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144334"/>
            <a:ext cx="10515600" cy="3713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234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HTTPS – </a:t>
            </a:r>
            <a:r>
              <a:rPr lang="ru-RU" dirty="0"/>
              <a:t>использует </a:t>
            </a:r>
            <a:r>
              <a:rPr lang="en-US" dirty="0"/>
              <a:t>TLS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Что плохого в схеме на предыдущем слайде?</a:t>
            </a:r>
          </a:p>
          <a:p>
            <a:pPr marL="0" indent="0" algn="just">
              <a:buNone/>
            </a:pPr>
            <a:r>
              <a:rPr lang="ru-RU" dirty="0">
                <a:solidFill>
                  <a:srgbClr val="FF0000"/>
                </a:solidFill>
              </a:rPr>
              <a:t>Мы передаём сеансовый ключ по сети. Да, он зашифрован, но мы всё равно его передаём, что создаёт угрозу безопасности.</a:t>
            </a:r>
          </a:p>
          <a:p>
            <a:pPr marL="0" indent="0" algn="just">
              <a:buNone/>
            </a:pPr>
            <a:r>
              <a:rPr lang="ru-RU" dirty="0"/>
              <a:t>Правильный вопрос: </a:t>
            </a:r>
            <a:r>
              <a:rPr lang="ru-RU" dirty="0">
                <a:solidFill>
                  <a:srgbClr val="00B050"/>
                </a:solidFill>
              </a:rPr>
              <a:t>Как сгенерировать сеансовый секретный ключ так, чтобы он был известен мне и серверу и при этом не передавать его по сети?</a:t>
            </a:r>
          </a:p>
        </p:txBody>
      </p:sp>
    </p:spTree>
    <p:extLst>
      <p:ext uri="{BB962C8B-B14F-4D97-AF65-F5344CB8AC3E}">
        <p14:creationId xmlns:p14="http://schemas.microsoft.com/office/powerpoint/2010/main" val="10216795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Протокол </a:t>
            </a:r>
            <a:r>
              <a:rPr lang="ru-RU" dirty="0" err="1"/>
              <a:t>Диффи-Хеллмана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4236" y="1825625"/>
            <a:ext cx="7923528" cy="4351338"/>
          </a:xfrm>
        </p:spPr>
      </p:pic>
    </p:spTree>
    <p:extLst>
      <p:ext uri="{BB962C8B-B14F-4D97-AF65-F5344CB8AC3E}">
        <p14:creationId xmlns:p14="http://schemas.microsoft.com/office/powerpoint/2010/main" val="56226502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5555</TotalTime>
  <Words>1923</Words>
  <Application>Microsoft Office PowerPoint</Application>
  <PresentationFormat>Широкоэкранный</PresentationFormat>
  <Paragraphs>180</Paragraphs>
  <Slides>38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38</vt:i4>
      </vt:variant>
    </vt:vector>
  </HeadingPairs>
  <TitlesOfParts>
    <vt:vector size="41" baseType="lpstr">
      <vt:lpstr>Arial</vt:lpstr>
      <vt:lpstr>Calibri</vt:lpstr>
      <vt:lpstr>Тема Office</vt:lpstr>
      <vt:lpstr>Сертификаты.  Протокол HTTPS.  Протокол Диффи-Хеллмана.</vt:lpstr>
      <vt:lpstr>Сертификат X.509</vt:lpstr>
      <vt:lpstr>X.509 – Реальный пример</vt:lpstr>
      <vt:lpstr>X.509 – Типы сертификатов</vt:lpstr>
      <vt:lpstr>X.509 – Типы сертификатов</vt:lpstr>
      <vt:lpstr>X.509 – Типы сертификатов</vt:lpstr>
      <vt:lpstr>X.509 – Типы сертификатов</vt:lpstr>
      <vt:lpstr>X.509</vt:lpstr>
      <vt:lpstr>Как происходит проверка сертификата?</vt:lpstr>
      <vt:lpstr>Как происходит проверка сертификата?</vt:lpstr>
      <vt:lpstr>Как происходит проверка?</vt:lpstr>
      <vt:lpstr>HTTPS</vt:lpstr>
      <vt:lpstr>HTTP – уровни протокола</vt:lpstr>
      <vt:lpstr>HTTP – уровни протокола</vt:lpstr>
      <vt:lpstr>HTTP</vt:lpstr>
      <vt:lpstr>HTTP поток</vt:lpstr>
      <vt:lpstr>HTTP поток</vt:lpstr>
      <vt:lpstr>HTTP версии</vt:lpstr>
      <vt:lpstr>HTTP версии</vt:lpstr>
      <vt:lpstr>HTTP версии</vt:lpstr>
      <vt:lpstr>HTTP версии</vt:lpstr>
      <vt:lpstr>HTTP версии</vt:lpstr>
      <vt:lpstr>Сравнение версий</vt:lpstr>
      <vt:lpstr>Статистика использования на 2023</vt:lpstr>
      <vt:lpstr>Безопасность протокола HTTP</vt:lpstr>
      <vt:lpstr>Безопасность протокола HTTP</vt:lpstr>
      <vt:lpstr>Безопасность протокола HTTP</vt:lpstr>
      <vt:lpstr>Безопасность протокола HTTP</vt:lpstr>
      <vt:lpstr>Безопасность протокола HTTP</vt:lpstr>
      <vt:lpstr>Безопасность протокола HTTP </vt:lpstr>
      <vt:lpstr>Какие устанавливаются Cookie?</vt:lpstr>
      <vt:lpstr>Какие бывают Cookie?</vt:lpstr>
      <vt:lpstr>Какие бывают Cookie?</vt:lpstr>
      <vt:lpstr>HTTPS – использует TLS</vt:lpstr>
      <vt:lpstr>HTTPS – использует TLS</vt:lpstr>
      <vt:lpstr>HTTPS – использует TLS</vt:lpstr>
      <vt:lpstr>HTTPS – использует TLS</vt:lpstr>
      <vt:lpstr>Протокол Диффи-Хеллмана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Информационная безопасность</dc:title>
  <dc:creator>porygriu@outlook.com</dc:creator>
  <cp:lastModifiedBy>Иван Петров</cp:lastModifiedBy>
  <cp:revision>167</cp:revision>
  <dcterms:created xsi:type="dcterms:W3CDTF">2023-08-23T15:20:34Z</dcterms:created>
  <dcterms:modified xsi:type="dcterms:W3CDTF">2026-08-26T04:34:31Z</dcterms:modified>
</cp:coreProperties>
</file>