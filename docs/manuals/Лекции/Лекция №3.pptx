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19" r:id="rId3"/>
    <p:sldId id="320" r:id="rId4"/>
    <p:sldId id="322" r:id="rId5"/>
    <p:sldId id="323" r:id="rId6"/>
    <p:sldId id="325" r:id="rId7"/>
    <p:sldId id="326" r:id="rId8"/>
    <p:sldId id="321" r:id="rId9"/>
    <p:sldId id="324" r:id="rId10"/>
    <p:sldId id="327" r:id="rId11"/>
    <p:sldId id="328" r:id="rId12"/>
    <p:sldId id="329" r:id="rId13"/>
    <p:sldId id="330" r:id="rId14"/>
    <p:sldId id="331" r:id="rId15"/>
    <p:sldId id="332" r:id="rId16"/>
    <p:sldId id="334" r:id="rId17"/>
    <p:sldId id="333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8" autoAdjust="0"/>
    <p:restoredTop sz="85768" autoAdjust="0"/>
  </p:normalViewPr>
  <p:slideViewPr>
    <p:cSldViewPr snapToGrid="0">
      <p:cViewPr varScale="1">
        <p:scale>
          <a:sx n="50" d="100"/>
          <a:sy n="50" d="100"/>
        </p:scale>
        <p:origin x="48" y="5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D2E9C8-EA95-44DC-97D6-381D54E0192E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21C1-FA3C-45BD-918C-3C5610939CC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3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A4D63-4867-5E7E-656B-50D2AE31E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2D4775-E59B-9065-E262-D7EF08445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13F79C-2546-8A08-7886-25B3FF21A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734330-F5EE-3A65-F076-11D4F522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7CFFF9-2C6E-9193-3781-E2BF5DAD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1854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A907D3-665F-03B3-9D82-743E093A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566925-0F74-08D6-AE23-F21E98D49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E2D9BF-9BA4-D3E5-E2FD-16549DD2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99E0E6-04F4-68F0-A51F-082C2949A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DF5DD2-155C-BEF1-EDB7-AE2A89EEC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5339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BA58B0-2475-A234-5D92-EB319E54D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DE0B5E-82E2-4301-0A63-873CAB7B5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43CA34-65F9-EA7E-2FE0-EB350B0D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10B1F8-EFC2-C5EA-DF92-252959FFF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ECA62E-B125-C3B8-050B-9B9135DB4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719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4D474-24FB-BB35-6BE3-43C821B10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F47FF2-3F2F-1239-E1E5-63B1CE098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CF0A9E9-591A-412B-F4B6-24BFEEE8F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algn="just">
              <a:defRPr>
                <a:solidFill>
                  <a:schemeClr val="tx1"/>
                </a:solidFill>
              </a:defRPr>
            </a:lvl1pPr>
            <a:lvl2pPr algn="just">
              <a:defRPr>
                <a:solidFill>
                  <a:schemeClr val="tx1"/>
                </a:solidFill>
              </a:defRPr>
            </a:lvl2pPr>
            <a:lvl3pPr algn="just">
              <a:defRPr>
                <a:solidFill>
                  <a:schemeClr val="tx1"/>
                </a:solidFill>
              </a:defRPr>
            </a:lvl3pPr>
            <a:lvl4pPr algn="just">
              <a:defRPr>
                <a:solidFill>
                  <a:schemeClr val="tx1"/>
                </a:solidFill>
              </a:defRPr>
            </a:lvl4pPr>
            <a:lvl5pPr algn="just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0A9B05-3400-95B1-EDC6-1A81DB00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BD98076-48C0-13EC-B58E-BFEBC4D3D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50A10C-E49D-98B3-6940-4AD405E8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1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92B8D7-8C24-CD6A-24CF-D85C02642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181D98-F7C9-27CE-8555-5378E187A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09F17AB-0E0B-ACBB-BFCF-5BE6A088A6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36D93FB-F317-1E80-E64C-9CCAD73F6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E55B89D-9658-7DE9-5361-72576FF01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47EA6F6-01EB-C735-E5E9-466653562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983236D-2E45-AF9F-29CF-1BCD9E5B0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8B87952-20E1-F943-D633-B945E5FAA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2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97868-701D-0864-3F72-3F73C2F2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5F3226-F8FF-3601-A721-7A5164740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C1349F6-C9AC-69C4-6CDF-D3FF1E35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CFFC58-6F88-45A3-8863-B3A47E411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0071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0900B60-5D34-2EAD-75E4-6362B8BB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332A0D-F144-5629-2918-4AC3B2A87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A6117C-A750-E451-61F1-A23F7EAC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8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883CE8-EEFB-3728-C792-33F9B7E89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36B0-2AF6-261A-AF3B-58C48790E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8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F0DCE7-FD2E-FDFA-834E-AB143A801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6E01CB-A999-3B9A-26C3-3B8B4772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A5FB6-0ADB-4897-EC89-997C6629E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38693E-3582-C76A-F7EA-35626DBB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077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43F6F8-06F4-D6FB-FF96-B63434519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6E2142-FBAD-832C-00D7-9093123C04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EED1E1-6746-7122-1FA6-51D8B312A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9B3343-D4C8-9DD4-539E-0C33CF078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6345B8-3F70-71A5-A28A-D66D10F6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00B39C-E10C-6728-7702-E9A288AA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589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09A775-4566-AB37-ECA3-511886458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15F404F-7C02-7A06-20E2-BC0FF14B7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FCFF75-6691-82BF-F867-D54B7D9E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43EBE1-B8AC-F436-F054-250DD167C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9CE126-C0F5-80AD-877D-A8ADA92F1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776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81F1B13-0870-5354-FB4A-2A89CBAE6E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9EC8834-8F73-C9D0-6D17-92DDA90FE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E1AE2-62A4-0FB1-0E68-4CDE18121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8D6D0B5-4627-4654-B836-B6EC90072DE6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ED4CF8-25F3-CE9F-E2A2-B13962D4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03A55C-B2DE-1FC1-5699-7C7C183A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5F0DE34-1BEB-4871-8740-9BC4F9DF8F1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399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eb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A88E3A-7C7D-A8D5-CA5D-44F5186A3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CD909-37F8-6264-EDA4-21FCBDC7B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0B4642-4503-07B4-793C-F293B371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6D0B5-4627-4654-B836-B6EC90072DE6}" type="datetimeFigureOut">
              <a:rPr lang="ru-RU" smtClean="0"/>
              <a:t>26.08.2026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AFF8FD-9F33-62BB-4DE9-EE176E467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EF3BDB-B96E-71C3-64DF-890259AF59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0DE34-1BEB-4871-8740-9BC4F9DF8F14}" type="slidenum">
              <a:rPr lang="ru-RU" smtClean="0"/>
              <a:t>‹#›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315B88C-F567-7C5A-0BE9-DC77DC1A098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654" y="0"/>
            <a:ext cx="2652346" cy="6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863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legalacts.ru/doc/FZ-ob-jelektronnoj-podpisi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9D09EB-D310-56F2-2FA2-5E9D4A8E1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Электронная подпись. Хэш-функции.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4C793E-E34E-6099-5764-06CE9A06D3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864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965A-C01E-AB88-087D-93BCA3F1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</a:t>
            </a:r>
            <a:r>
              <a:rPr lang="ru-RU" dirty="0"/>
              <a:t>подпись сообщений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A997B-8BFF-6F42-DD8E-D1F29929B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Важно понимать, если вы зашифровали сообщение с помощью закрытого ключа, то любой человек сможет расшифровать данное сообщение с помощью вашего публичного ключа. Соответственно, в подписи должен находиться «важный мусор», который позволит однозначно идентифицировать отправителя</a:t>
            </a:r>
          </a:p>
        </p:txBody>
      </p:sp>
    </p:spTree>
    <p:extLst>
      <p:ext uri="{BB962C8B-B14F-4D97-AF65-F5344CB8AC3E}">
        <p14:creationId xmlns:p14="http://schemas.microsoft.com/office/powerpoint/2010/main" val="289299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965A-C01E-AB88-087D-93BCA3F1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</a:t>
            </a:r>
            <a:r>
              <a:rPr lang="ru-RU" dirty="0"/>
              <a:t>подпись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8A997B-8BFF-6F42-DD8E-D1F29929BB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Тогда самый очевидный вариант создать следующую подпись: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сделали подпись своего открытого ключа. При расшифровке данного сообщения мы получаем открытый ключ собеседника, который отправил данное сообщение. Чем плох такой вариант? </a:t>
                </a:r>
              </a:p>
              <a:p>
                <a:pPr marL="0" indent="0">
                  <a:buNone/>
                </a:pPr>
                <a:r>
                  <a:rPr lang="ru-RU" dirty="0"/>
                  <a:t>Ответ: </a:t>
                </a:r>
                <a:r>
                  <a:rPr lang="ru-RU" dirty="0">
                    <a:solidFill>
                      <a:srgbClr val="FF0000"/>
                    </a:solidFill>
                  </a:rPr>
                  <a:t>подпись никак не связана с сообщением…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8A997B-8BFF-6F42-DD8E-D1F29929BB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21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896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965A-C01E-AB88-087D-93BCA3F1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</a:t>
            </a:r>
            <a:r>
              <a:rPr lang="ru-RU" dirty="0"/>
              <a:t>подпись сообщений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8A997B-8BFF-6F42-DD8E-D1F29929BB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Другой «напрашивающийся» вариант – создание подписи самого сообщения, </a:t>
                </a:r>
                <a:r>
                  <a:rPr lang="ru-RU" dirty="0" err="1"/>
                  <a:t>т.е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Здорово, теперь подпись зависит от нашего сообщения, только есть один нюанс: как говорили ранее, если вы зашифруете сообщение с помощью вашего закрытого ключа, то любой может расшифровать данное сообщение.</a:t>
                </a:r>
              </a:p>
              <a:p>
                <a:pPr marL="0" indent="0" algn="ctr">
                  <a:buNone/>
                </a:pPr>
                <a:r>
                  <a:rPr lang="ru-RU" dirty="0">
                    <a:solidFill>
                      <a:srgbClr val="FF0000"/>
                    </a:solidFill>
                  </a:rPr>
                  <a:t>ЗАЧЕМ МЫ ТОГДА ВООБЩЕ ЧТО-ТО ШИФРОВАЛИ?!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D8A997B-8BFF-6F42-DD8E-D1F29929BB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21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066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965A-C01E-AB88-087D-93BCA3F1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</a:t>
            </a:r>
            <a:r>
              <a:rPr lang="ru-RU" dirty="0"/>
              <a:t>подпись сообщений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A997B-8BFF-6F42-DD8E-D1F29929B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Наше спасение: </a:t>
            </a:r>
            <a:r>
              <a:rPr lang="ru-RU" i="1" dirty="0">
                <a:solidFill>
                  <a:srgbClr val="FF0000"/>
                </a:solidFill>
              </a:rPr>
              <a:t>хэш-функция.</a:t>
            </a:r>
          </a:p>
          <a:p>
            <a:r>
              <a:rPr lang="ru-RU" i="1" dirty="0">
                <a:solidFill>
                  <a:srgbClr val="00B0F0"/>
                </a:solidFill>
              </a:rPr>
              <a:t>Тому кто скажет, что хэш и кэш одно и тоже отрубим голову!</a:t>
            </a:r>
          </a:p>
        </p:txBody>
      </p:sp>
    </p:spTree>
    <p:extLst>
      <p:ext uri="{BB962C8B-B14F-4D97-AF65-F5344CB8AC3E}">
        <p14:creationId xmlns:p14="http://schemas.microsoft.com/office/powerpoint/2010/main" val="3741469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965A-C01E-AB88-087D-93BCA3F1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</a:t>
            </a:r>
            <a:r>
              <a:rPr lang="ru-RU" dirty="0"/>
              <a:t>подпись сообщений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E21686-4585-DFCC-3781-28C001908B2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455" y="1825625"/>
            <a:ext cx="896709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682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5965A-C01E-AB88-087D-93BCA3F1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 – </a:t>
            </a:r>
            <a:r>
              <a:rPr lang="ru-RU" dirty="0"/>
              <a:t>подпись сообщений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70EBB7D-A6F2-6702-54AE-6ECA5C4F555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076" y="1825625"/>
            <a:ext cx="871384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5331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A9EDD-8103-21CC-EEF7-BAA9DFC90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Формальное описание действий Боба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AAA53E5-DB4D-94FF-AE5D-1F72C8F8C2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Боб берёт своё сообщение и вычисляет значение хэш-функции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пока мы не знаем, какие они бывают, но скоро узнаем. Воспринимайте пока вычисленное значение хэш-функции как некое число</a:t>
                </a:r>
                <a:r>
                  <a:rPr lang="en-US" dirty="0"/>
                  <a:t> </a:t>
                </a:r>
                <a:r>
                  <a:rPr lang="en-US" i="1" dirty="0"/>
                  <a:t>h</a:t>
                </a:r>
                <a:r>
                  <a:rPr lang="ru-RU" i="1" dirty="0"/>
                  <a:t>, зависящее от исходного сообщения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Дальше Боб применяет схему </a:t>
                </a:r>
                <a:r>
                  <a:rPr lang="en-US" dirty="0"/>
                  <a:t>RSA </a:t>
                </a:r>
                <a:r>
                  <a:rPr lang="ru-RU" dirty="0"/>
                  <a:t>к вычисленному хэшу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≡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Боб отправляет Алисе сообщение следующего вида: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где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−защифрованное сообщение,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−подпись этого сообщения</m:t>
                    </m:r>
                  </m:oMath>
                </a14:m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DAAA53E5-DB4D-94FF-AE5D-1F72C8F8C2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17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595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74F8B-FE31-7533-7B42-700478058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Формальное описание действий Алисы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D835050-0853-E760-D6AD-6D44CD2775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</a:rPr>
                  <a:t>Алиса расшифровывает сообщение Боба: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≡ 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где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закрытый ключ Алисы</m:t>
                    </m:r>
                  </m:oMath>
                </a14:m>
                <a:endParaRPr lang="ru-RU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</a:rPr>
                  <a:t>Дальше Алиса вычисляет значение хэш-функции от расшифрованного сообщения: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</a:rPr>
                  <a:t>Алиса берёт открытый ключ Боба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и получает значение хэша, вычисленное Бобом: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≡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ru-RU" dirty="0">
                  <a:solidFill>
                    <a:schemeClr val="tx1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>
                    <a:solidFill>
                      <a:schemeClr val="tx1"/>
                    </a:solidFill>
                  </a:rPr>
                  <a:t>Если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значения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, это значит что сообщение действительно отправил Боб и сообщение в процессе передачи по сети не было изменено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D835050-0853-E760-D6AD-6D44CD2775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59" b="-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2252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54B66D-BF6F-30E2-F58F-8DA86E9E9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Хэш-функция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E0C533-4E5D-F2A7-071D-BC8BD0665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ru-RU" sz="9600" dirty="0"/>
              <a:t>Не вдаваясь в математику: хэш-функция – это математический алгоритм отображения данных произвольного размера в данные фиксированного размера</a:t>
            </a:r>
          </a:p>
          <a:p>
            <a:pPr marL="0" indent="0">
              <a:buNone/>
            </a:pPr>
            <a:r>
              <a:rPr lang="ru-RU" sz="9600" dirty="0"/>
              <a:t>Для идеальной хэш-функции характерно: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9600" dirty="0"/>
              <a:t>Х</a:t>
            </a:r>
            <a:r>
              <a:rPr lang="ru-RU" sz="9600" b="0" dirty="0">
                <a:effectLst/>
              </a:rPr>
              <a:t>еш-функция является </a:t>
            </a:r>
            <a:r>
              <a:rPr lang="ru-RU" sz="9600" b="0" dirty="0" err="1">
                <a:effectLst/>
              </a:rPr>
              <a:t>детерминированнои</a:t>
            </a:r>
            <a:r>
              <a:rPr lang="ru-RU" sz="9600" b="0" dirty="0">
                <a:effectLst/>
              </a:rPr>
              <a:t>̆, то есть одно и то же сообщение приводит к одному и тому же хеш-значению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9600" dirty="0"/>
              <a:t>З</a:t>
            </a:r>
            <a:r>
              <a:rPr lang="ru-RU" sz="9600" b="0" dirty="0">
                <a:effectLst/>
              </a:rPr>
              <a:t>начение хеш-функции быстро вычисляется для любого сообщения</a:t>
            </a:r>
            <a:endParaRPr lang="ru-RU" sz="9600" dirty="0"/>
          </a:p>
          <a:p>
            <a:pPr marL="514350" indent="-514350">
              <a:buFont typeface="+mj-lt"/>
              <a:buAutoNum type="arabicPeriod"/>
            </a:pPr>
            <a:r>
              <a:rPr lang="ru-RU" sz="9600" dirty="0"/>
              <a:t>Н</a:t>
            </a:r>
            <a:r>
              <a:rPr lang="ru-RU" sz="9600" b="0" dirty="0">
                <a:effectLst/>
              </a:rPr>
              <a:t>евозможно </a:t>
            </a:r>
            <a:r>
              <a:rPr lang="ru-RU" sz="9600" b="0" dirty="0" err="1">
                <a:effectLst/>
              </a:rPr>
              <a:t>найти</a:t>
            </a:r>
            <a:r>
              <a:rPr lang="ru-RU" sz="9600" b="0" dirty="0">
                <a:effectLst/>
              </a:rPr>
              <a:t> сообщение, которое дает заданное хеш-значение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9600" dirty="0"/>
              <a:t>Н</a:t>
            </a:r>
            <a:r>
              <a:rPr lang="ru-RU" sz="9600" b="0" dirty="0">
                <a:effectLst/>
              </a:rPr>
              <a:t>евозможно </a:t>
            </a:r>
            <a:r>
              <a:rPr lang="ru-RU" sz="9600" b="0" dirty="0" err="1">
                <a:effectLst/>
              </a:rPr>
              <a:t>найти</a:t>
            </a:r>
            <a:r>
              <a:rPr lang="ru-RU" sz="9600" b="0" dirty="0">
                <a:effectLst/>
              </a:rPr>
              <a:t> два разных сообщения с одинаковым хеш-значением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9600" dirty="0"/>
              <a:t>Н</a:t>
            </a:r>
            <a:r>
              <a:rPr lang="ru-RU" sz="9600" b="0" dirty="0">
                <a:effectLst/>
              </a:rPr>
              <a:t>ебольшое изменение в сообщении изменяет </a:t>
            </a:r>
            <a:r>
              <a:rPr lang="ru-RU" sz="9600" b="0" dirty="0" err="1">
                <a:effectLst/>
              </a:rPr>
              <a:t>хеш</a:t>
            </a:r>
            <a:r>
              <a:rPr lang="ru-RU" sz="9600" b="0" dirty="0">
                <a:effectLst/>
              </a:rPr>
              <a:t> настолько сильно, что новое и старое значения кажутся </a:t>
            </a:r>
            <a:r>
              <a:rPr lang="ru-RU" sz="9600" b="0" dirty="0" err="1">
                <a:effectLst/>
              </a:rPr>
              <a:t>некоррелирующими</a:t>
            </a:r>
            <a:endParaRPr lang="ru-RU" sz="96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222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6EF530-2F18-DB47-837A-2B161B02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реальным хэш-функциям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ED2FBF-EC88-42C2-04A1-BDFDF6AB9A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Здесь хэш-функцию будем обозначать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ℎ𝑎𝑠ℎ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Полученное значение будем обозначать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dirty="0">
                    <a:solidFill>
                      <a:schemeClr val="tx1"/>
                    </a:solidFill>
                  </a:rPr>
                  <a:t>Требования к реальных хэш-функциям:</a:t>
                </a:r>
              </a:p>
              <a:p>
                <a:r>
                  <a:rPr lang="ru-RU" b="0" i="0" dirty="0">
                    <a:solidFill>
                      <a:schemeClr val="tx1"/>
                    </a:solidFill>
                    <a:effectLst/>
                  </a:rPr>
                  <a:t>Имея заданное значение </a:t>
                </a:r>
                <a:r>
                  <a:rPr lang="ru-RU" b="0" i="1" dirty="0">
                    <a:solidFill>
                      <a:schemeClr val="tx1"/>
                    </a:solidFill>
                    <a:effectLst/>
                  </a:rPr>
                  <a:t>h,</a:t>
                </a:r>
                <a:r>
                  <a:rPr lang="ru-RU" b="0" i="0" dirty="0">
                    <a:solidFill>
                      <a:schemeClr val="tx1"/>
                    </a:solidFill>
                    <a:effectLst/>
                  </a:rPr>
                  <a:t> должно быть сложно найти любое сообщение </a:t>
                </a:r>
                <a:r>
                  <a:rPr lang="ru-RU" b="0" i="1" dirty="0">
                    <a:solidFill>
                      <a:schemeClr val="tx1"/>
                    </a:solidFill>
                    <a:effectLst/>
                  </a:rPr>
                  <a:t>m</a:t>
                </a:r>
                <a:r>
                  <a:rPr lang="ru-RU" b="0" i="0" dirty="0">
                    <a:solidFill>
                      <a:schemeClr val="tx1"/>
                    </a:solidFill>
                    <a:effectLst/>
                  </a:rPr>
                  <a:t> такое, что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ℎ𝑎𝑠ℎ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Имея заданное входное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, должно быть сложно </a:t>
                </a:r>
                <a:r>
                  <a:rPr lang="ru-RU" dirty="0" err="1">
                    <a:solidFill>
                      <a:schemeClr val="tx1"/>
                    </a:solidFill>
                  </a:rPr>
                  <a:t>найти</a:t>
                </a:r>
                <a:r>
                  <a:rPr lang="ru-RU" dirty="0">
                    <a:solidFill>
                      <a:schemeClr val="tx1"/>
                    </a:solidFill>
                  </a:rPr>
                  <a:t> другое входное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такое, что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ℎ𝑎𝑠ℎ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ℎ𝑎𝑠ℎ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ru-RU" b="0" dirty="0">
                    <a:solidFill>
                      <a:schemeClr val="tx1"/>
                    </a:solidFill>
                  </a:rPr>
                  <a:t>Ес</a:t>
                </a:r>
                <a:r>
                  <a:rPr lang="ru-RU" dirty="0">
                    <a:solidFill>
                      <a:schemeClr val="tx1"/>
                    </a:solidFill>
                  </a:rPr>
                  <a:t>ли существует пара сообщений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то такая пара называет коллизией хэш−функции</m:t>
                    </m:r>
                  </m:oMath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0ED2FBF-EC88-42C2-04A1-BDFDF6AB9A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361" r="-214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795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94D4B-22C0-E9AF-B674-96A5D8DE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B58045-453D-4616-D269-65B5F7EBE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0" i="0" dirty="0">
                <a:solidFill>
                  <a:srgbClr val="FF0000"/>
                </a:solidFill>
                <a:effectLst/>
              </a:rPr>
              <a:t>Проверка целостности сообщений и файлов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ru-RU" b="0" i="0" dirty="0">
                <a:effectLst/>
              </a:rPr>
              <a:t>Сравнивая хеш-значения сообщений, вычисленные до и после передачи, можно определить, были ли внесены какие-либо изменения в сообщение или файл.</a:t>
            </a:r>
            <a:endParaRPr lang="en-US" b="0" i="0" dirty="0">
              <a:effectLst/>
            </a:endParaRPr>
          </a:p>
          <a:p>
            <a:r>
              <a:rPr lang="ru-RU" b="0" i="0" dirty="0">
                <a:solidFill>
                  <a:srgbClr val="FF0000"/>
                </a:solidFill>
                <a:effectLst/>
              </a:rPr>
              <a:t>Верификация пароля</a:t>
            </a:r>
            <a:r>
              <a:rPr lang="en-US" dirty="0">
                <a:solidFill>
                  <a:srgbClr val="FF0000"/>
                </a:solidFill>
              </a:rPr>
              <a:t>. </a:t>
            </a:r>
            <a:r>
              <a:rPr lang="ru-RU" b="0" i="0" dirty="0">
                <a:effectLst/>
              </a:rPr>
              <a:t>Проверка пароля обычно использует криптографические </a:t>
            </a:r>
            <a:r>
              <a:rPr lang="ru-RU" b="0" i="0" dirty="0" err="1">
                <a:effectLst/>
              </a:rPr>
              <a:t>хеши</a:t>
            </a:r>
            <a:r>
              <a:rPr lang="ru-RU" b="0" i="0" dirty="0">
                <a:effectLst/>
              </a:rPr>
              <a:t>. Хранение всех паролей пользователей в виде открытого текста может привести к массовому нарушению безопасности, если файл паролей будет скомпрометирован. Одним из способов уменьшения этой опасности является хранение в базе данных не самих паролей, а их </a:t>
            </a:r>
            <a:r>
              <a:rPr lang="ru-RU" b="0" i="0" dirty="0" err="1">
                <a:effectLst/>
              </a:rPr>
              <a:t>хешей</a:t>
            </a:r>
            <a:r>
              <a:rPr lang="ru-RU" b="0" i="0" dirty="0">
                <a:effectLst/>
              </a:rPr>
              <a:t>. При выполнении хеширования исходные пароли не могут быть восстановлены из сохраненных хеш-значений, поэтому если вы забыли свой пароль вам предложат сбросить его и придумать новый.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116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694D4B-22C0-E9AF-B674-96A5D8DE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B58045-453D-4616-D269-65B5F7EBE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0" i="0" dirty="0">
                <a:solidFill>
                  <a:srgbClr val="FF0000"/>
                </a:solidFill>
                <a:effectLst/>
              </a:rPr>
              <a:t>Цифровая подпись</a:t>
            </a:r>
            <a:br>
              <a:rPr lang="ru-RU" dirty="0"/>
            </a:br>
            <a:r>
              <a:rPr lang="ru-RU" b="0" i="0" dirty="0">
                <a:effectLst/>
              </a:rPr>
              <a:t>Подписываемые документы имеют различный объем, поэтому зачастую в схемах ЭП подпись ставится не на сам документ, а на его </a:t>
            </a:r>
            <a:r>
              <a:rPr lang="ru-RU" b="0" i="0" dirty="0" err="1">
                <a:effectLst/>
              </a:rPr>
              <a:t>хеш</a:t>
            </a:r>
            <a:r>
              <a:rPr lang="ru-RU" b="0" i="0" dirty="0">
                <a:effectLst/>
              </a:rPr>
              <a:t>. Вычисление </a:t>
            </a:r>
            <a:r>
              <a:rPr lang="ru-RU" b="0" i="0" dirty="0" err="1">
                <a:effectLst/>
              </a:rPr>
              <a:t>хеша</a:t>
            </a:r>
            <a:r>
              <a:rPr lang="ru-RU" b="0" i="0" dirty="0">
                <a:effectLst/>
              </a:rPr>
              <a:t> позволяет выявить малейшие изменения в документе при проверке подписи. Хеширование не входит в состав алгоритма ЭП, поэтому в схеме может быть применена любая надежная хеш-функция.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7978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FAC55-787C-9C7E-C962-7FF6AD4E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Известные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5239E-5A07-7C4D-D2FE-D105FB25F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SHA – </a:t>
            </a:r>
            <a:r>
              <a:rPr lang="ru-RU" dirty="0"/>
              <a:t>семейство хэш функций. Сейчас существует 3 версии: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SHA-1 - это 160-битная хэш-функция, которая широко использовалась для цифровых подписей и других приложений. Однако она больше не считается безопасной из-за известных уязвимостей.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SHA-2 - это семейство хэш-функций, которое включает SHA-224, SHA-256, SHA-384 и SHA-512. Эти функции выдают хэш-значения в 224, 256, 384 и 512 бит соответственно. SHA-2 широко используется в протоколах безопасности, таких как SSL / TLS, и считается безопасным. 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dirty="0"/>
              <a:t>SHA-3 является последним представителем семейства SHA и был выбран победителем конкурса хэш-функций NIST в 2012 году. Он разработан так, чтобы быть быстрее и безопаснее, чем SHA-2, и выдает хэш-значения в 224, 256, 384 и 512 бит.		</a:t>
            </a:r>
          </a:p>
        </p:txBody>
      </p:sp>
    </p:spTree>
    <p:extLst>
      <p:ext uri="{BB962C8B-B14F-4D97-AF65-F5344CB8AC3E}">
        <p14:creationId xmlns:p14="http://schemas.microsoft.com/office/powerpoint/2010/main" val="689409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FAC55-787C-9C7E-C962-7FF6AD4E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Известные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5239E-5A07-7C4D-D2FE-D105FB25F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algn="l" fontAlgn="base">
              <a:buNone/>
            </a:pPr>
            <a:r>
              <a:rPr lang="ru-RU" b="1" dirty="0"/>
              <a:t>Ц</a:t>
            </a:r>
            <a:r>
              <a:rPr lang="ru-RU" b="1" i="0" dirty="0">
                <a:effectLst/>
              </a:rPr>
              <a:t>иклическая проверка избыточности – </a:t>
            </a:r>
            <a:r>
              <a:rPr lang="ru-RU" b="0" i="0" dirty="0">
                <a:effectLst/>
              </a:rPr>
              <a:t>CRC - это </a:t>
            </a:r>
            <a:r>
              <a:rPr lang="ru-RU" b="0" i="0" dirty="0" err="1">
                <a:effectLst/>
              </a:rPr>
              <a:t>некриптографическая</a:t>
            </a:r>
            <a:r>
              <a:rPr lang="ru-RU" b="0" i="0" dirty="0">
                <a:effectLst/>
              </a:rPr>
              <a:t> хэш-функция, используемая в основном для обнаружения ошибок при передаче данных. Она быстрая и эффективная, но не подходит для целей безопасности. Основная идея CRC заключается в добавлении контрольного значения фиксированной длины, или контрольной суммы, в конец сообщения. Эта контрольная сумма вычисляется на основе содержимого сообщения с использованием математического алгоритма, а затем передается вместе с сообщением. </a:t>
            </a:r>
          </a:p>
          <a:p>
            <a:pPr marL="0" indent="0" algn="l" fontAlgn="base">
              <a:buNone/>
            </a:pPr>
            <a:r>
              <a:rPr lang="ru-RU" b="0" i="0" dirty="0">
                <a:effectLst/>
              </a:rPr>
              <a:t>Когда сообщение получено, получатель может пересчитать контрольную сумму, используя тот же алгоритм, и сравнить ее с контрольной суммой, переданной вместе с сообщением. Если две контрольные суммы совпадают, получатель может быть достаточно уверен, что сообщение не было повреждено во время передачи.</a:t>
            </a:r>
          </a:p>
        </p:txBody>
      </p:sp>
    </p:spTree>
    <p:extLst>
      <p:ext uri="{BB962C8B-B14F-4D97-AF65-F5344CB8AC3E}">
        <p14:creationId xmlns:p14="http://schemas.microsoft.com/office/powerpoint/2010/main" val="35272690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FAC55-787C-9C7E-C962-7FF6AD4E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Известные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F5239E-5A07-7C4D-D2FE-D105FB25F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 fontAlgn="base">
              <a:buNone/>
            </a:pPr>
            <a:r>
              <a:rPr lang="en-US" dirty="0"/>
              <a:t>CRC </a:t>
            </a:r>
            <a:r>
              <a:rPr lang="ru-RU" dirty="0"/>
              <a:t>в основном используется на аппаратном уровне. Наиболее известные примеры использования можно встретить в сетях </a:t>
            </a:r>
            <a:r>
              <a:rPr lang="en-US" dirty="0"/>
              <a:t>GSM </a:t>
            </a:r>
            <a:r>
              <a:rPr lang="ru-RU" dirty="0"/>
              <a:t>и сетях </a:t>
            </a:r>
            <a:r>
              <a:rPr lang="en-US" dirty="0"/>
              <a:t>Ethernet</a:t>
            </a:r>
            <a:endParaRPr lang="ru-RU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1028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7DF72-11CE-3FA9-226E-4C082D46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Известные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F2FB3-C212-99D6-DE71-DE8C8778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BLAKE2 - это криптографическая хэш-функция, разработанная для обеспечения скорости и безопасности. Это усовершенствование по сравнению с популярным алгоритмом SHA-3 и широко используется в приложениях, требующих высокоскоростного хэширования, таких как добыча криптовалют.</a:t>
            </a:r>
          </a:p>
        </p:txBody>
      </p:sp>
    </p:spTree>
    <p:extLst>
      <p:ext uri="{BB962C8B-B14F-4D97-AF65-F5344CB8AC3E}">
        <p14:creationId xmlns:p14="http://schemas.microsoft.com/office/powerpoint/2010/main" val="302275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7DF72-11CE-3FA9-226E-4C082D467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Известные хэш-функции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5F2FB3-C212-99D6-DE71-DE8C8778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MD5 - это широко используемая криптографическая хэш-функция, которая выдает 128-битное хэш-значение. Это быстро и эффективно, но больше не рекомендуется в целях безопасности из-за известных уязвимостей. Основная идея MD5 заключается в том, чтобы принимать входное сообщение любой длины и выдавать выходные данные фиксированной длины, известные как хэш-значение или дайджест сообщения. </a:t>
            </a:r>
          </a:p>
        </p:txBody>
      </p:sp>
    </p:spTree>
    <p:extLst>
      <p:ext uri="{BB962C8B-B14F-4D97-AF65-F5344CB8AC3E}">
        <p14:creationId xmlns:p14="http://schemas.microsoft.com/office/powerpoint/2010/main" val="1041153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</a:t>
            </a:r>
            <a:r>
              <a:rPr lang="en-US" dirty="0"/>
              <a:t> </a:t>
            </a:r>
            <a:r>
              <a:rPr lang="ru-RU" dirty="0"/>
              <a:t>подпись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Если вам нужны определения то читайте </a:t>
            </a:r>
            <a:r>
              <a:rPr lang="ru-RU" dirty="0">
                <a:hlinkClick r:id="rId2"/>
              </a:rPr>
              <a:t>ФЗ</a:t>
            </a:r>
            <a:r>
              <a:rPr lang="ru-RU" dirty="0"/>
              <a:t>…</a:t>
            </a:r>
          </a:p>
          <a:p>
            <a:pPr marL="0" indent="0">
              <a:buNone/>
            </a:pPr>
            <a:r>
              <a:rPr lang="ru-RU" dirty="0"/>
              <a:t>Вы можете встретить разные название: «электронная цифровая подпись», «электронная подпись», «цифровая подпись».</a:t>
            </a:r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Как правильно? – как написано в текущей редакции закона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588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ЭП – информация, присоединённая к документу, позволяющая удостовериться в том, что автором документа является именно то лица, которое называет себя автором.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>
                <a:solidFill>
                  <a:srgbClr val="FF0000"/>
                </a:solidFill>
              </a:rPr>
              <a:t>Вспоминаем пример с Алисой, Бобом и Стивом. Алиса должно удостовериться в том, что Боб – это Боб, а не проказник Стив.</a:t>
            </a:r>
          </a:p>
        </p:txBody>
      </p:sp>
    </p:spTree>
    <p:extLst>
      <p:ext uri="{BB962C8B-B14F-4D97-AF65-F5344CB8AC3E}">
        <p14:creationId xmlns:p14="http://schemas.microsoft.com/office/powerpoint/2010/main" val="3222715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Простая 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Это всё, что не использует криптографию</a:t>
            </a:r>
          </a:p>
          <a:p>
            <a:pPr marL="0" indent="0">
              <a:buNone/>
            </a:pPr>
            <a:endParaRPr lang="ru-RU" dirty="0"/>
          </a:p>
          <a:p>
            <a:pPr marL="0" indent="0" algn="just">
              <a:buNone/>
            </a:pPr>
            <a:r>
              <a:rPr lang="ru-RU" dirty="0"/>
              <a:t>Пример: пошли в МФЦ, взяли логин и пароль от учётной записи </a:t>
            </a:r>
            <a:r>
              <a:rPr lang="ru-RU" dirty="0" err="1"/>
              <a:t>гос.услуг</a:t>
            </a:r>
            <a:r>
              <a:rPr lang="ru-RU" dirty="0"/>
              <a:t>. </a:t>
            </a:r>
          </a:p>
          <a:p>
            <a:pPr marL="0" indent="0" algn="just">
              <a:buNone/>
            </a:pPr>
            <a:r>
              <a:rPr lang="ru-RU" dirty="0">
                <a:solidFill>
                  <a:srgbClr val="FF0000"/>
                </a:solidFill>
              </a:rPr>
              <a:t>Ваш логин и пароль – простая электронная подпись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Усиленная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/>
              <a:t>Использует стандартные криптографические алгоритмы. По умолчанию используется асимметричное шифрование. </a:t>
            </a:r>
          </a:p>
        </p:txBody>
      </p:sp>
    </p:spTree>
    <p:extLst>
      <p:ext uri="{BB962C8B-B14F-4D97-AF65-F5344CB8AC3E}">
        <p14:creationId xmlns:p14="http://schemas.microsoft.com/office/powerpoint/2010/main" val="29925130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Объект 7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Берём документ. Берём известную хэш-функцию и вычисляем </a:t>
                </a:r>
                <a:r>
                  <a:rPr lang="ru-RU" dirty="0" err="1"/>
                  <a:t>хэш</a:t>
                </a:r>
                <a:endParaRPr lang="ru-RU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Шифруем </a:t>
                </a:r>
                <a:r>
                  <a:rPr lang="ru-RU" dirty="0" err="1"/>
                  <a:t>хэш</a:t>
                </a:r>
                <a:r>
                  <a:rPr lang="ru-RU" dirty="0"/>
                  <a:t> своим закрытым ключом – получили подпись документа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Отправляем нашему собеседнику 3 файла: сам документ, подпись документа и наш открытый ключ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ru-RU" dirty="0"/>
                  <a:t>Собеседник вычисляет </a:t>
                </a:r>
                <a:r>
                  <a:rPr lang="ru-RU" dirty="0" err="1"/>
                  <a:t>хэш</a:t>
                </a:r>
                <a:r>
                  <a:rPr lang="ru-RU" dirty="0"/>
                  <a:t> от полученного документа</a:t>
                </a:r>
                <a:r>
                  <a:rPr lang="en-US" dirty="0"/>
                  <a:t>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ru-RU" dirty="0"/>
                  <a:t>. Расшифровывает полученный </a:t>
                </a:r>
                <a:r>
                  <a:rPr lang="ru-RU" dirty="0" err="1"/>
                  <a:t>хэш</a:t>
                </a:r>
                <a:r>
                  <a:rPr lang="ru-RU" dirty="0"/>
                  <a:t> с</a:t>
                </a:r>
                <a:r>
                  <a:rPr lang="en-US" dirty="0"/>
                  <a:t> </a:t>
                </a:r>
                <a:r>
                  <a:rPr lang="ru-RU" dirty="0"/>
                  <a:t>полученного открытого ключа 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ru-RU" b="0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==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?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</a:rPr>
                  <a:t>TRUE</a:t>
                </a:r>
                <a:r>
                  <a:rPr lang="en-US" dirty="0">
                    <a:latin typeface="Consolas" panose="020B0609020204030204" pitchFamily="49" charset="0"/>
                  </a:rPr>
                  <a:t> :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FALSE</a:t>
                </a:r>
              </a:p>
              <a:p>
                <a:pPr marL="0" indent="0">
                  <a:buNone/>
                </a:pPr>
                <a:r>
                  <a:rPr lang="ru-RU" dirty="0">
                    <a:latin typeface="Consolas" panose="020B0609020204030204" pitchFamily="49" charset="0"/>
                  </a:rPr>
                  <a:t>Важно: хэш-функции должны совпадать. Нельзя использовать например при отправке </a:t>
                </a:r>
                <a:r>
                  <a:rPr lang="en-US" dirty="0">
                    <a:latin typeface="Consolas" panose="020B0609020204030204" pitchFamily="49" charset="0"/>
                  </a:rPr>
                  <a:t>MD5, </a:t>
                </a:r>
                <a:r>
                  <a:rPr lang="ru-RU" dirty="0">
                    <a:latin typeface="Consolas" panose="020B0609020204030204" pitchFamily="49" charset="0"/>
                  </a:rPr>
                  <a:t>а при проверке </a:t>
                </a:r>
                <a:r>
                  <a:rPr lang="en-US" dirty="0">
                    <a:latin typeface="Consolas" panose="020B0609020204030204" pitchFamily="49" charset="0"/>
                  </a:rPr>
                  <a:t>SHA-2</a:t>
                </a:r>
                <a:endParaRPr lang="ru-RU" dirty="0">
                  <a:latin typeface="Consolas" panose="020B0609020204030204" pitchFamily="49" charset="0"/>
                </a:endParaRPr>
              </a:p>
              <a:p>
                <a:pPr marL="0" indent="0">
                  <a:buNone/>
                </a:pPr>
                <a:r>
                  <a:rPr lang="ru-RU" dirty="0">
                    <a:latin typeface="Consolas" panose="020B0609020204030204" pitchFamily="49" charset="0"/>
                  </a:rPr>
                  <a:t>Такая подпись называется «</a:t>
                </a:r>
                <a:r>
                  <a:rPr lang="ru-RU" i="1" dirty="0">
                    <a:solidFill>
                      <a:srgbClr val="FF0000"/>
                    </a:solidFill>
                    <a:latin typeface="Consolas" panose="020B0609020204030204" pitchFamily="49" charset="0"/>
                  </a:rPr>
                  <a:t>усиленная неквалифицированная</a:t>
                </a:r>
                <a:r>
                  <a:rPr lang="ru-RU" dirty="0">
                    <a:latin typeface="Consolas" panose="020B0609020204030204" pitchFamily="49" charset="0"/>
                  </a:rPr>
                  <a:t>»</a:t>
                </a:r>
                <a:endParaRPr lang="en-US" dirty="0"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ru-RU" dirty="0">
                  <a:latin typeface="Consolas" panose="020B0609020204030204" pitchFamily="49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ru-RU" dirty="0"/>
              </a:p>
            </p:txBody>
          </p:sp>
        </mc:Choice>
        <mc:Fallback xmlns="">
          <p:sp>
            <p:nvSpPr>
              <p:cNvPr id="8" name="Объект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361" r="-17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2869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Но как это всё мешает Стиву влезть в переписку? – Пока никак и вот почему.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Ничто снова не мешает Стиву выдавать себя за Алису или Боба простой заменой сообщений и ключей…</a:t>
            </a:r>
          </a:p>
        </p:txBody>
      </p:sp>
    </p:spTree>
    <p:extLst>
      <p:ext uri="{BB962C8B-B14F-4D97-AF65-F5344CB8AC3E}">
        <p14:creationId xmlns:p14="http://schemas.microsoft.com/office/powerpoint/2010/main" val="3157411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Что же делать?</a:t>
            </a:r>
          </a:p>
          <a:p>
            <a:pPr marL="0" indent="0">
              <a:buNone/>
            </a:pPr>
            <a:r>
              <a:rPr lang="ru-RU" dirty="0"/>
              <a:t>Например: Алиса и Боб размещают свои открытые ключи на своих персональных сайтах. Если подлинность сайт не вызывает подозрений, то и принадлежность ключа своим владельцам не вызывает сомнений.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Обычно публикую не открытый ключ, а вычисленный </a:t>
            </a:r>
            <a:r>
              <a:rPr lang="ru-RU" dirty="0" err="1"/>
              <a:t>хэш</a:t>
            </a:r>
            <a:r>
              <a:rPr lang="ru-RU" dirty="0"/>
              <a:t> открытого ключа – </a:t>
            </a:r>
            <a:r>
              <a:rPr lang="en-US" dirty="0">
                <a:solidFill>
                  <a:srgbClr val="00B050"/>
                </a:solidFill>
              </a:rPr>
              <a:t>fingerprint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1588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Стандартный выход из ситуации:</a:t>
            </a:r>
          </a:p>
          <a:p>
            <a:pPr marL="0" indent="0">
              <a:buNone/>
            </a:pPr>
            <a:r>
              <a:rPr lang="ru-RU" dirty="0"/>
              <a:t>Использовать аккредитованный удостоверяющий центр.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Алиса сгенерировала себе пару – (открытый, закрытый ключ)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Алиса идёт в УЦ и там её ключ подписывают электронной подписью УЦ. Здесь мы получили – </a:t>
            </a:r>
            <a:r>
              <a:rPr lang="ru-RU" dirty="0">
                <a:solidFill>
                  <a:srgbClr val="00B050"/>
                </a:solidFill>
              </a:rPr>
              <a:t>сертификат открытого ключа Алиса</a:t>
            </a:r>
            <a:r>
              <a:rPr lang="ru-RU" dirty="0"/>
              <a:t>. При этом к ключу также присоединяется информация о том, что это Алиса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Теперь любой желающий может проверить подлинность открытого ключа Алисы</a:t>
            </a:r>
          </a:p>
          <a:p>
            <a:pPr marL="0" indent="0">
              <a:buNone/>
            </a:pPr>
            <a:r>
              <a:rPr lang="ru-RU" dirty="0"/>
              <a:t>Полученная подпись называется – </a:t>
            </a:r>
            <a:r>
              <a:rPr lang="ru-RU" dirty="0">
                <a:solidFill>
                  <a:srgbClr val="FF0000"/>
                </a:solidFill>
              </a:rPr>
              <a:t>усиленная квалифицированная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3321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Электронная подпись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На самом деле, удостоверяющий центр выполняет роль 3 доверенной стороны. Использование УЦ требует оплаты их услуг.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Доверенной стороной может являться любое лицо, которому доверяют Алиса и Боб одновременно.</a:t>
            </a:r>
          </a:p>
        </p:txBody>
      </p:sp>
    </p:spTree>
    <p:extLst>
      <p:ext uri="{BB962C8B-B14F-4D97-AF65-F5344CB8AC3E}">
        <p14:creationId xmlns:p14="http://schemas.microsoft.com/office/powerpoint/2010/main" val="158017398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5554</TotalTime>
  <Words>1482</Words>
  <Application>Microsoft Office PowerPoint</Application>
  <PresentationFormat>Широкоэкранный</PresentationFormat>
  <Paragraphs>102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Consolas</vt:lpstr>
      <vt:lpstr>Тема Office</vt:lpstr>
      <vt:lpstr>Электронная подпись. Хэш-функции.</vt:lpstr>
      <vt:lpstr>RSA – подпись сообщений</vt:lpstr>
      <vt:lpstr>RSA – подпись сообщений</vt:lpstr>
      <vt:lpstr>RSA – подпись сообщений</vt:lpstr>
      <vt:lpstr>RSA – подпись сообщений</vt:lpstr>
      <vt:lpstr>RSA – подпись сообщений</vt:lpstr>
      <vt:lpstr>RSA – подпись сообщений</vt:lpstr>
      <vt:lpstr>Формальное описание действий Боба</vt:lpstr>
      <vt:lpstr>Формальное описание действий Алисы</vt:lpstr>
      <vt:lpstr>Хэш-функция</vt:lpstr>
      <vt:lpstr>Требования к реальным хэш-функциям</vt:lpstr>
      <vt:lpstr>Применение хэш-функции</vt:lpstr>
      <vt:lpstr>Применение хэш-функции</vt:lpstr>
      <vt:lpstr>Известные хэш-функции</vt:lpstr>
      <vt:lpstr>Известные хэш-функции</vt:lpstr>
      <vt:lpstr>Известные хэш-функции</vt:lpstr>
      <vt:lpstr>Известные хэш-функции</vt:lpstr>
      <vt:lpstr>Известные хэш-функции</vt:lpstr>
      <vt:lpstr>Электронная подпись</vt:lpstr>
      <vt:lpstr>Электронная подпись</vt:lpstr>
      <vt:lpstr>Электронная подпись</vt:lpstr>
      <vt:lpstr>Электронная подпись</vt:lpstr>
      <vt:lpstr>Электронная подпись</vt:lpstr>
      <vt:lpstr>Электронная подпись</vt:lpstr>
      <vt:lpstr>Электронная подпись</vt:lpstr>
      <vt:lpstr>Электронная подпись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безопасность</dc:title>
  <dc:creator>porygriu@outlook.com</dc:creator>
  <cp:lastModifiedBy>Иван Петров</cp:lastModifiedBy>
  <cp:revision>166</cp:revision>
  <dcterms:created xsi:type="dcterms:W3CDTF">2023-08-23T15:20:34Z</dcterms:created>
  <dcterms:modified xsi:type="dcterms:W3CDTF">2026-08-26T04:34:04Z</dcterms:modified>
</cp:coreProperties>
</file>