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65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4" r:id="rId21"/>
    <p:sldId id="290" r:id="rId22"/>
    <p:sldId id="291" r:id="rId23"/>
    <p:sldId id="416" r:id="rId24"/>
    <p:sldId id="292" r:id="rId25"/>
    <p:sldId id="293" r:id="rId26"/>
    <p:sldId id="417" r:id="rId27"/>
    <p:sldId id="295" r:id="rId28"/>
    <p:sldId id="296" r:id="rId29"/>
    <p:sldId id="297" r:id="rId30"/>
    <p:sldId id="298" r:id="rId31"/>
    <p:sldId id="305" r:id="rId32"/>
    <p:sldId id="306" r:id="rId33"/>
    <p:sldId id="301" r:id="rId34"/>
    <p:sldId id="302" r:id="rId35"/>
    <p:sldId id="304" r:id="rId36"/>
    <p:sldId id="303" r:id="rId37"/>
    <p:sldId id="307" r:id="rId38"/>
    <p:sldId id="309" r:id="rId39"/>
    <p:sldId id="308" r:id="rId40"/>
    <p:sldId id="310" r:id="rId41"/>
    <p:sldId id="312" r:id="rId42"/>
    <p:sldId id="311" r:id="rId43"/>
    <p:sldId id="313" r:id="rId44"/>
    <p:sldId id="314" r:id="rId45"/>
    <p:sldId id="315" r:id="rId46"/>
    <p:sldId id="316" r:id="rId47"/>
    <p:sldId id="317" r:id="rId48"/>
    <p:sldId id="318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50" d="100"/>
          <a:sy n="50" d="100"/>
        </p:scale>
        <p:origin x="48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Симметричное шифрование. Ассиметричное шифрование.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5684E-8369-354F-8A5C-5C2D5AC6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Шифрование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F99044-B8DE-82AA-346E-C501FCD1B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ru-RU" dirty="0"/>
              <a:t>Симметричное шифрование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3D34F62-B4D5-9EC0-77EB-FC545BCBDD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шифрования и расшифрования используется один и тот же ключ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A943C3B-7234-FD48-23C2-FD59389B6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u-RU" dirty="0"/>
              <a:t>Асимметричное шифрование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DA8BED6-DEAE-713C-44DD-8ACF7378949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шифрования и расшифрования используются разные ключи</a:t>
            </a:r>
          </a:p>
        </p:txBody>
      </p:sp>
    </p:spTree>
    <p:extLst>
      <p:ext uri="{BB962C8B-B14F-4D97-AF65-F5344CB8AC3E}">
        <p14:creationId xmlns:p14="http://schemas.microsoft.com/office/powerpoint/2010/main" val="142371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7EB795-9B1F-DC99-6E53-FCA13128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Шифрование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C3B5ED-80B5-98C9-9CCA-BE2B7A031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ru-RU" dirty="0"/>
              <a:t>Поточное шифрование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4E6FC9-9ACE-61B2-6413-A39364890D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Шифруется каждая конкретная единицы исходного текста</a:t>
            </a:r>
          </a:p>
          <a:p>
            <a:pPr marL="0" indent="0">
              <a:buNone/>
            </a:pPr>
            <a:r>
              <a:rPr lang="ru-RU" dirty="0"/>
              <a:t>На входе: 1 символ</a:t>
            </a:r>
          </a:p>
          <a:p>
            <a:pPr marL="0" indent="0">
              <a:buNone/>
            </a:pPr>
            <a:r>
              <a:rPr lang="ru-RU" dirty="0"/>
              <a:t>На выходе: 1 символ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83FFE52-6A48-BD51-29FA-FCD3A7104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u-RU" dirty="0"/>
              <a:t>Блочное шифрование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E6D483A-E6EE-479F-19B2-DD3A357E990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Из текста выбирается блок информации заранее известной длины и шифруется блоком данных</a:t>
            </a:r>
          </a:p>
          <a:p>
            <a:pPr marL="0" indent="0">
              <a:buNone/>
            </a:pPr>
            <a:r>
              <a:rPr lang="ru-RU" dirty="0"/>
              <a:t>На входе: </a:t>
            </a:r>
            <a:r>
              <a:rPr lang="en-US" dirty="0"/>
              <a:t>N – </a:t>
            </a:r>
            <a:r>
              <a:rPr lang="ru-RU" dirty="0"/>
              <a:t>символов</a:t>
            </a:r>
          </a:p>
          <a:p>
            <a:pPr marL="0" indent="0">
              <a:buNone/>
            </a:pPr>
            <a:r>
              <a:rPr lang="ru-RU" dirty="0"/>
              <a:t>На выходе: </a:t>
            </a:r>
            <a:r>
              <a:rPr lang="en-US" dirty="0"/>
              <a:t>N – </a:t>
            </a:r>
            <a:r>
              <a:rPr lang="ru-RU" dirty="0"/>
              <a:t>символов</a:t>
            </a:r>
          </a:p>
        </p:txBody>
      </p:sp>
    </p:spTree>
    <p:extLst>
      <p:ext uri="{BB962C8B-B14F-4D97-AF65-F5344CB8AC3E}">
        <p14:creationId xmlns:p14="http://schemas.microsoft.com/office/powerpoint/2010/main" val="156032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F216B-AE5D-8CD7-D10E-EC34926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Симметричное шифрование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AD0FD-AD6A-4C0A-1AFC-37BF1C70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Шифрование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Берём открытый текст – </a:t>
            </a:r>
            <a:r>
              <a:rPr lang="en-US" dirty="0"/>
              <a:t>m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Берём ключ – </a:t>
            </a:r>
            <a:r>
              <a:rPr lang="en-US" dirty="0"/>
              <a:t>k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Шифруем ключом открытый текст, получаем </a:t>
            </a:r>
            <a:r>
              <a:rPr lang="ru-RU" dirty="0" err="1"/>
              <a:t>шифротекст</a:t>
            </a:r>
            <a:r>
              <a:rPr lang="ru-RU" dirty="0"/>
              <a:t> – С</a:t>
            </a:r>
          </a:p>
          <a:p>
            <a:r>
              <a:rPr lang="ru-RU" dirty="0"/>
              <a:t>Расшифрование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Берём </a:t>
            </a:r>
            <a:r>
              <a:rPr lang="ru-RU" dirty="0" err="1"/>
              <a:t>шифртотекст</a:t>
            </a:r>
            <a:r>
              <a:rPr lang="ru-RU" dirty="0"/>
              <a:t> – С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Берём ключ</a:t>
            </a:r>
            <a:r>
              <a:rPr lang="en-US" dirty="0"/>
              <a:t> – k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Расшифровываем ключом </a:t>
            </a:r>
            <a:r>
              <a:rPr lang="en-US" dirty="0"/>
              <a:t>k </a:t>
            </a:r>
            <a:r>
              <a:rPr lang="ru-RU" dirty="0" err="1"/>
              <a:t>шифротекст</a:t>
            </a:r>
            <a:r>
              <a:rPr lang="ru-RU" dirty="0"/>
              <a:t> </a:t>
            </a:r>
            <a:r>
              <a:rPr lang="en-US" dirty="0"/>
              <a:t>C – </a:t>
            </a:r>
            <a:r>
              <a:rPr lang="ru-RU" dirty="0"/>
              <a:t>получаем открытый текст </a:t>
            </a:r>
            <a:r>
              <a:rPr lang="en-US" dirty="0"/>
              <a:t>m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86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2D9A2-A118-5DBC-14BF-F3DE3F90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Поточные шифры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2CEEEB4-CF0D-6E34-4B82-1CA51ACED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543" y="1929420"/>
            <a:ext cx="11006914" cy="2999159"/>
          </a:xfrm>
        </p:spPr>
      </p:pic>
    </p:spTree>
    <p:extLst>
      <p:ext uri="{BB962C8B-B14F-4D97-AF65-F5344CB8AC3E}">
        <p14:creationId xmlns:p14="http://schemas.microsoft.com/office/powerpoint/2010/main" val="223647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628CA-3BC7-F1BA-46B4-7A2EA4A2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где же ключ? А вот он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71A0F78-5F19-1ABC-3E43-5F32B9812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730" y="1901282"/>
            <a:ext cx="9344539" cy="3055435"/>
          </a:xfrm>
        </p:spPr>
      </p:pic>
    </p:spTree>
    <p:extLst>
      <p:ext uri="{BB962C8B-B14F-4D97-AF65-F5344CB8AC3E}">
        <p14:creationId xmlns:p14="http://schemas.microsoft.com/office/powerpoint/2010/main" val="291189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7CAD8-AE6B-E318-EBA2-7055BAC7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стойкости шифра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0B51B9-D9EF-21C8-8B22-134E19D9F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Генератор ключевого потока должен обладать следующими свойствами:</a:t>
            </a:r>
          </a:p>
          <a:p>
            <a:r>
              <a:rPr lang="ru-RU" sz="1800" dirty="0"/>
              <a:t>Иметь большой период. Поскольку ключевой поток получается в результате детерминированного процесса из основного ключа, найдется такое число п, что </a:t>
            </a:r>
            <a:r>
              <a:rPr lang="ru-RU" sz="1800" dirty="0" err="1"/>
              <a:t>ki</a:t>
            </a:r>
            <a:r>
              <a:rPr lang="ru-RU" sz="1800" dirty="0"/>
              <a:t> = </a:t>
            </a:r>
            <a:r>
              <a:rPr lang="ru-RU" sz="1800" dirty="0" err="1"/>
              <a:t>ki</a:t>
            </a:r>
            <a:r>
              <a:rPr lang="ru-RU" sz="1800" dirty="0"/>
              <a:t> + n для всех значений </a:t>
            </a:r>
            <a:r>
              <a:rPr lang="en-US" sz="1800" dirty="0" err="1"/>
              <a:t>i</a:t>
            </a:r>
            <a:r>
              <a:rPr lang="ru-RU" sz="1800" dirty="0"/>
              <a:t>. Число </a:t>
            </a:r>
            <a:r>
              <a:rPr lang="en-US" sz="1800" dirty="0"/>
              <a:t>n</a:t>
            </a:r>
            <a:r>
              <a:rPr lang="ru-RU" sz="1800" dirty="0"/>
              <a:t> называется периодом последовательности, и для обеспечения стойкости шифра выбирается достаточно большим. </a:t>
            </a:r>
          </a:p>
          <a:p>
            <a:r>
              <a:rPr lang="ru-RU" sz="1800" dirty="0"/>
              <a:t>Иметь псевдо-случайные свойства. Генератор должен производить последовательность, которая кажется случайной. Другими словами, генерируемая последовательность должна выдержать определенное число статистических тестов на случайность. </a:t>
            </a:r>
          </a:p>
          <a:p>
            <a:r>
              <a:rPr lang="ru-RU" sz="1800" dirty="0"/>
              <a:t>Обладать линейной сложностью</a:t>
            </a:r>
          </a:p>
        </p:txBody>
      </p:sp>
    </p:spTree>
    <p:extLst>
      <p:ext uri="{BB962C8B-B14F-4D97-AF65-F5344CB8AC3E}">
        <p14:creationId xmlns:p14="http://schemas.microsoft.com/office/powerpoint/2010/main" val="108447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0F32C-0AED-225B-B9F8-37E3703E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Блочные шифры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AAFEE7-2ACE-0CD0-44EA-8E111A66A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109" y="1531298"/>
            <a:ext cx="9457781" cy="3915568"/>
          </a:xfrm>
        </p:spPr>
      </p:pic>
    </p:spTree>
    <p:extLst>
      <p:ext uri="{BB962C8B-B14F-4D97-AF65-F5344CB8AC3E}">
        <p14:creationId xmlns:p14="http://schemas.microsoft.com/office/powerpoint/2010/main" val="79637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3D379-4793-0C97-063A-64E4F88A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CE04F-D6C8-87FC-4436-8784A2448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Блок разбивается на две равные части — левую (L) и правую (R)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После разбиения левый подблок изменяется функцией f с использованием ключа K: x = f(L, K). В качестве функции можно представить себе какое угодно преобразование — например, старый добрый шифр сдвига с ключом K.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Полученный подблок складывается по модулю 2 с правым подблоком R, который до этого был не у дел: x = </a:t>
            </a:r>
            <a:r>
              <a:rPr lang="ru-RU" dirty="0" err="1"/>
              <a:t>x⊕R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Далее полученные части меняются местами и склеиваются</a:t>
            </a:r>
          </a:p>
        </p:txBody>
      </p:sp>
    </p:spTree>
    <p:extLst>
      <p:ext uri="{BB962C8B-B14F-4D97-AF65-F5344CB8AC3E}">
        <p14:creationId xmlns:p14="http://schemas.microsoft.com/office/powerpoint/2010/main" val="335031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523D8-3502-47ED-5B55-D57F8E14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F77F2C-E9FB-5A5C-FF2D-6F73D9716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42" y="1303809"/>
            <a:ext cx="7684315" cy="543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53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73BF2-6238-4B43-8921-0C68B277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сети </a:t>
            </a:r>
            <a:r>
              <a:rPr lang="ru-RU" dirty="0" err="1"/>
              <a:t>Фейстеля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FFCBE-C6C7-19CF-DE56-70A0471B3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Теперь посмотрим работу сети </a:t>
            </a:r>
            <a:r>
              <a:rPr lang="ru-RU" dirty="0" err="1"/>
              <a:t>Фейстеля</a:t>
            </a:r>
            <a:r>
              <a:rPr lang="ru-RU" dirty="0"/>
              <a:t> на примере. </a:t>
            </a:r>
          </a:p>
          <a:p>
            <a:r>
              <a:rPr lang="ru-RU" dirty="0"/>
              <a:t>Возьмем слово AVADAKEDAVRA и разобьем его на два блока по шесть символов — AVADAK | EDAVRA. </a:t>
            </a:r>
          </a:p>
          <a:p>
            <a:r>
              <a:rPr lang="ru-RU" dirty="0"/>
              <a:t>За функцию возьмем шифр сдвига на число позиций, определенных раундовым ключом. </a:t>
            </a:r>
          </a:p>
          <a:p>
            <a:r>
              <a:rPr lang="ru-RU" dirty="0"/>
              <a:t>Пусть секретный ключ K = [1, 2]. </a:t>
            </a:r>
          </a:p>
          <a:p>
            <a:r>
              <a:rPr lang="ru-RU" dirty="0"/>
              <a:t>В качестве раундовых ключей возьмем K[0] = 1, K[1] = 2. </a:t>
            </a:r>
          </a:p>
          <a:p>
            <a:r>
              <a:rPr lang="ru-RU" dirty="0"/>
              <a:t>Для сложения по модулю 2 переведем текст в двоичный код согласно телеграфному </a:t>
            </a:r>
            <a:r>
              <a:rPr lang="ru-RU" dirty="0" err="1"/>
              <a:t>алфавитику</a:t>
            </a:r>
            <a:r>
              <a:rPr lang="ru-RU" dirty="0"/>
              <a:t>, которым вряд ли кто-то еще пользуется вообще.</a:t>
            </a:r>
          </a:p>
        </p:txBody>
      </p:sp>
    </p:spTree>
    <p:extLst>
      <p:ext uri="{BB962C8B-B14F-4D97-AF65-F5344CB8AC3E}">
        <p14:creationId xmlns:p14="http://schemas.microsoft.com/office/powerpoint/2010/main" val="2300498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FD921-3B1F-AD16-8C83-0A971260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сети </a:t>
            </a:r>
            <a:r>
              <a:rPr lang="ru-RU" dirty="0" err="1"/>
              <a:t>Фейстеля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D5396FF-A4EA-853E-2751-0885331A8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814" y="2707718"/>
            <a:ext cx="10012372" cy="1442564"/>
          </a:xfrm>
        </p:spPr>
      </p:pic>
    </p:spTree>
    <p:extLst>
      <p:ext uri="{BB962C8B-B14F-4D97-AF65-F5344CB8AC3E}">
        <p14:creationId xmlns:p14="http://schemas.microsoft.com/office/powerpoint/2010/main" val="77261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E977A-B14D-CBAB-8E6C-F44EC311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сети </a:t>
            </a:r>
            <a:r>
              <a:rPr lang="ru-RU" dirty="0" err="1"/>
              <a:t>Фейстеля</a:t>
            </a:r>
            <a:endParaRPr lang="ru-RU" dirty="0"/>
          </a:p>
        </p:txBody>
      </p:sp>
      <p:pic>
        <p:nvPicPr>
          <p:cNvPr id="4098" name="Picture 2" descr="Прогон первого блока">
            <a:extLst>
              <a:ext uri="{FF2B5EF4-FFF2-40B4-BE49-F238E27FC236}">
                <a16:creationId xmlns:a16="http://schemas.microsoft.com/office/drawing/2014/main" id="{F09B421D-B7F6-11DC-7D5D-8D421D00C7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800" y="1690688"/>
            <a:ext cx="52564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936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F93AB-B4B8-9538-30F0-6C03D3A2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сети </a:t>
            </a:r>
            <a:r>
              <a:rPr lang="ru-RU" dirty="0" err="1"/>
              <a:t>Фейстеля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BCE4B0-BCCA-427B-9AA0-EA780CCFF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Пробуем самостоятельно зашифровать оставшуюся часть</a:t>
            </a:r>
          </a:p>
        </p:txBody>
      </p:sp>
    </p:spTree>
    <p:extLst>
      <p:ext uri="{BB962C8B-B14F-4D97-AF65-F5344CB8AC3E}">
        <p14:creationId xmlns:p14="http://schemas.microsoft.com/office/powerpoint/2010/main" val="1203551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3F30-C37F-F543-7E6B-1DEF4FE9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сети </a:t>
            </a:r>
            <a:r>
              <a:rPr lang="ru-RU" dirty="0" err="1"/>
              <a:t>Фейстеля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C278E-50C4-92AD-09CB-A729B6BE7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Должно получиться – </a:t>
            </a:r>
            <a:r>
              <a:rPr lang="en-US" b="0" i="0" dirty="0">
                <a:effectLst/>
                <a:latin typeface="HelveticaNeue"/>
              </a:rPr>
              <a:t>MOSSTR</a:t>
            </a:r>
            <a:r>
              <a:rPr lang="ru-RU" b="0" i="0" dirty="0">
                <a:effectLst/>
                <a:latin typeface="HelveticaNeue"/>
              </a:rPr>
              <a:t> </a:t>
            </a:r>
          </a:p>
          <a:p>
            <a:r>
              <a:rPr lang="ru-RU" dirty="0">
                <a:latin typeface="HelveticaNeue"/>
              </a:rPr>
              <a:t>Подсказка: </a:t>
            </a:r>
            <a:r>
              <a:rPr lang="ru-RU" b="0" i="0" dirty="0">
                <a:effectLst/>
                <a:latin typeface="HelveticaNeue"/>
              </a:rPr>
              <a:t>Расшифрование осуществляется точно так же: </a:t>
            </a:r>
            <a:r>
              <a:rPr lang="ru-RU" b="0" i="0" dirty="0" err="1">
                <a:effectLst/>
                <a:latin typeface="HelveticaNeue"/>
              </a:rPr>
              <a:t>шифротекст</a:t>
            </a:r>
            <a:r>
              <a:rPr lang="ru-RU" b="0" i="0" dirty="0">
                <a:effectLst/>
                <a:latin typeface="HelveticaNeue"/>
              </a:rPr>
              <a:t> разбивается на блоки и затем подблоки, левый подблок поступает в функцию, складывается по модулю 2 с правым, и затем подблоки меняются местами. Отличие заключается в том, что раундовые ключи подаются в обратном порядке, то есть в нашем случае в первом раунде применим ключ K = 2, а затем во втором раунде K = 1.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690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1EBFA-A9C8-676C-BB84-1CD34C7B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Российские стандарты шифрования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C2D26F-8927-86F9-571D-AD1FD4933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Шифр МАГМА – </a:t>
            </a:r>
            <a:r>
              <a:rPr lang="ru-RU" b="0" i="0" dirty="0">
                <a:effectLst/>
              </a:rPr>
              <a:t>ключ 256 бит, блок 64 бита</a:t>
            </a:r>
            <a:endParaRPr lang="en-US" b="0" i="0" dirty="0">
              <a:effectLst/>
            </a:endParaRPr>
          </a:p>
          <a:p>
            <a:r>
              <a:rPr lang="ru-RU" dirty="0"/>
              <a:t>Шифр КУЗНЕЧИК –  </a:t>
            </a:r>
            <a:r>
              <a:rPr lang="ru-RU" b="0" i="0" dirty="0">
                <a:effectLst/>
              </a:rPr>
              <a:t>ключ 256 бит, блок 128 бит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6474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584D5-3F34-FD97-4DDD-86C8DCAC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 не всё так просто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03598-9226-EC4A-536C-518BDD08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повышения стойкости шифра всегда добавляется математика. Поэтому придумали такую вещь, как режимы работы шифра. Они позволяют повысить его криптостойкость.</a:t>
            </a:r>
            <a:endParaRPr lang="ru-RU" b="1" i="0" dirty="0">
              <a:effectLst/>
              <a:latin typeface="Roboto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518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C1A24-8325-66D3-4968-9FA3CDA7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простой замены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77321-3E4D-804B-F69D-5E5266A9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i="0" dirty="0">
                <a:effectLst/>
                <a:latin typeface="Roboto" panose="02000000000000000000" pitchFamily="2" charset="0"/>
              </a:rPr>
              <a:t>Как он работает: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</a:rPr>
              <a:t>Сеть </a:t>
            </a:r>
            <a:r>
              <a:rPr lang="ru-RU" b="1" dirty="0" err="1">
                <a:latin typeface="Roboto" panose="02000000000000000000" pitchFamily="2" charset="0"/>
              </a:rPr>
              <a:t>Фейстеля</a:t>
            </a:r>
            <a:endParaRPr lang="ru-RU" b="1" dirty="0">
              <a:latin typeface="Roboto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</a:rPr>
              <a:t>Используются таблицы замены (вспоминаем шифр замены)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i="0" dirty="0">
                <a:effectLst/>
                <a:latin typeface="Roboto" panose="02000000000000000000" pitchFamily="2" charset="0"/>
              </a:rPr>
              <a:t>Несколько раундов шифрования (циклов шифрования одного и того же блока)</a:t>
            </a:r>
          </a:p>
          <a:p>
            <a:pPr marL="0" indent="0">
              <a:buNone/>
            </a:pPr>
            <a:endParaRPr lang="ru-RU" b="1" i="0" dirty="0"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765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5E43-39ED-E737-00EA-C619F7CE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72795-F9C6-4F53-89A5-CB63E716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Таблица замен берётся не из головы. Все таблицы замен оговорены стандартом. Каждая замена многократно проверяется и анализируется </a:t>
            </a:r>
            <a:r>
              <a:rPr lang="ru-RU" dirty="0" err="1"/>
              <a:t>криптоаналитиками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053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29BD8-6416-5CDB-FB35-45CB229C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режимы существуют?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C6FB3-F48F-0457-8DF4-333FF2F0C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dirty="0">
                <a:effectLst/>
              </a:rPr>
              <a:t>Режим простой замены</a:t>
            </a:r>
          </a:p>
          <a:p>
            <a:r>
              <a:rPr lang="ru-RU" b="1" i="0" dirty="0">
                <a:effectLst/>
              </a:rPr>
              <a:t>Режим гаммирования</a:t>
            </a:r>
          </a:p>
          <a:p>
            <a:r>
              <a:rPr lang="ru-RU" b="1" i="0" dirty="0">
                <a:effectLst/>
              </a:rPr>
              <a:t>Режим гаммирования с обратной связью</a:t>
            </a:r>
          </a:p>
          <a:p>
            <a:r>
              <a:rPr lang="ru-RU" b="1" i="0" dirty="0">
                <a:effectLst/>
              </a:rPr>
              <a:t>Режим </a:t>
            </a:r>
            <a:r>
              <a:rPr lang="ru-RU" b="1" i="0" dirty="0" err="1">
                <a:effectLst/>
              </a:rPr>
              <a:t>имитовставки</a:t>
            </a:r>
            <a:endParaRPr lang="ru-RU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8450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1AD73-1BBF-8ED2-3D4E-0BB19F2B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0" i="0" dirty="0">
                <a:effectLst/>
              </a:rPr>
              <a:t>Режим гаммирования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D5A8B-D163-81A5-4465-FFBED1C28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Р</a:t>
            </a:r>
            <a:r>
              <a:rPr lang="ru-RU" sz="2000" b="0" i="0" dirty="0">
                <a:effectLst/>
              </a:rPr>
              <a:t>ежим, который использует гамму — псевдослучайну</a:t>
            </a:r>
            <a:r>
              <a:rPr lang="ru-RU" sz="2000" dirty="0"/>
              <a:t>ю</a:t>
            </a:r>
            <a:r>
              <a:rPr lang="ru-RU" sz="2000" b="0" i="0" dirty="0">
                <a:effectLst/>
              </a:rPr>
              <a:t> последовательность, которая в каждом раунде складывается по модулю 2 с открытым текстом. Гамма образуется из </a:t>
            </a:r>
            <a:r>
              <a:rPr lang="ru-RU" sz="2000" b="0" i="0" dirty="0" err="1">
                <a:effectLst/>
              </a:rPr>
              <a:t>синхропосылки</a:t>
            </a:r>
            <a:r>
              <a:rPr lang="ru-RU" sz="2000" b="0" i="0" dirty="0">
                <a:effectLst/>
              </a:rPr>
              <a:t> S — псевдослучайной последовательности, которая изменяется с каждой итерацией и проходит шифрование в режиме простой замены, после чего превращается в гамму и накладывается на открытый текст</a:t>
            </a:r>
          </a:p>
          <a:p>
            <a:endParaRPr lang="ru-RU" dirty="0"/>
          </a:p>
        </p:txBody>
      </p:sp>
      <p:pic>
        <p:nvPicPr>
          <p:cNvPr id="1026" name="Picture 2" descr="Шифрование в режиме гаммирования">
            <a:extLst>
              <a:ext uri="{FF2B5EF4-FFF2-40B4-BE49-F238E27FC236}">
                <a16:creationId xmlns:a16="http://schemas.microsoft.com/office/drawing/2014/main" id="{8F6F0FB9-2504-916A-688E-FA491B6E9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4" y="3262746"/>
            <a:ext cx="6457951" cy="337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098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18466-4D3E-9310-9D3A-72FA06DA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effectLst/>
              </a:rPr>
              <a:t>Режим гаммирования с обратной связью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3FC559-EAAE-17FE-8FA4-1291024A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i="0" dirty="0">
                <a:effectLst/>
              </a:rPr>
              <a:t>Режим гаммирования с обратной связью - алгоритм </a:t>
            </a:r>
            <a:r>
              <a:rPr lang="ru-RU" b="0" i="0" dirty="0">
                <a:effectLst/>
              </a:rPr>
              <a:t>похож на режим гаммирования, однако гамма формируется на основе предыдущего блока зашифрованных данных, так что результат шифрования текущего блока зависит также и от предыдущих блоков</a:t>
            </a:r>
            <a:r>
              <a:rPr lang="en-US" dirty="0"/>
              <a:t>.</a:t>
            </a:r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0271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729B-8F3F-9619-7CBE-33624046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56B2A-61E3-5743-922E-EF187ACA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effectLst/>
              </a:rPr>
              <a:t>Режим гаммирования с обратной связью</a:t>
            </a:r>
            <a:r>
              <a:rPr lang="en-US" i="0" dirty="0">
                <a:effectLst/>
              </a:rPr>
              <a:t> (</a:t>
            </a:r>
            <a:r>
              <a:rPr lang="ru-RU" dirty="0"/>
              <a:t>продолжение</a:t>
            </a:r>
            <a:r>
              <a:rPr lang="en-US" i="0" dirty="0">
                <a:effectLst/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D6A78E-07E1-60B7-93D3-45290110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Синхропосылка</a:t>
            </a:r>
            <a:r>
              <a:rPr lang="ru-RU" b="0" i="0" dirty="0">
                <a:effectLst/>
              </a:rPr>
              <a:t> S — 64-битная псевдослучайная последовательность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S шифруется в режиме простой замены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Открытый текст складывается по модулю 2 с полученной гаммой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Полученный </a:t>
            </a:r>
            <a:r>
              <a:rPr lang="ru-RU" b="0" i="0" dirty="0" err="1">
                <a:effectLst/>
              </a:rPr>
              <a:t>шифротекст</a:t>
            </a:r>
            <a:r>
              <a:rPr lang="ru-RU" b="0" i="0" dirty="0">
                <a:effectLst/>
              </a:rPr>
              <a:t> поступает в качестве </a:t>
            </a:r>
            <a:r>
              <a:rPr lang="ru-RU" b="0" i="0" dirty="0" err="1">
                <a:effectLst/>
              </a:rPr>
              <a:t>синхропосылки</a:t>
            </a:r>
            <a:r>
              <a:rPr lang="ru-RU" b="0" i="0" dirty="0">
                <a:effectLst/>
              </a:rPr>
              <a:t> для следующего блока, а также поступает на выход</a:t>
            </a:r>
          </a:p>
        </p:txBody>
      </p:sp>
    </p:spTree>
    <p:extLst>
      <p:ext uri="{BB962C8B-B14F-4D97-AF65-F5344CB8AC3E}">
        <p14:creationId xmlns:p14="http://schemas.microsoft.com/office/powerpoint/2010/main" val="4228103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9BBAD-33B8-4556-8324-188D41D9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effectLst/>
              </a:rPr>
              <a:t>Режим гаммирования с обратной связью</a:t>
            </a:r>
            <a:endParaRPr lang="ru-RU" dirty="0"/>
          </a:p>
        </p:txBody>
      </p:sp>
      <p:pic>
        <p:nvPicPr>
          <p:cNvPr id="2050" name="Picture 2" descr="Шифрование в режиме гаммирования с обратной связью">
            <a:extLst>
              <a:ext uri="{FF2B5EF4-FFF2-40B4-BE49-F238E27FC236}">
                <a16:creationId xmlns:a16="http://schemas.microsoft.com/office/drawing/2014/main" id="{87BE329B-F95B-A414-2EFD-699524FB33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2" y="1901031"/>
            <a:ext cx="799147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983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9A10E-F6DA-0CF0-AFD7-B8264F52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</a:t>
            </a:r>
            <a:r>
              <a:rPr lang="ru-RU" dirty="0" err="1"/>
              <a:t>имитовставки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01B97C-2341-23E5-F2FD-9E96296A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</a:rPr>
              <a:t>В этом режиме вырабатывается </a:t>
            </a:r>
            <a:r>
              <a:rPr lang="ru-RU" b="0" i="0" dirty="0" err="1">
                <a:effectLst/>
              </a:rPr>
              <a:t>имитовставка</a:t>
            </a:r>
            <a:r>
              <a:rPr lang="ru-RU" b="0" i="0" dirty="0">
                <a:effectLst/>
              </a:rPr>
              <a:t> — дополнительный блок фиксированной длины, зависящий от исходного текста и ключей. Такой небольшой блок нужен для подтверждения того, что в </a:t>
            </a:r>
            <a:r>
              <a:rPr lang="ru-RU" b="0" i="0" dirty="0" err="1">
                <a:effectLst/>
              </a:rPr>
              <a:t>шифротекст</a:t>
            </a:r>
            <a:r>
              <a:rPr lang="ru-RU" b="0" i="0" dirty="0">
                <a:effectLst/>
              </a:rPr>
              <a:t> случайно или преднамеренно не были внесены искажения, — то есть для проверки целостности.</a:t>
            </a:r>
          </a:p>
        </p:txBody>
      </p:sp>
    </p:spTree>
    <p:extLst>
      <p:ext uri="{BB962C8B-B14F-4D97-AF65-F5344CB8AC3E}">
        <p14:creationId xmlns:p14="http://schemas.microsoft.com/office/powerpoint/2010/main" val="406562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3409-8687-9967-9DDC-31801BF0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F2FC6-344A-477E-8C6E-D0A2BCCC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</a:t>
            </a:r>
            <a:r>
              <a:rPr lang="ru-RU" dirty="0" err="1"/>
              <a:t>имитовставки</a:t>
            </a:r>
            <a:r>
              <a:rPr lang="ru-RU" dirty="0"/>
              <a:t> (продолжение)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D5757F-ED5A-05F1-4A61-9DF4F24C6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Блок открытого текста проходит 16 раундов в режиме простой замены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К полученному блоку по модулю 2 прибавляется еще один блок открытого текста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Сумма проходит еще 16 раундов в режиме простой замены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</a:rPr>
              <a:t>Прибавляется следующий блок открытого текста и опять простая замена и так далее, пока не кончатся блоки открытого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02638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F236C-A73A-FAF3-6F0E-2F94C6AA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</a:t>
            </a:r>
            <a:r>
              <a:rPr lang="ru-RU" dirty="0" err="1"/>
              <a:t>имитовставки</a:t>
            </a:r>
            <a:endParaRPr lang="ru-RU" dirty="0"/>
          </a:p>
        </p:txBody>
      </p:sp>
      <p:pic>
        <p:nvPicPr>
          <p:cNvPr id="3074" name="Picture 2" descr="Шифрование в режиме имитовставки">
            <a:extLst>
              <a:ext uri="{FF2B5EF4-FFF2-40B4-BE49-F238E27FC236}">
                <a16:creationId xmlns:a16="http://schemas.microsoft.com/office/drawing/2014/main" id="{FFF07A71-9238-E90D-D628-FAB6D80FA8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43" y="1891147"/>
            <a:ext cx="11581713" cy="416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759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85DF8-EC2E-2517-2F20-BC32D925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что же там в Кузнечике?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CE997-72AB-1E76-7B24-B350D7E9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HelveticaNeue"/>
              </a:rPr>
              <a:t>Режим простой замены (</a:t>
            </a:r>
            <a:r>
              <a:rPr lang="en-US" b="0" i="0" dirty="0">
                <a:effectLst/>
                <a:latin typeface="HelveticaNeue"/>
              </a:rPr>
              <a:t>Electronic Codebook, </a:t>
            </a:r>
            <a:r>
              <a:rPr lang="ru-RU" b="0" i="0" dirty="0">
                <a:effectLst/>
                <a:latin typeface="HelveticaNeue"/>
              </a:rPr>
              <a:t>ЕСВ)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latin typeface="HelveticaNeue"/>
              </a:rPr>
              <a:t>Р</a:t>
            </a:r>
            <a:r>
              <a:rPr lang="ru-RU" b="0" i="0" dirty="0">
                <a:effectLst/>
                <a:latin typeface="HelveticaNeue"/>
              </a:rPr>
              <a:t>ежим гаммирования (</a:t>
            </a:r>
            <a:r>
              <a:rPr lang="en-US" b="0" i="0" dirty="0">
                <a:effectLst/>
                <a:latin typeface="HelveticaNeue"/>
              </a:rPr>
              <a:t>Counter, CTR)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0000"/>
                </a:solidFill>
                <a:latin typeface="HelveticaNeue"/>
              </a:rPr>
              <a:t>Р</a:t>
            </a:r>
            <a:r>
              <a:rPr lang="ru-RU" b="0" i="0" dirty="0">
                <a:solidFill>
                  <a:srgbClr val="FF0000"/>
                </a:solidFill>
                <a:effectLst/>
                <a:latin typeface="HelveticaNeue"/>
              </a:rPr>
              <a:t>ежим гаммирования с обратной связью по выходу (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Neue"/>
              </a:rPr>
              <a:t>Output Feedback, OFB)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0000"/>
                </a:solidFill>
                <a:latin typeface="HelveticaNeue"/>
              </a:rPr>
              <a:t>Р</a:t>
            </a:r>
            <a:r>
              <a:rPr lang="ru-RU" b="0" i="0" dirty="0">
                <a:solidFill>
                  <a:srgbClr val="FF0000"/>
                </a:solidFill>
                <a:effectLst/>
                <a:latin typeface="HelveticaNeue"/>
              </a:rPr>
              <a:t>ежим простой замены с зацеплением (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Neue"/>
              </a:rPr>
              <a:t>Cipher Block Chaining, </a:t>
            </a:r>
            <a:r>
              <a:rPr lang="ru-RU" b="0" i="0" dirty="0">
                <a:solidFill>
                  <a:srgbClr val="FF0000"/>
                </a:solidFill>
                <a:effectLst/>
                <a:latin typeface="HelveticaNeue"/>
              </a:rPr>
              <a:t>СВС)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latin typeface="HelveticaNeue"/>
              </a:rPr>
              <a:t>Р</a:t>
            </a:r>
            <a:r>
              <a:rPr lang="ru-RU" b="0" i="0" dirty="0">
                <a:effectLst/>
                <a:latin typeface="HelveticaNeue"/>
              </a:rPr>
              <a:t>ежим гаммирования с обратной связью по </a:t>
            </a:r>
            <a:r>
              <a:rPr lang="ru-RU" b="0" i="0" dirty="0" err="1">
                <a:effectLst/>
                <a:latin typeface="HelveticaNeue"/>
              </a:rPr>
              <a:t>шифротексту</a:t>
            </a:r>
            <a:r>
              <a:rPr lang="ru-RU" b="0" i="0" dirty="0">
                <a:effectLst/>
                <a:latin typeface="HelveticaNeue"/>
              </a:rPr>
              <a:t> (</a:t>
            </a:r>
            <a:r>
              <a:rPr lang="en-US" b="0" i="0" dirty="0">
                <a:effectLst/>
                <a:latin typeface="HelveticaNeue"/>
              </a:rPr>
              <a:t>Cipher Feedback, CFB)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latin typeface="HelveticaNeue"/>
              </a:rPr>
              <a:t>Р</a:t>
            </a:r>
            <a:r>
              <a:rPr lang="ru-RU" b="0" i="0" dirty="0">
                <a:effectLst/>
                <a:latin typeface="HelveticaNeue"/>
              </a:rPr>
              <a:t>ежим выработки </a:t>
            </a:r>
            <a:r>
              <a:rPr lang="ru-RU" b="0" i="0" dirty="0" err="1">
                <a:effectLst/>
                <a:latin typeface="HelveticaNeue"/>
              </a:rPr>
              <a:t>имитовставки</a:t>
            </a:r>
            <a:r>
              <a:rPr lang="ru-RU" b="0" i="0" dirty="0">
                <a:effectLst/>
                <a:latin typeface="HelveticaNeue"/>
              </a:rPr>
              <a:t> (</a:t>
            </a:r>
            <a:r>
              <a:rPr lang="en-US" b="0" i="0" dirty="0">
                <a:effectLst/>
                <a:latin typeface="HelveticaNeue"/>
              </a:rPr>
              <a:t>Message Authentication Code algorithm)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5624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94111-83CB-F430-8173-6CC70B41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это всё нужно?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01CE673-AB80-296C-BAEB-EA9FA25B98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6" y="1347873"/>
            <a:ext cx="3131127" cy="345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ndefined">
            <a:extLst>
              <a:ext uri="{FF2B5EF4-FFF2-40B4-BE49-F238E27FC236}">
                <a16:creationId xmlns:a16="http://schemas.microsoft.com/office/drawing/2014/main" id="{70930A21-D411-EB65-12FB-D6FE9C590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066" y="1366246"/>
            <a:ext cx="2893868" cy="344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6F0440C-22CB-4D01-3291-7D41753B7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787" y="1338687"/>
            <a:ext cx="3139463" cy="345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C9E3F-6EAD-5E42-9E26-37D78CD4568C}"/>
              </a:ext>
            </a:extLst>
          </p:cNvPr>
          <p:cNvSpPr txBox="1"/>
          <p:nvPr/>
        </p:nvSpPr>
        <p:spPr>
          <a:xfrm>
            <a:off x="706101" y="5325461"/>
            <a:ext cx="2789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Исходная картина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135E6-6FAB-68BA-7A55-9CF5F14B43A0}"/>
              </a:ext>
            </a:extLst>
          </p:cNvPr>
          <p:cNvSpPr txBox="1"/>
          <p:nvPr/>
        </p:nvSpPr>
        <p:spPr>
          <a:xfrm>
            <a:off x="4329138" y="5325461"/>
            <a:ext cx="3533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Режим простой замены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96C7A-92AE-4BBF-F541-DD362F912B30}"/>
              </a:ext>
            </a:extLst>
          </p:cNvPr>
          <p:cNvSpPr txBox="1"/>
          <p:nvPr/>
        </p:nvSpPr>
        <p:spPr>
          <a:xfrm>
            <a:off x="8933635" y="5325460"/>
            <a:ext cx="3184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Любой другой режим</a:t>
            </a:r>
          </a:p>
        </p:txBody>
      </p:sp>
    </p:spTree>
    <p:extLst>
      <p:ext uri="{BB962C8B-B14F-4D97-AF65-F5344CB8AC3E}">
        <p14:creationId xmlns:p14="http://schemas.microsoft.com/office/powerpoint/2010/main" val="3672498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5482E-A4E7-89E8-F1E4-F3C71E23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Международные стандарты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23F93-A2C2-A67C-3664-8219F8E8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</a:rPr>
              <a:t>DES </a:t>
            </a:r>
            <a:r>
              <a:rPr lang="en-US" b="0" i="0" dirty="0">
                <a:effectLst/>
              </a:rPr>
              <a:t>– </a:t>
            </a:r>
            <a:r>
              <a:rPr lang="ru-RU" b="0" i="0" dirty="0">
                <a:effectLst/>
              </a:rPr>
              <a:t>это сеть </a:t>
            </a:r>
            <a:r>
              <a:rPr lang="ru-RU" b="0" i="0" dirty="0" err="1">
                <a:effectLst/>
              </a:rPr>
              <a:t>Фейстеля</a:t>
            </a:r>
            <a:r>
              <a:rPr lang="ru-RU" b="0" i="0" dirty="0">
                <a:effectLst/>
              </a:rPr>
              <a:t> из 16 раундов с симметричными ключами шифрования. Длина блока текста — 64 бита, длина раундового ключа — 48 бит</a:t>
            </a:r>
            <a:r>
              <a:rPr lang="en-US" dirty="0"/>
              <a:t>. </a:t>
            </a:r>
            <a:r>
              <a:rPr lang="ru-RU" dirty="0">
                <a:solidFill>
                  <a:srgbClr val="FF0000"/>
                </a:solidFill>
              </a:rPr>
              <a:t>Не используйте в своих приложениях!</a:t>
            </a:r>
          </a:p>
          <a:p>
            <a:r>
              <a:rPr lang="en-US" dirty="0"/>
              <a:t>AES – </a:t>
            </a:r>
            <a:r>
              <a:rPr lang="ru-RU" dirty="0"/>
              <a:t>подстановочно-перестановочная сеть != сеть </a:t>
            </a:r>
            <a:r>
              <a:rPr lang="ru-RU" dirty="0" err="1"/>
              <a:t>Фейстеля</a:t>
            </a:r>
            <a:r>
              <a:rPr lang="ru-RU" dirty="0"/>
              <a:t>. </a:t>
            </a:r>
            <a:r>
              <a:rPr lang="ru-RU" b="0" i="0" dirty="0">
                <a:effectLst/>
              </a:rPr>
              <a:t>AES оперирует 128-битными блоками данных и ключами по 128, 192 и 256 бит</a:t>
            </a:r>
          </a:p>
          <a:p>
            <a:r>
              <a:rPr lang="en-US" dirty="0" err="1"/>
              <a:t>Twofish</a:t>
            </a:r>
            <a:r>
              <a:rPr lang="ru-RU" dirty="0"/>
              <a:t> – смешанная сеть </a:t>
            </a:r>
            <a:r>
              <a:rPr lang="ru-RU" dirty="0" err="1"/>
              <a:t>Фейстеля</a:t>
            </a:r>
            <a:r>
              <a:rPr lang="ru-RU" dirty="0"/>
              <a:t> (использует преобразование Адамара). </a:t>
            </a:r>
            <a:r>
              <a:rPr lang="ru-RU" b="0" i="0" dirty="0">
                <a:effectLst/>
                <a:latin typeface="Arial" panose="020B0604020202020204" pitchFamily="34" charset="0"/>
              </a:rPr>
              <a:t>128-битный блочный симметричный шифр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ru-RU" b="0" i="0" dirty="0">
                <a:effectLst/>
                <a:latin typeface="Arial" panose="020B0604020202020204" pitchFamily="34" charset="0"/>
              </a:rPr>
              <a:t>длина ключей 128, 192 и 256 бит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2576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D71BC-297D-8150-8515-EA1F5950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4" y="365125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DES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811897-EC69-B765-8860-8318DBCC01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074" y="904009"/>
            <a:ext cx="4652083" cy="58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574906-1259-2F47-5142-9DA512D1A06E}"/>
              </a:ext>
            </a:extLst>
          </p:cNvPr>
          <p:cNvSpPr txBox="1"/>
          <p:nvPr/>
        </p:nvSpPr>
        <p:spPr>
          <a:xfrm>
            <a:off x="1482436" y="365125"/>
            <a:ext cx="4731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сеть 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Фейстеля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из 16 раундов</a:t>
            </a:r>
            <a:endParaRPr lang="en-US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блок текста — 64 бита</a:t>
            </a:r>
            <a:endParaRPr lang="en-US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длина раундового ключа — 48 бит</a:t>
            </a:r>
            <a:endParaRPr lang="en-US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используйте в своих приложениях!</a:t>
            </a:r>
          </a:p>
        </p:txBody>
      </p:sp>
    </p:spTree>
    <p:extLst>
      <p:ext uri="{BB962C8B-B14F-4D97-AF65-F5344CB8AC3E}">
        <p14:creationId xmlns:p14="http://schemas.microsoft.com/office/powerpoint/2010/main" val="2905822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C0A85-0099-1E66-B0BC-F2C6D6A8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35" y="272945"/>
            <a:ext cx="1737220" cy="1325563"/>
          </a:xfrm>
        </p:spPr>
        <p:txBody>
          <a:bodyPr/>
          <a:lstStyle/>
          <a:p>
            <a:r>
              <a:rPr lang="en-US" dirty="0"/>
              <a:t>AES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4A791-A3EA-4C44-28DA-36224F4AA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5282" y="244333"/>
            <a:ext cx="5588307" cy="623176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Подстановочно-перестановочная сеть != сеть </a:t>
            </a:r>
            <a:r>
              <a:rPr lang="ru-RU" dirty="0" err="1"/>
              <a:t>Фейстеля</a:t>
            </a:r>
            <a:endParaRPr lang="ru-RU" dirty="0"/>
          </a:p>
          <a:p>
            <a:r>
              <a:rPr lang="ru-RU" b="0" i="0" dirty="0">
                <a:effectLst/>
              </a:rPr>
              <a:t>128-битный блок данных</a:t>
            </a:r>
          </a:p>
          <a:p>
            <a:r>
              <a:rPr lang="ru-RU" dirty="0"/>
              <a:t>К</a:t>
            </a:r>
            <a:r>
              <a:rPr lang="ru-RU" b="0" i="0" dirty="0">
                <a:effectLst/>
              </a:rPr>
              <a:t>лючи по 128, 192 и 256 бит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ExpandKey</a:t>
            </a:r>
            <a:r>
              <a:rPr lang="ru-RU" b="0" i="0" dirty="0">
                <a:effectLst/>
              </a:rPr>
              <a:t> — вычисление раундовых ключей для всех раундов.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SubBytes</a:t>
            </a:r>
            <a:r>
              <a:rPr lang="ru-RU" b="0" i="0" dirty="0">
                <a:effectLst/>
              </a:rPr>
              <a:t> — замена битов по таблице замены (S-боксу).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ShiftRows</a:t>
            </a:r>
            <a:r>
              <a:rPr lang="ru-RU" b="0" i="0" dirty="0">
                <a:effectLst/>
              </a:rPr>
              <a:t> — циклический сдвиг строк в форме на различные величины.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MixColumns</a:t>
            </a:r>
            <a:r>
              <a:rPr lang="ru-RU" b="0" i="0" dirty="0">
                <a:effectLst/>
              </a:rPr>
              <a:t> — смешивание данных внутри каждого столбца формы.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effectLst/>
              </a:rPr>
              <a:t>AddRoundKey</a:t>
            </a:r>
            <a:r>
              <a:rPr lang="ru-RU" b="0" i="0" dirty="0">
                <a:effectLst/>
              </a:rPr>
              <a:t> — сложение ключа раунда с формой.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445152-E1F6-7FCA-BB5B-329E5C532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390" y="800099"/>
            <a:ext cx="4362275" cy="567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95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C8476-0F41-2684-44DB-6D20F917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принципы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3FF59-8A45-FE83-F6A6-812C4976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отличие от симметричного шифрования, асимметричном шифровании ключ шифрования и ключ расшифрования не совпадают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0F3F2A-9F76-D8B7-4EEE-765A9656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80" y="2960844"/>
            <a:ext cx="7284440" cy="34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41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E15C7-1D87-D84F-EA15-19535F36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863AE4-FEE5-96FF-6785-D94555E1F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dirty="0"/>
              <a:t>Между ключи шифрования и расшифрования должна быть связь. На математическом языке это означает – выработка ключа по определённому алгоритму.</a:t>
            </a:r>
          </a:p>
          <a:p>
            <a:pPr marL="0" indent="0">
              <a:buNone/>
            </a:pPr>
            <a:r>
              <a:rPr lang="ru-RU" sz="2000" dirty="0"/>
              <a:t>Ключ шифрования называют </a:t>
            </a:r>
            <a:r>
              <a:rPr lang="ru-RU" sz="2000" dirty="0">
                <a:solidFill>
                  <a:srgbClr val="FF0000"/>
                </a:solidFill>
              </a:rPr>
              <a:t>открытом ключом (</a:t>
            </a:r>
            <a:r>
              <a:rPr lang="en-US" sz="2000" dirty="0">
                <a:solidFill>
                  <a:srgbClr val="FF0000"/>
                </a:solidFill>
              </a:rPr>
              <a:t>public key)</a:t>
            </a:r>
            <a:endParaRPr lang="ru-RU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000" dirty="0"/>
              <a:t>Ключ расшифрования называют </a:t>
            </a:r>
            <a:r>
              <a:rPr lang="ru-RU" sz="2000" dirty="0">
                <a:solidFill>
                  <a:srgbClr val="FF0000"/>
                </a:solidFill>
              </a:rPr>
              <a:t>закрытым ключом</a:t>
            </a:r>
            <a:r>
              <a:rPr lang="en-US" sz="2000" dirty="0">
                <a:solidFill>
                  <a:srgbClr val="FF0000"/>
                </a:solidFill>
              </a:rPr>
              <a:t> (private key)</a:t>
            </a:r>
            <a:endParaRPr lang="ru-RU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90DBD9-E323-E0BB-C2D6-F7094C7D9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144" y="3517813"/>
            <a:ext cx="8243712" cy="279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68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77213-CAF3-028B-5284-0BC81A41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выглядит на практике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601B75-F0B9-C265-0425-A8C96008C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2" y="1503567"/>
            <a:ext cx="7381875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157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C303F-FC4A-9E44-E795-40222E4B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RSA(</a:t>
            </a:r>
            <a:r>
              <a:rPr lang="ru-RU" b="0" i="0" dirty="0">
                <a:effectLst/>
                <a:latin typeface="Arial" panose="020B0604020202020204" pitchFamily="34" charset="0"/>
              </a:rPr>
              <a:t>аббревиатура от фамилий </a:t>
            </a:r>
            <a:r>
              <a:rPr lang="ru-RU" b="0" i="0" dirty="0" err="1">
                <a:effectLst/>
                <a:latin typeface="Arial" panose="020B0604020202020204" pitchFamily="34" charset="0"/>
              </a:rPr>
              <a:t>Rivest</a:t>
            </a:r>
            <a:r>
              <a:rPr lang="ru-RU" b="0" i="0" dirty="0">
                <a:effectLst/>
                <a:latin typeface="Arial" panose="020B0604020202020204" pitchFamily="34" charset="0"/>
              </a:rPr>
              <a:t>, </a:t>
            </a:r>
            <a:r>
              <a:rPr lang="ru-RU" b="0" i="0" dirty="0" err="1">
                <a:effectLst/>
                <a:latin typeface="Arial" panose="020B0604020202020204" pitchFamily="34" charset="0"/>
              </a:rPr>
              <a:t>Shamir</a:t>
            </a:r>
            <a:r>
              <a:rPr lang="ru-RU" b="0" i="0" dirty="0">
                <a:effectLst/>
                <a:latin typeface="Arial" panose="020B0604020202020204" pitchFamily="34" charset="0"/>
              </a:rPr>
              <a:t> и </a:t>
            </a:r>
            <a:r>
              <a:rPr lang="ru-RU" b="0" i="0" dirty="0" err="1">
                <a:effectLst/>
                <a:latin typeface="Arial" panose="020B0604020202020204" pitchFamily="34" charset="0"/>
              </a:rPr>
              <a:t>Adleman</a:t>
            </a:r>
            <a:r>
              <a:rPr lang="en-US" b="0" i="0" dirty="0">
                <a:effectLst/>
                <a:latin typeface="Arial" panose="020B0604020202020204" pitchFamily="34" charset="0"/>
              </a:rPr>
              <a:t>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91B2D-F017-C462-BD2C-681584718B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Выбираются два различных случайных простых числа p и q заданного размера (например, 1024 бита каждое);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вычисляется их произведение n=p * q, которое называется модулем;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вычисляется значение функции Эйлера от числа 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0000"/>
                    </a:solidFill>
                  </a:rPr>
                  <a:t>Великий математик Леонард Эйлер доказал, что для произведения двух простых чисел N = PQ количество взаимно простых чисел равно как раз</a:t>
                </a:r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−1)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91B2D-F017-C462-BD2C-681584718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2" descr="n=p\cdot q">
            <a:extLst>
              <a:ext uri="{FF2B5EF4-FFF2-40B4-BE49-F238E27FC236}">
                <a16:creationId xmlns:a16="http://schemas.microsoft.com/office/drawing/2014/main" id="{C389D6B0-21D3-2113-8F51-7D6E31F42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65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918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DAF52-3C22-758F-EAA4-A426159A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CCAEEA-5A1B-3268-3C5B-2C305F823D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4) выбирается целое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взаимно простое со значением </a:t>
                </a:r>
                <a:r>
                  <a:rPr lang="ru-RU" dirty="0" err="1"/>
                  <a:t>фунции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r>
                  <a:rPr lang="ru-RU" dirty="0"/>
                  <a:t>число </a:t>
                </a:r>
                <a:r>
                  <a:rPr lang="ru-RU" i="1" dirty="0">
                    <a:solidFill>
                      <a:srgbClr val="FF0000"/>
                    </a:solidFill>
                  </a:rPr>
                  <a:t>e</a:t>
                </a:r>
                <a:r>
                  <a:rPr lang="ru-RU" dirty="0"/>
                  <a:t> называется открытой экспонентой (англ. </a:t>
                </a:r>
                <a:r>
                  <a:rPr lang="ru-RU" dirty="0" err="1"/>
                  <a:t>public</a:t>
                </a:r>
                <a:r>
                  <a:rPr lang="ru-RU" dirty="0"/>
                  <a:t> </a:t>
                </a:r>
                <a:r>
                  <a:rPr lang="ru-RU" dirty="0" err="1"/>
                  <a:t>exponent</a:t>
                </a:r>
                <a:r>
                  <a:rPr lang="ru-RU" dirty="0"/>
                  <a:t>);</a:t>
                </a:r>
              </a:p>
              <a:p>
                <a:r>
                  <a:rPr lang="ru-RU" dirty="0"/>
                  <a:t>обычно в качестве </a:t>
                </a:r>
                <a:r>
                  <a:rPr lang="ru-RU" i="1" dirty="0">
                    <a:solidFill>
                      <a:srgbClr val="FF0000"/>
                    </a:solidFill>
                  </a:rPr>
                  <a:t>e</a:t>
                </a:r>
                <a:r>
                  <a:rPr lang="ru-RU" dirty="0"/>
                  <a:t> берут простые числа, содержащие небольшое количество единичных бит в двоичной записи, например, простые из чисел Ферма: 17, 257 или 65537, так как в этом случае время, необходимое для шифрования с использованием быстрого возведения в степень, будет меньше;</a:t>
                </a:r>
              </a:p>
              <a:p>
                <a:r>
                  <a:rPr lang="ru-RU" dirty="0"/>
                  <a:t>слишком малые значения </a:t>
                </a:r>
                <a:r>
                  <a:rPr lang="ru-RU" i="1" dirty="0">
                    <a:solidFill>
                      <a:srgbClr val="FF0000"/>
                    </a:solidFill>
                  </a:rPr>
                  <a:t>e</a:t>
                </a:r>
                <a:r>
                  <a:rPr lang="ru-RU" dirty="0"/>
                  <a:t>, например 3, потенциально могут ослабить безопасность схемы RSA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CCAEEA-5A1B-3268-3C5B-2C305F823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14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DAF52-3C22-758F-EAA4-A426159A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CCAEEA-5A1B-3268-3C5B-2C305F823D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5) </a:t>
                </a:r>
                <a:r>
                  <a:rPr lang="ru-RU" dirty="0"/>
                  <a:t>вычисляется число </a:t>
                </a:r>
                <a:r>
                  <a:rPr lang="ru-RU" i="1" dirty="0">
                    <a:solidFill>
                      <a:srgbClr val="FF0000"/>
                    </a:solidFill>
                  </a:rPr>
                  <a:t>d</a:t>
                </a:r>
                <a:r>
                  <a:rPr lang="ru-RU" dirty="0"/>
                  <a:t>, </a:t>
                </a:r>
                <a:r>
                  <a:rPr lang="ru-RU" dirty="0" err="1"/>
                  <a:t>мультипликативно</a:t>
                </a:r>
                <a:r>
                  <a:rPr lang="ru-RU" dirty="0"/>
                  <a:t> обратное к числу </a:t>
                </a:r>
                <a:r>
                  <a:rPr lang="ru-RU" dirty="0">
                    <a:solidFill>
                      <a:srgbClr val="FF0000"/>
                    </a:solidFill>
                  </a:rPr>
                  <a:t>e</a:t>
                </a:r>
                <a:r>
                  <a:rPr lang="ru-RU" dirty="0"/>
                  <a:t> по модулю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то есть число, удовлетворяющее сравнению: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число </a:t>
                </a:r>
                <a:r>
                  <a:rPr lang="ru-RU" i="1" dirty="0">
                    <a:solidFill>
                      <a:srgbClr val="FF0000"/>
                    </a:solidFill>
                  </a:rPr>
                  <a:t>d</a:t>
                </a:r>
                <a:r>
                  <a:rPr lang="ru-RU" dirty="0"/>
                  <a:t> называется секретной</a:t>
                </a:r>
                <a:r>
                  <a:rPr lang="en-US" dirty="0"/>
                  <a:t> </a:t>
                </a:r>
                <a:r>
                  <a:rPr lang="ru-RU" dirty="0"/>
                  <a:t>экспонентой; обычно оно вычисляется при помощи расширенного алгоритма Евклида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6) </a:t>
                </a:r>
                <a:r>
                  <a:rPr lang="ru-RU" dirty="0"/>
                  <a:t>пара </a:t>
                </a:r>
                <a:r>
                  <a:rPr lang="en-US" dirty="0"/>
                  <a:t>(</a:t>
                </a:r>
                <a:r>
                  <a:rPr lang="en-US" dirty="0" err="1"/>
                  <a:t>e,n</a:t>
                </a:r>
                <a:r>
                  <a:rPr lang="en-US" dirty="0"/>
                  <a:t>) </a:t>
                </a:r>
                <a:r>
                  <a:rPr lang="ru-RU" dirty="0"/>
                  <a:t>публикуется в качестве открытого ключа RSA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7) </a:t>
                </a:r>
                <a:r>
                  <a:rPr lang="ru-RU" dirty="0"/>
                  <a:t>пара </a:t>
                </a:r>
                <a:r>
                  <a:rPr lang="en-US" dirty="0"/>
                  <a:t>(</a:t>
                </a:r>
                <a:r>
                  <a:rPr lang="en-US" dirty="0" err="1"/>
                  <a:t>d,n</a:t>
                </a:r>
                <a:r>
                  <a:rPr lang="en-US" dirty="0"/>
                  <a:t>) </a:t>
                </a:r>
                <a:r>
                  <a:rPr lang="ru-RU" dirty="0"/>
                  <a:t>играет роль закрытого ключа </a:t>
                </a:r>
                <a:r>
                  <a:rPr lang="en-US" dirty="0"/>
                  <a:t>RSA (</a:t>
                </a:r>
                <a:r>
                  <a:rPr lang="ru-RU" dirty="0"/>
                  <a:t>англ. </a:t>
                </a:r>
                <a:r>
                  <a:rPr lang="en-US" dirty="0"/>
                  <a:t>RSA private key) </a:t>
                </a:r>
                <a:r>
                  <a:rPr lang="ru-RU" dirty="0"/>
                  <a:t>и держится в секрете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CCAEEA-5A1B-3268-3C5B-2C305F823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158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59D2D-659A-6526-F40C-6D2BFB5C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749FD0CE-D1D0-EFE5-A6E2-03F445968C6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3363985"/>
                <a:ext cx="5181600" cy="281297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</a:rPr>
                  <a:t>Взять открытый ключ (</a:t>
                </a:r>
                <a:r>
                  <a:rPr lang="ru-RU" dirty="0" err="1">
                    <a:solidFill>
                      <a:schemeClr val="tx1"/>
                    </a:solidFill>
                  </a:rPr>
                  <a:t>e,n</a:t>
                </a:r>
                <a:r>
                  <a:rPr lang="ru-RU" dirty="0">
                    <a:solidFill>
                      <a:schemeClr val="tx1"/>
                    </a:solidFill>
                  </a:rPr>
                  <a:t>) Алисы</a:t>
                </a: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Взять открытый текст </a:t>
                </a:r>
                <a:r>
                  <a:rPr lang="en-US" i="1" dirty="0">
                    <a:solidFill>
                      <a:schemeClr val="tx1"/>
                    </a:solidFill>
                  </a:rPr>
                  <a:t>m</a:t>
                </a:r>
                <a:endParaRPr lang="ru-RU" i="1" dirty="0">
                  <a:solidFill>
                    <a:schemeClr val="tx1"/>
                  </a:solidFill>
                </a:endParaRPr>
              </a:p>
              <a:p>
                <a:r>
                  <a:rPr lang="ru-RU" b="0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Зашифровать сообщение с использованием открытого ключа Алисы: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749FD0CE-D1D0-EFE5-A6E2-03F445968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3363985"/>
                <a:ext cx="5181600" cy="2812978"/>
              </a:xfrm>
              <a:blipFill>
                <a:blip r:embed="rId2"/>
                <a:stretch>
                  <a:fillRect l="-1882" t="-4772" r="-3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49B2FCDB-4F5D-D3FC-9F73-50AE0F645CB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3363983"/>
                <a:ext cx="5181600" cy="281297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</a:rPr>
                  <a:t>Принять зашифрованное сообщение </a:t>
                </a:r>
                <a:r>
                  <a:rPr lang="en-US" i="1" dirty="0">
                    <a:solidFill>
                      <a:schemeClr val="tx1"/>
                    </a:solidFill>
                  </a:rPr>
                  <a:t>c</a:t>
                </a:r>
              </a:p>
              <a:p>
                <a:r>
                  <a:rPr lang="ru-RU" i="1" dirty="0">
                    <a:solidFill>
                      <a:schemeClr val="tx1"/>
                    </a:solidFill>
                  </a:rPr>
                  <a:t>Взять свой закрытый ключ</a:t>
                </a:r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ru-RU" i="1" dirty="0">
                    <a:solidFill>
                      <a:schemeClr val="tx1"/>
                    </a:solidFill>
                  </a:rPr>
                  <a:t>(</a:t>
                </a:r>
                <a:r>
                  <a:rPr lang="ru-RU" i="1" dirty="0" err="1">
                    <a:solidFill>
                      <a:schemeClr val="tx1"/>
                    </a:solidFill>
                  </a:rPr>
                  <a:t>d,n</a:t>
                </a:r>
                <a:r>
                  <a:rPr lang="ru-RU" i="1" dirty="0">
                    <a:solidFill>
                      <a:schemeClr val="tx1"/>
                    </a:solidFill>
                  </a:rPr>
                  <a:t>)</a:t>
                </a:r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ru-RU" i="1" dirty="0">
                    <a:solidFill>
                      <a:schemeClr val="tx1"/>
                    </a:solidFill>
                  </a:rPr>
                  <a:t>Расшифровать с помощью закрытого ключа:</a:t>
                </a:r>
              </a:p>
              <a:p>
                <a:pPr marL="0" indent="0" algn="ctr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u-RU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49B2FCDB-4F5D-D3FC-9F73-50AE0F645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3363983"/>
                <a:ext cx="5181600" cy="2812979"/>
              </a:xfrm>
              <a:blipFill>
                <a:blip r:embed="rId3"/>
                <a:stretch>
                  <a:fillRect l="-1882" t="-4772" r="-3882" b="-13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EBF349-F555-B215-78FB-4DF8134B4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828" y="313014"/>
            <a:ext cx="6837814" cy="26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240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1B57018-5255-3D9D-E67D-198CEC5D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FFBB37-B6FE-D155-F929-BB817381C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Пример – хотим отправить сообщение «8275»</a:t>
                </a:r>
              </a:p>
              <a:p>
                <a:pPr marL="514350" indent="-514350">
                  <a:buAutoNum type="arabicParenR"/>
                </a:pPr>
                <a:r>
                  <a:rPr lang="ru-RU" dirty="0"/>
                  <a:t>Пусть </a:t>
                </a:r>
                <a:r>
                  <a:rPr lang="en-US" dirty="0"/>
                  <a:t>p = 3 </a:t>
                </a:r>
                <a:r>
                  <a:rPr lang="ru-RU" dirty="0"/>
                  <a:t>и </a:t>
                </a:r>
                <a:r>
                  <a:rPr lang="en-US" dirty="0"/>
                  <a:t>q = 11</a:t>
                </a:r>
              </a:p>
              <a:p>
                <a:pPr marL="514350" indent="-514350">
                  <a:buAutoNum type="arabicParenR"/>
                </a:pPr>
                <a:r>
                  <a:rPr lang="en-US" dirty="0"/>
                  <a:t>N = p * q = 3 * 11 = 33</a:t>
                </a:r>
              </a:p>
              <a:p>
                <a:pPr marL="514350" indent="-514350">
                  <a:buAutoNum type="arabicParenR"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∗10=20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arenR"/>
                </a:pPr>
                <a:r>
                  <a:rPr lang="ru-RU" dirty="0"/>
                  <a:t>Пусть </a:t>
                </a:r>
                <a:r>
                  <a:rPr lang="en-US" dirty="0"/>
                  <a:t>e = 13 – </a:t>
                </a:r>
                <a:r>
                  <a:rPr lang="ru-RU" dirty="0"/>
                  <a:t>взаимно простое число с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AutoNum type="arabicParenR"/>
                </a:pPr>
                <a:r>
                  <a:rPr lang="ru-RU" dirty="0"/>
                  <a:t>Ищем </a:t>
                </a:r>
                <a:r>
                  <a:rPr lang="en-US" dirty="0"/>
                  <a:t>d, </a:t>
                </a:r>
                <a:r>
                  <a:rPr lang="ru-RU" dirty="0"/>
                  <a:t>такое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Ближайшее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=17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arenR"/>
                </a:pPr>
                <a:r>
                  <a:rPr lang="ru-RU" dirty="0"/>
                  <a:t>Открытый ключ – (13,33)</a:t>
                </a:r>
              </a:p>
              <a:p>
                <a:pPr marL="514350" indent="-514350">
                  <a:buAutoNum type="arabicParenR"/>
                </a:pPr>
                <a:r>
                  <a:rPr lang="ru-RU" dirty="0"/>
                  <a:t>Закрытый ключ – (17,33)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FFBB37-B6FE-D155-F929-BB817381C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79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1B57018-5255-3D9D-E67D-198CEC5D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FFBB37-B6FE-D155-F929-BB817381C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Пример – хотим отправить сообщение «8275»</a:t>
                </a:r>
              </a:p>
              <a:p>
                <a:pPr marL="0" indent="0">
                  <a:buNone/>
                </a:pPr>
                <a:r>
                  <a:rPr lang="ru-RU" dirty="0"/>
                  <a:t>Открытый ключ – (13,33)</a:t>
                </a:r>
              </a:p>
              <a:p>
                <a:pPr marL="0" indent="0">
                  <a:buNone/>
                </a:pPr>
                <a:r>
                  <a:rPr lang="ru-RU" dirty="0"/>
                  <a:t>Закрытый ключ – (17,33)</a:t>
                </a:r>
              </a:p>
              <a:p>
                <a:pPr marL="0" indent="0">
                  <a:buNone/>
                </a:pPr>
                <a:r>
                  <a:rPr lang="ru-RU" dirty="0"/>
                  <a:t>Разбиваем наш текст на блоки, которые не превосходят 33</a:t>
                </a:r>
              </a:p>
              <a:p>
                <a:pPr marL="0" indent="0">
                  <a:buNone/>
                </a:pPr>
                <a:r>
                  <a:rPr lang="ru-RU" dirty="0"/>
                  <a:t>Получим: «8» «27» «5»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33= </m:t>
                    </m:r>
                  </m:oMath>
                </a14:m>
                <a:r>
                  <a:rPr lang="en-US" dirty="0"/>
                  <a:t>17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33=15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33=  26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Зашифрованное сообщение = (17,15,26)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BFFBB37-B6FE-D155-F929-BB817381C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25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6B9BA-6519-7C35-70F4-0F444410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4F7C4F-A384-A630-15B9-4C2EAB28F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33=8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33=27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33=  5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4F7C4F-A384-A630-15B9-4C2EAB28F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492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EA337-DF99-9DC3-C633-90249EF3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RSA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94F482-8E5E-490E-7F17-8C264A665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 с реальным текстом: слово «</a:t>
            </a:r>
            <a:r>
              <a:rPr lang="en-US" dirty="0"/>
              <a:t>Class</a:t>
            </a:r>
            <a:r>
              <a:rPr lang="ru-RU" dirty="0"/>
              <a:t>»</a:t>
            </a:r>
          </a:p>
          <a:p>
            <a:pPr marL="0" indent="0">
              <a:buNone/>
            </a:pPr>
            <a:r>
              <a:rPr lang="ru-RU" dirty="0"/>
              <a:t>Открытый ключ: (7,33)</a:t>
            </a:r>
          </a:p>
          <a:p>
            <a:pPr marL="0" indent="0">
              <a:buNone/>
            </a:pPr>
            <a:r>
              <a:rPr lang="ru-RU" dirty="0"/>
              <a:t>Закрытый ключ: (3,33)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Должно получиться: </a:t>
            </a:r>
            <a:r>
              <a:rPr lang="en-US" dirty="0"/>
              <a:t>INAMM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FC7E8D6-6DF1-8024-4D1F-4DE104582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52577"/>
            <a:ext cx="5214763" cy="357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099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BE7E6-CE57-C587-CC31-4A9A4FE6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Всё ли так хорошо?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B82B4E2-4BF6-21BD-DC30-69D0ECAD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90631E-BE5B-1DF5-A2DC-92BAE788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47" y="1339719"/>
            <a:ext cx="6260505" cy="532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337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4DD1B-82DE-57DD-D183-D9131FC1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Всё ли так хорошо?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7E52E3A-7A9E-6464-20E2-786DD5B6E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900" y="2120106"/>
            <a:ext cx="6934200" cy="3762375"/>
          </a:xfrm>
        </p:spPr>
      </p:pic>
    </p:spTree>
    <p:extLst>
      <p:ext uri="{BB962C8B-B14F-4D97-AF65-F5344CB8AC3E}">
        <p14:creationId xmlns:p14="http://schemas.microsoft.com/office/powerpoint/2010/main" val="661494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558E5-4B2E-A460-0439-1F8C9B63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Стив тот ещё негодник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0502C8-330C-A3FC-2F5F-4EB50390B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270" y="1825625"/>
            <a:ext cx="4799460" cy="4351338"/>
          </a:xfrm>
        </p:spPr>
      </p:pic>
    </p:spTree>
    <p:extLst>
      <p:ext uri="{BB962C8B-B14F-4D97-AF65-F5344CB8AC3E}">
        <p14:creationId xmlns:p14="http://schemas.microsoft.com/office/powerpoint/2010/main" val="3609260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558E5-4B2E-A460-0439-1F8C9B63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Стив тот ещё негодник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2746DFE-7B24-0117-B581-15F9087E1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4246" y="1330673"/>
            <a:ext cx="5623508" cy="5428039"/>
          </a:xfrm>
        </p:spPr>
      </p:pic>
    </p:spTree>
    <p:extLst>
      <p:ext uri="{BB962C8B-B14F-4D97-AF65-F5344CB8AC3E}">
        <p14:creationId xmlns:p14="http://schemas.microsoft.com/office/powerpoint/2010/main" val="3817938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AD049-C803-A633-5FE6-E0BD6AC8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RSA – </a:t>
            </a:r>
            <a:r>
              <a:rPr lang="ru-RU" dirty="0"/>
              <a:t>повторяем материал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67DBAE9-D362-C852-3B3E-73FEB7309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− </m:t>
                    </m:r>
                  </m:oMath>
                </a14:m>
                <a:r>
                  <a:rPr lang="ru-RU" dirty="0"/>
                  <a:t>зашифровали сообщение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расшифровали сообщение\</a:t>
                </a:r>
              </a:p>
              <a:p>
                <a:r>
                  <a:rPr lang="ru-RU" dirty="0"/>
                  <a:t>Так как же защищаться от СТИВА ?!</a:t>
                </a:r>
              </a:p>
              <a:p>
                <a:r>
                  <a:rPr lang="ru-RU" dirty="0"/>
                  <a:t>Давайте использовать закрытый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подписи сообщений. Тогда нам надо взять какое-то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зашифровать его с помощью закрытого ключа: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ru-RU" dirty="0">
                    <a:solidFill>
                      <a:srgbClr val="FF0000"/>
                    </a:solidFill>
                  </a:rPr>
                  <a:t>А что же здесь брать за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67DBAE9-D362-C852-3B3E-73FEB7309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0795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5558</TotalTime>
  <Words>1793</Words>
  <Application>Microsoft Office PowerPoint</Application>
  <PresentationFormat>Широкоэкранный</PresentationFormat>
  <Paragraphs>188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HelveticaNeue</vt:lpstr>
      <vt:lpstr>Roboto</vt:lpstr>
      <vt:lpstr>Тема Office</vt:lpstr>
      <vt:lpstr>Симметричное шифрование. Ассиметричное шифрование.</vt:lpstr>
      <vt:lpstr>Шифрование</vt:lpstr>
      <vt:lpstr>Шифрование</vt:lpstr>
      <vt:lpstr>Симметричное шифрование</vt:lpstr>
      <vt:lpstr>Поточные шифры</vt:lpstr>
      <vt:lpstr>А где же ключ? А вот он</vt:lpstr>
      <vt:lpstr>Требования к стойкости шифра</vt:lpstr>
      <vt:lpstr>Блочные шифры</vt:lpstr>
      <vt:lpstr>Сеть Фейстеля</vt:lpstr>
      <vt:lpstr>Сеть Фейстеля</vt:lpstr>
      <vt:lpstr>Пример работы сети Фейстеля</vt:lpstr>
      <vt:lpstr>Пример работы сети Фейстеля</vt:lpstr>
      <vt:lpstr>Пример работы сети Фейстеля</vt:lpstr>
      <vt:lpstr>Пример работы сети Фейстеля</vt:lpstr>
      <vt:lpstr>Пример работы сети Фейстеля</vt:lpstr>
      <vt:lpstr>Российские стандарты шифрования</vt:lpstr>
      <vt:lpstr>Но не всё так просто</vt:lpstr>
      <vt:lpstr>Режим простой замены</vt:lpstr>
      <vt:lpstr>Важно!</vt:lpstr>
      <vt:lpstr>Какие режимы существуют?</vt:lpstr>
      <vt:lpstr>Режим гаммирования</vt:lpstr>
      <vt:lpstr>Режим гаммирования с обратной связью</vt:lpstr>
      <vt:lpstr>Режим гаммирования с обратной связью (продолжение)</vt:lpstr>
      <vt:lpstr>Режим гаммирования с обратной связью</vt:lpstr>
      <vt:lpstr>Режим имитовставки</vt:lpstr>
      <vt:lpstr>Режим имитовставки (продолжение)</vt:lpstr>
      <vt:lpstr>Режим имитовставки</vt:lpstr>
      <vt:lpstr>А что же там в Кузнечике?</vt:lpstr>
      <vt:lpstr>Для чего это всё нужно?</vt:lpstr>
      <vt:lpstr>Международные стандарты</vt:lpstr>
      <vt:lpstr>DES</vt:lpstr>
      <vt:lpstr>AES</vt:lpstr>
      <vt:lpstr>Общие принципы</vt:lpstr>
      <vt:lpstr>Ключи</vt:lpstr>
      <vt:lpstr>Как это выглядит на практике</vt:lpstr>
      <vt:lpstr>Алгоритм RSA(аббревиатура от фамилий Rivest, Shamir и Adleman)</vt:lpstr>
      <vt:lpstr>Алгоритм RSA</vt:lpstr>
      <vt:lpstr>Алгоритм RSA</vt:lpstr>
      <vt:lpstr>Алгоритм RSA</vt:lpstr>
      <vt:lpstr>Алгоритм RSA</vt:lpstr>
      <vt:lpstr>Алгоритм RSA</vt:lpstr>
      <vt:lpstr>Алгоритм RSA</vt:lpstr>
      <vt:lpstr>Алгоритм RSA</vt:lpstr>
      <vt:lpstr>Всё ли так хорошо?</vt:lpstr>
      <vt:lpstr>Всё ли так хорошо?</vt:lpstr>
      <vt:lpstr>Стив тот ещё негодник</vt:lpstr>
      <vt:lpstr>Стив тот ещё негодник</vt:lpstr>
      <vt:lpstr>Основы RSA – повторяем материал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167</cp:revision>
  <dcterms:created xsi:type="dcterms:W3CDTF">2023-08-23T15:20:34Z</dcterms:created>
  <dcterms:modified xsi:type="dcterms:W3CDTF">2026-08-26T04:33:45Z</dcterms:modified>
</cp:coreProperties>
</file>