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88" r:id="rId3"/>
    <p:sldId id="389" r:id="rId4"/>
    <p:sldId id="390" r:id="rId5"/>
    <p:sldId id="391" r:id="rId6"/>
    <p:sldId id="392" r:id="rId7"/>
    <p:sldId id="393" r:id="rId8"/>
    <p:sldId id="395" r:id="rId9"/>
    <p:sldId id="396" r:id="rId10"/>
    <p:sldId id="394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415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85768" autoAdjust="0"/>
  </p:normalViewPr>
  <p:slideViewPr>
    <p:cSldViewPr snapToGrid="0">
      <p:cViewPr varScale="1">
        <p:scale>
          <a:sx n="50" d="100"/>
          <a:sy n="50" d="100"/>
        </p:scale>
        <p:origin x="48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2E9C8-EA95-44DC-97D6-381D54E0192E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D21C1-FA3C-45BD-918C-3C5610939C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3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rdp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enum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-encryption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скрипт доступный при использовании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nmap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Повышенная безопасность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RDP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(SECURITY LAYER) – </a:t>
            </a:r>
            <a:r>
              <a:rPr lang="ru-RU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 к базовым алгоритмам шифрования добавить шифрования 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TLS/SSL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 1.0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 1.1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 1.2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 1.3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Всё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остальное – расширение протокола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TLS/SSL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CredSSP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RDSTLS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RDS AAD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CredSSP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dirty="0"/>
              <a:t>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представляет собой совмещение функционала TLS,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Kerberos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NTLM.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достоинства протокола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CredSSP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Проверка разрешения на вход в удаленную систему до установки полноценного RDP-соединения, что позволяет экономить ресурсы сервера терминалов при большом количестве подключений.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Надежная аутентификация и шифрование по протоколу TLS.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 однократного входа в систему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при помощи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Kerberos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NTLM.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RDSTLS </a:t>
            </a:r>
            <a:r>
              <a:rPr lang="ru-RU" dirty="0"/>
              <a:t>— это разновидность расширенной защиты RDP, которая в основном используется в сценариях перенаправления сервера. Аутентификация сервера, шифрование, дешифрование и проверка целостности данных реализуются с помощью протокола безопасности TLS, а аутентификация пользователя осуществляется путем обмена пакетами данных RDSTLS непосредственно после установления соединения TLS.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Уровни шифрования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RDP ENCRYPTION LEVEL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Стандартная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защита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поддерживает четыре уровня шифрования: низкий, совместимый с клиентом, высокий и соответствующий требованиям FIPS. 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Требуемый уровень шифрования настраивается на сервере.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Низкий уровень: все данные, отправляемые с клиента на сервер, защищены шифрованием на основе максимальной длины ключа, поддерживаемой клиентом.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Совместимость с клиентом: все данные, передаваемые между клиентом и сервером, защищены шифрованием на основе максимальной длины ключа, поддерживаемой клиентом.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Высокий уровень: все данные, передаваемые между клиентом и сервером, защищены шифрованием на основе максимального размера ключа сервера.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FIPS: все данные, передаваемые между клиентом и сервером, защищены с помощью методов шифрования, соответствующих федеральному стандарту обработки информации 140-1.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1D21C1-FA3C-45BD-918C-3C5610939CC1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133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A4D63-4867-5E7E-656B-50D2AE31E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2D4775-E59B-9065-E262-D7EF08445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13F79C-2546-8A08-7886-25B3FF21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734330-F5EE-3A65-F076-11D4F522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7CFFF9-2C6E-9193-3781-E2BF5DAD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5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907D3-665F-03B3-9D82-743E093A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566925-0F74-08D6-AE23-F21E98D4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2D9BF-9BA4-D3E5-E2FD-16549DD2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99E0E6-04F4-68F0-A51F-082C2949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F5DD2-155C-BEF1-EDB7-AE2A89EE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33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A58B0-2475-A234-5D92-EB319E54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DE0B5E-82E2-4301-0A63-873CAB7B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43CA34-65F9-EA7E-2FE0-EB350B0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10B1F8-EFC2-C5EA-DF92-252959FF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CA62E-B125-C3B8-050B-9B9135DB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71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4D474-24FB-BB35-6BE3-43C821B1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F47FF2-3F2F-1239-E1E5-63B1CE098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F0A9E9-591A-412B-F4B6-24BFEEE8F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0A9B05-3400-95B1-EDC6-1A81DB00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98076-48C0-13EC-B58E-BFEBC4D3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50A10C-E49D-98B3-6940-4AD405E8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41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92B8D7-8C24-CD6A-24CF-D85C0264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181D98-F7C9-27CE-8555-5378E187A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9F17AB-0E0B-ACBB-BFCF-5BE6A088A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6D93FB-F317-1E80-E64C-9CCAD73F6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E55B89D-9658-7DE9-5361-72576FF01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7EA6F6-01EB-C735-E5E9-46665356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83236D-2E45-AF9F-29CF-1BCD9E5B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B87952-20E1-F943-D633-B945E5FA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73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97868-701D-0864-3F72-3F73C2F2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5F3226-F8FF-3601-A721-7A516474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1349F6-C9AC-69C4-6CDF-D3FF1E35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CFFC58-6F88-45A3-8863-B3A47E41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07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900B60-5D34-2EAD-75E4-6362B8BB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332A0D-F144-5629-2918-4AC3B2A8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A6117C-A750-E451-61F1-A23F7EAC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87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83CE8-EEFB-3728-C792-33F9B7E8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636B0-2AF6-261A-AF3B-58C48790E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F0DCE7-FD2E-FDFA-834E-AB143A801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6E01CB-A999-3B9A-26C3-3B8B4772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FA5FB6-0ADB-4897-EC89-997C6629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38693E-3582-C76A-F7EA-35626DB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77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3F6F8-06F4-D6FB-FF96-B6343451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6E2142-FBAD-832C-00D7-9093123C0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EED1E1-6746-7122-1FA6-51D8B312A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9B3343-D4C8-9DD4-539E-0C33CF0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6345B8-3F70-71A5-A28A-D66D10F6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00B39C-E10C-6728-7702-E9A288AA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89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9A775-4566-AB37-ECA3-51188645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F404F-7C02-7A06-20E2-BC0FF14B7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CFF75-6691-82BF-F867-D54B7D9E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43EBE1-B8AC-F436-F054-250DD167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9CE126-C0F5-80AD-877D-A8ADA92F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77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1F1B13-0870-5354-FB4A-2A89CBAE6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EC8834-8F73-C9D0-6D17-92DDA90FE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E1AE2-62A4-0FB1-0E68-4CDE1812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D4CF8-25F3-CE9F-E2A2-B13962D4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3A55C-B2DE-1FC1-5699-7C7C183A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99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eb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88E3A-7C7D-A8D5-CA5D-44F5186A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CD909-37F8-6264-EDA4-21FCBDC7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0B4642-4503-07B4-793C-F293B371C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AFF8FD-9F33-62BB-4DE9-EE176E467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EF3BDB-B96E-71C3-64DF-890259AF5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315B88C-F567-7C5A-0BE9-DC77DC1A098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654" y="0"/>
            <a:ext cx="2652346" cy="6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6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D09EB-D310-56F2-2FA2-5E9D4A8E1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Протокол SSH</a:t>
            </a:r>
            <a:r>
              <a:rPr lang="ru-RU"/>
              <a:t>. </a:t>
            </a:r>
            <a:br>
              <a:rPr lang="ru-RU"/>
            </a:br>
            <a:r>
              <a:rPr lang="ru-RU"/>
              <a:t>Протокол RDP.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4C793E-E34E-6099-5764-06CE9A06D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8644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4400" dirty="0">
                <a:solidFill>
                  <a:srgbClr val="00B050"/>
                </a:solidFill>
              </a:rPr>
              <a:t>SSH</a:t>
            </a:r>
            <a:endParaRPr lang="ru-RU" sz="34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599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SSH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Протокол прикладного уровня</a:t>
            </a:r>
          </a:p>
          <a:p>
            <a:pPr marL="0" indent="0" algn="just">
              <a:buNone/>
            </a:pPr>
            <a:r>
              <a:rPr lang="ru-RU" dirty="0"/>
              <a:t>Позволяет:</a:t>
            </a:r>
          </a:p>
          <a:p>
            <a:pPr algn="just"/>
            <a:r>
              <a:rPr lang="ru-RU" dirty="0"/>
              <a:t>Управлять удалённым сервером</a:t>
            </a:r>
          </a:p>
          <a:p>
            <a:pPr algn="just"/>
            <a:r>
              <a:rPr lang="ru-RU" dirty="0"/>
              <a:t>Туннелировать соединения </a:t>
            </a:r>
            <a:r>
              <a:rPr lang="en-US" dirty="0"/>
              <a:t>TCP/IP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ru-RU" dirty="0"/>
              <a:t>Вам, как программистам, никуда не убежать от </a:t>
            </a:r>
            <a:r>
              <a:rPr lang="en-US" dirty="0"/>
              <a:t>SSH. </a:t>
            </a:r>
            <a:r>
              <a:rPr lang="ru-RU" dirty="0"/>
              <a:t>Ваши </a:t>
            </a:r>
            <a:r>
              <a:rPr lang="en-US" dirty="0"/>
              <a:t>web</a:t>
            </a:r>
            <a:r>
              <a:rPr lang="ru-RU" dirty="0"/>
              <a:t>-приложения придётся развёртывать на удалённых серверах. Использовать системы контроля версий и т.д. ….</a:t>
            </a:r>
          </a:p>
        </p:txBody>
      </p:sp>
    </p:spTree>
    <p:extLst>
      <p:ext uri="{BB962C8B-B14F-4D97-AF65-F5344CB8AC3E}">
        <p14:creationId xmlns:p14="http://schemas.microsoft.com/office/powerpoint/2010/main" val="249092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SSH – </a:t>
            </a:r>
            <a:r>
              <a:rPr lang="ru-RU" dirty="0"/>
              <a:t>Установка соединения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/>
            </a:pPr>
            <a:r>
              <a:rPr lang="ru-RU" dirty="0"/>
              <a:t>Установка соединения между клиентом и сервером по протоколу </a:t>
            </a:r>
            <a:r>
              <a:rPr lang="en-US" dirty="0"/>
              <a:t>TCP/IP</a:t>
            </a:r>
            <a:r>
              <a:rPr lang="ru-RU" dirty="0"/>
              <a:t>. Из коробки </a:t>
            </a:r>
            <a:r>
              <a:rPr lang="en-US" dirty="0" err="1"/>
              <a:t>ssh</a:t>
            </a:r>
            <a:r>
              <a:rPr lang="ru-RU" dirty="0"/>
              <a:t>-</a:t>
            </a:r>
            <a:r>
              <a:rPr lang="en-US" dirty="0"/>
              <a:t>server </a:t>
            </a:r>
            <a:r>
              <a:rPr lang="ru-RU" dirty="0"/>
              <a:t>крутится на порту 22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ru-RU" dirty="0"/>
              <a:t>Создаётся защищённый канал</a:t>
            </a:r>
          </a:p>
          <a:p>
            <a:pPr marL="971550" lvl="1" indent="-514350" algn="just">
              <a:buFont typeface="+mj-lt"/>
              <a:buAutoNum type="arabicParenR"/>
            </a:pPr>
            <a:r>
              <a:rPr lang="ru-RU" dirty="0"/>
              <a:t>Клиент и сервер обмениваются версиями протоколов (необходима совместимость… Мы уже с вами об этом говорили)</a:t>
            </a:r>
          </a:p>
          <a:p>
            <a:pPr marL="971550" lvl="1" indent="-514350" algn="just">
              <a:buFont typeface="+mj-lt"/>
              <a:buAutoNum type="arabicParenR"/>
            </a:pPr>
            <a:r>
              <a:rPr lang="ru-RU" dirty="0"/>
              <a:t>Происходит выбор алгоритмов: </a:t>
            </a:r>
          </a:p>
          <a:p>
            <a:pPr lvl="2" algn="just"/>
            <a:r>
              <a:rPr lang="ru-RU" dirty="0"/>
              <a:t>Обмена ключами</a:t>
            </a:r>
          </a:p>
          <a:p>
            <a:pPr lvl="2" algn="just"/>
            <a:r>
              <a:rPr lang="ru-RU" dirty="0"/>
              <a:t>Шифрования</a:t>
            </a:r>
          </a:p>
          <a:p>
            <a:pPr lvl="2" algn="just"/>
            <a:r>
              <a:rPr lang="ru-RU" dirty="0"/>
              <a:t>Сжатия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ru-RU" dirty="0"/>
              <a:t>Получение сессионного ключа шифрования</a:t>
            </a:r>
          </a:p>
          <a:p>
            <a:pPr lvl="2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1925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SSH – </a:t>
            </a:r>
            <a:r>
              <a:rPr lang="ru-RU" dirty="0"/>
              <a:t>Установка соединения</a:t>
            </a:r>
            <a:br>
              <a:rPr lang="ru-RU" dirty="0"/>
            </a:br>
            <a:r>
              <a:rPr lang="ru-RU" dirty="0"/>
              <a:t>Процесс получения ключа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Сервер отсылает клиенту свой ключ. Далее всё зависит от того устанавливалось ли ранее соединение. Мы рассматриваем ситуацию, что соединение ранее не устанавливалось.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Пользователь отвечает на вопрос: доверяет ли он этому серверу и полученному ключу? Если ответ отрицательный, то на этом этапе процесс прерывается и соединение разрывается.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Далее с помощью алгоритма </a:t>
            </a:r>
            <a:r>
              <a:rPr lang="ru-RU" dirty="0" err="1"/>
              <a:t>Диффи-Хеллмана</a:t>
            </a:r>
            <a:r>
              <a:rPr lang="ru-RU" dirty="0"/>
              <a:t> происходит выработка сеансового ключа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2838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SSH – </a:t>
            </a:r>
            <a:r>
              <a:rPr lang="ru-RU" dirty="0"/>
              <a:t>Установка соединения</a:t>
            </a:r>
            <a:br>
              <a:rPr lang="ru-RU" dirty="0"/>
            </a:br>
            <a:r>
              <a:rPr lang="ru-RU" dirty="0"/>
              <a:t>Аутентификация клиента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Аутентификация может быть по паролю или по открытому ключу. С паролем всё ясно. Разберёмся с ключами. </a:t>
            </a:r>
          </a:p>
          <a:p>
            <a:pPr marL="0" indent="0">
              <a:buNone/>
            </a:pPr>
            <a:r>
              <a:rPr lang="ru-RU" dirty="0"/>
              <a:t>На текущем этапе мы общаемся с сервером в «защищённом режиме», но он ещё ничего не знает о том, какой именно пользователь будет к нему подключаться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9247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SSH – </a:t>
            </a:r>
            <a:r>
              <a:rPr lang="ru-RU" dirty="0"/>
              <a:t>Установка соединения</a:t>
            </a:r>
            <a:br>
              <a:rPr lang="ru-RU" dirty="0"/>
            </a:br>
            <a:r>
              <a:rPr lang="ru-RU" dirty="0"/>
              <a:t>Аутентификация клиента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Клиент отсылает серверу имя пользователя (</a:t>
            </a:r>
            <a:r>
              <a:rPr lang="ru-RU" dirty="0" err="1"/>
              <a:t>username</a:t>
            </a:r>
            <a:r>
              <a:rPr lang="ru-RU" dirty="0"/>
              <a:t>) и свой публичный ключ.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Сервер проверяет в файле /</a:t>
            </a:r>
            <a:r>
              <a:rPr lang="ru-RU" dirty="0" err="1"/>
              <a:t>home</a:t>
            </a:r>
            <a:r>
              <a:rPr lang="ru-RU" dirty="0"/>
              <a:t>/</a:t>
            </a:r>
            <a:r>
              <a:rPr lang="ru-RU" dirty="0" err="1"/>
              <a:t>username</a:t>
            </a:r>
            <a:r>
              <a:rPr lang="ru-RU" dirty="0"/>
              <a:t>/.</a:t>
            </a:r>
            <a:r>
              <a:rPr lang="ru-RU" dirty="0" err="1"/>
              <a:t>ssh</a:t>
            </a:r>
            <a:r>
              <a:rPr lang="ru-RU" dirty="0"/>
              <a:t>/</a:t>
            </a:r>
            <a:r>
              <a:rPr lang="ru-RU" dirty="0" err="1"/>
              <a:t>authorized_keys</a:t>
            </a:r>
            <a:r>
              <a:rPr lang="ru-RU" dirty="0"/>
              <a:t> наличие присланного клиентом открытого ключа. Если открытый ключ найден, то сервер генерирует случайное число и шифрует его открытым ключом клиента, после чего результат отправляется клиенту.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9814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SSH – </a:t>
            </a:r>
            <a:r>
              <a:rPr lang="ru-RU" dirty="0"/>
              <a:t>Установка соединения</a:t>
            </a:r>
            <a:br>
              <a:rPr lang="ru-RU" dirty="0"/>
            </a:br>
            <a:r>
              <a:rPr lang="ru-RU" dirty="0"/>
              <a:t>Аутентификация клиента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 startAt="3"/>
            </a:pPr>
            <a:r>
              <a:rPr lang="ru-RU" dirty="0"/>
              <a:t>Клиент расшифровывает сообщение своим приватным ключом и отправляет результат серверу.</a:t>
            </a:r>
          </a:p>
          <a:p>
            <a:pPr marL="514350" indent="-514350" algn="just">
              <a:buFont typeface="+mj-lt"/>
              <a:buAutoNum type="arabicParenR" startAt="3"/>
            </a:pPr>
            <a:r>
              <a:rPr lang="ru-RU" dirty="0"/>
              <a:t>Сервер проверяет полученный результат на совпадение с тем числом, которое он изначально зашифровал открытым ключом клиента, и в случае совпадения считает аутентификацию успешной.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На текущем этапе мы успешно прошли процедуру аутентификации</a:t>
            </a:r>
          </a:p>
        </p:txBody>
      </p:sp>
    </p:spTree>
    <p:extLst>
      <p:ext uri="{BB962C8B-B14F-4D97-AF65-F5344CB8AC3E}">
        <p14:creationId xmlns:p14="http://schemas.microsoft.com/office/powerpoint/2010/main" val="1805508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SSH – </a:t>
            </a:r>
            <a:r>
              <a:rPr lang="ru-RU" dirty="0"/>
              <a:t>Установка соединения</a:t>
            </a:r>
            <a:br>
              <a:rPr lang="ru-RU" dirty="0"/>
            </a:br>
            <a:r>
              <a:rPr lang="ru-RU" dirty="0"/>
              <a:t>Аутентификация клиента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Тоже самое, но уже в картинке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94" y="2735102"/>
            <a:ext cx="10539806" cy="253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74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Генерация ключа</a:t>
            </a:r>
            <a:br>
              <a:rPr lang="ru-RU" dirty="0"/>
            </a:br>
            <a:r>
              <a:rPr lang="en-US" b="1" i="1" dirty="0" err="1">
                <a:solidFill>
                  <a:srgbClr val="00B050"/>
                </a:solidFill>
              </a:rPr>
              <a:t>ssh-keygen</a:t>
            </a:r>
            <a:endParaRPr lang="ru-RU" b="1" i="1" dirty="0">
              <a:solidFill>
                <a:srgbClr val="00B050"/>
              </a:solidFill>
            </a:endParaRPr>
          </a:p>
        </p:txBody>
      </p:sp>
      <p:pic>
        <p:nvPicPr>
          <p:cNvPr id="1026" name="Picture 2" descr="https://linuxhint.com/wp-content/uploads/2020/09/word-image-657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633" y="1825625"/>
            <a:ext cx="750673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426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Где находятся ключи?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00B050"/>
                </a:solidFill>
              </a:rPr>
              <a:t>~/.</a:t>
            </a:r>
            <a:r>
              <a:rPr lang="ru-RU" b="1" dirty="0" err="1">
                <a:solidFill>
                  <a:srgbClr val="00B050"/>
                </a:solidFill>
              </a:rPr>
              <a:t>ssh</a:t>
            </a:r>
            <a:r>
              <a:rPr lang="ru-RU" b="1" dirty="0">
                <a:solidFill>
                  <a:srgbClr val="00B050"/>
                </a:solidFill>
              </a:rPr>
              <a:t>/id_rsa.pub</a:t>
            </a:r>
            <a:r>
              <a:rPr lang="ru-RU" dirty="0"/>
              <a:t> — открытый ключ. Его копируют на сервера, куда нужно получить доступ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00B050"/>
                </a:solidFill>
              </a:rPr>
              <a:t>~/.</a:t>
            </a:r>
            <a:r>
              <a:rPr lang="ru-RU" b="1" dirty="0" err="1">
                <a:solidFill>
                  <a:srgbClr val="00B050"/>
                </a:solidFill>
              </a:rPr>
              <a:t>ssh</a:t>
            </a:r>
            <a:r>
              <a:rPr lang="ru-RU" b="1" dirty="0">
                <a:solidFill>
                  <a:srgbClr val="00B050"/>
                </a:solidFill>
              </a:rPr>
              <a:t>/</a:t>
            </a:r>
            <a:r>
              <a:rPr lang="ru-RU" b="1" dirty="0" err="1">
                <a:solidFill>
                  <a:srgbClr val="00B050"/>
                </a:solidFill>
              </a:rPr>
              <a:t>id_rsa</a:t>
            </a:r>
            <a:r>
              <a:rPr lang="ru-RU" dirty="0"/>
              <a:t> — закрытый ключ. Его нельзя никому показывать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061915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Вход на сервер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Создать на сервере пользователя, под которым мы будем работать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dirty="0"/>
              <a:t> </a:t>
            </a:r>
            <a:r>
              <a:rPr lang="en-US" b="1" dirty="0">
                <a:solidFill>
                  <a:srgbClr val="00B050"/>
                </a:solidFill>
              </a:rPr>
              <a:t>~/.</a:t>
            </a:r>
            <a:r>
              <a:rPr lang="en-US" b="1" dirty="0" err="1">
                <a:solidFill>
                  <a:srgbClr val="00B050"/>
                </a:solidFill>
              </a:rPr>
              <a:t>ssh</a:t>
            </a:r>
            <a:r>
              <a:rPr lang="en-US" b="1" dirty="0">
                <a:solidFill>
                  <a:srgbClr val="00B050"/>
                </a:solidFill>
              </a:rPr>
              <a:t>/</a:t>
            </a:r>
            <a:r>
              <a:rPr lang="en-US" b="1" dirty="0" err="1">
                <a:solidFill>
                  <a:srgbClr val="00B050"/>
                </a:solidFill>
              </a:rPr>
              <a:t>authorized_keys</a:t>
            </a:r>
            <a:r>
              <a:rPr lang="ru-RU" b="1" dirty="0">
                <a:solidFill>
                  <a:srgbClr val="00B050"/>
                </a:solidFill>
              </a:rPr>
              <a:t> </a:t>
            </a:r>
            <a:r>
              <a:rPr lang="ru-RU" b="1" dirty="0"/>
              <a:t>- положить в эту папку, расположенную на сервере, открытый ключ пользователя, который вы создали на локальной машине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Отключить вход по пароля для пользователя на сервере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00B050"/>
                </a:solidFill>
              </a:rPr>
              <a:t>Теперь вы сможете войти на сервер только с помощью вашей пары сгенерированных ключей</a:t>
            </a:r>
          </a:p>
        </p:txBody>
      </p:sp>
    </p:spTree>
    <p:extLst>
      <p:ext uri="{BB962C8B-B14F-4D97-AF65-F5344CB8AC3E}">
        <p14:creationId xmlns:p14="http://schemas.microsoft.com/office/powerpoint/2010/main" val="1401842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Как скопировать ключ на сервер?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Скопировать открытый ключ на </a:t>
            </a:r>
            <a:r>
              <a:rPr lang="ru-RU" dirty="0" err="1"/>
              <a:t>флешку</a:t>
            </a:r>
            <a:r>
              <a:rPr lang="ru-RU" dirty="0"/>
              <a:t> и отдать вашему администратору удалённого сервера</a:t>
            </a:r>
          </a:p>
          <a:p>
            <a:r>
              <a:rPr lang="ru-RU" dirty="0"/>
              <a:t>Скопировать самому ключ на сервер. Первый вход на сервер будет осуществлён с помощью пароля – сервер ещё ничего не знает об ваших сгенерированных ключах</a:t>
            </a:r>
          </a:p>
          <a:p>
            <a:pPr marL="0" indent="0">
              <a:buNone/>
            </a:pPr>
            <a:r>
              <a:rPr lang="ru-RU" dirty="0"/>
              <a:t>Команда </a:t>
            </a:r>
            <a:r>
              <a:rPr lang="en-US" b="1" dirty="0" err="1">
                <a:solidFill>
                  <a:srgbClr val="00B050"/>
                </a:solidFill>
              </a:rPr>
              <a:t>ssh</a:t>
            </a:r>
            <a:r>
              <a:rPr lang="en-US" b="1" dirty="0">
                <a:solidFill>
                  <a:srgbClr val="00B050"/>
                </a:solidFill>
              </a:rPr>
              <a:t>-copy-id </a:t>
            </a:r>
            <a:r>
              <a:rPr lang="en-US" b="1" dirty="0" err="1">
                <a:solidFill>
                  <a:srgbClr val="00B050"/>
                </a:solidFill>
              </a:rPr>
              <a:t>user@server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386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Ключ сервера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При первом входе на сервер вас спрашивают: доверяете ли вы ключу сервера? </a:t>
            </a:r>
          </a:p>
          <a:p>
            <a:pPr algn="just"/>
            <a:r>
              <a:rPr lang="ru-RU" dirty="0">
                <a:solidFill>
                  <a:srgbClr val="00B050"/>
                </a:solidFill>
              </a:rPr>
              <a:t>Да, тогда ключ сохраняется в файл </a:t>
            </a:r>
            <a:r>
              <a:rPr lang="en-US" b="1" dirty="0">
                <a:solidFill>
                  <a:srgbClr val="00B050"/>
                </a:solidFill>
              </a:rPr>
              <a:t>~/.</a:t>
            </a:r>
            <a:r>
              <a:rPr lang="en-US" b="1" dirty="0" err="1">
                <a:solidFill>
                  <a:srgbClr val="00B050"/>
                </a:solidFill>
              </a:rPr>
              <a:t>ssh</a:t>
            </a:r>
            <a:r>
              <a:rPr lang="en-US" b="1" dirty="0">
                <a:solidFill>
                  <a:srgbClr val="00B050"/>
                </a:solidFill>
              </a:rPr>
              <a:t>/</a:t>
            </a:r>
            <a:r>
              <a:rPr lang="en-US" b="1" dirty="0" err="1">
                <a:solidFill>
                  <a:srgbClr val="00B050"/>
                </a:solidFill>
              </a:rPr>
              <a:t>known_hosts</a:t>
            </a:r>
            <a:endParaRPr lang="ru-RU" b="1" dirty="0">
              <a:solidFill>
                <a:srgbClr val="00B050"/>
              </a:solidFill>
            </a:endParaRPr>
          </a:p>
          <a:p>
            <a:pPr algn="just"/>
            <a:r>
              <a:rPr lang="ru-RU" dirty="0">
                <a:solidFill>
                  <a:srgbClr val="FF0000"/>
                </a:solidFill>
              </a:rPr>
              <a:t>Нет, тогда соединение закрывается и вы заканчиваете процедуру входа так и не войдя на сервер</a:t>
            </a:r>
          </a:p>
        </p:txBody>
      </p:sp>
    </p:spTree>
    <p:extLst>
      <p:ext uri="{BB962C8B-B14F-4D97-AF65-F5344CB8AC3E}">
        <p14:creationId xmlns:p14="http://schemas.microsoft.com/office/powerpoint/2010/main" val="4228837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Следующий вход на сервер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Идёт проверка ключа, который прислал сервер, с ключом сервера, который вы сохранили ранее</a:t>
            </a:r>
          </a:p>
          <a:p>
            <a:pPr lvl="1" algn="just"/>
            <a:r>
              <a:rPr lang="ru-RU" dirty="0">
                <a:solidFill>
                  <a:srgbClr val="00B050"/>
                </a:solidFill>
              </a:rPr>
              <a:t>Если ключи совпадают, то вы продолжаете процедуру входа</a:t>
            </a:r>
          </a:p>
          <a:p>
            <a:pPr lvl="1" algn="just"/>
            <a:r>
              <a:rPr lang="ru-RU" dirty="0">
                <a:solidFill>
                  <a:srgbClr val="FF0000"/>
                </a:solidFill>
              </a:rPr>
              <a:t>Если ключи разные, то </a:t>
            </a:r>
            <a:r>
              <a:rPr lang="en-US" dirty="0" err="1">
                <a:solidFill>
                  <a:srgbClr val="FF0000"/>
                </a:solidFill>
              </a:rPr>
              <a:t>ssh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звонит во все колокола и сообщает вам, что что-то здесь не так</a:t>
            </a:r>
          </a:p>
          <a:p>
            <a:pPr lvl="2" algn="just"/>
            <a:r>
              <a:rPr lang="ru-RU" dirty="0"/>
              <a:t>Если с сервером всё хорошо, то убедитесь, что вы подключаетесь на нужный сервер – такое часто бывает в локальных сетях</a:t>
            </a:r>
          </a:p>
          <a:p>
            <a:pPr lvl="2" algn="just"/>
            <a:r>
              <a:rPr lang="ru-RU" dirty="0"/>
              <a:t>Если всё-таки сервер тот, а вопли </a:t>
            </a:r>
            <a:r>
              <a:rPr lang="en-US" dirty="0" err="1"/>
              <a:t>ssh</a:t>
            </a:r>
            <a:r>
              <a:rPr lang="en-US" dirty="0"/>
              <a:t> </a:t>
            </a:r>
            <a:r>
              <a:rPr lang="ru-RU" dirty="0"/>
              <a:t>никуда не делись, то возможно следующее:</a:t>
            </a:r>
          </a:p>
          <a:p>
            <a:pPr lvl="3" algn="just"/>
            <a:r>
              <a:rPr lang="ru-RU" dirty="0"/>
              <a:t>Сервер пытаются подменить</a:t>
            </a:r>
          </a:p>
          <a:p>
            <a:pPr lvl="3" algn="just"/>
            <a:r>
              <a:rPr lang="ru-RU" dirty="0"/>
              <a:t>Рухнул старый сервер</a:t>
            </a:r>
          </a:p>
          <a:p>
            <a:pPr marL="1371600" lvl="3" indent="0" algn="just">
              <a:buNone/>
            </a:pPr>
            <a:r>
              <a:rPr lang="ru-RU" dirty="0">
                <a:solidFill>
                  <a:srgbClr val="00B0F0"/>
                </a:solidFill>
              </a:rPr>
              <a:t>Единственный правильный вариант не входить по паролю и начать выяснение причин</a:t>
            </a:r>
          </a:p>
        </p:txBody>
      </p:sp>
    </p:spTree>
    <p:extLst>
      <p:ext uri="{BB962C8B-B14F-4D97-AF65-F5344CB8AC3E}">
        <p14:creationId xmlns:p14="http://schemas.microsoft.com/office/powerpoint/2010/main" val="142487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Где сервер хранит свои ключи?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600" b="1" dirty="0"/>
              <a:t>/</a:t>
            </a:r>
            <a:r>
              <a:rPr lang="en-US" sz="3600" b="1" dirty="0" err="1"/>
              <a:t>etc</a:t>
            </a:r>
            <a:r>
              <a:rPr lang="en-US" sz="3600" b="1" dirty="0"/>
              <a:t>/</a:t>
            </a:r>
            <a:r>
              <a:rPr lang="en-US" sz="3600" b="1" dirty="0" err="1"/>
              <a:t>ssh</a:t>
            </a:r>
            <a:r>
              <a:rPr lang="en-US" sz="3600" b="1" dirty="0"/>
              <a:t>/</a:t>
            </a:r>
            <a:r>
              <a:rPr lang="en-US" sz="3600" b="1" dirty="0" err="1"/>
              <a:t>ssh_host_rsa_key</a:t>
            </a:r>
            <a:r>
              <a:rPr lang="ru-RU" sz="3600" b="1" dirty="0"/>
              <a:t> – </a:t>
            </a:r>
            <a:r>
              <a:rPr lang="ru-RU" sz="3600" dirty="0"/>
              <a:t>закрытый ключ</a:t>
            </a:r>
          </a:p>
          <a:p>
            <a:pPr marL="0" indent="0" algn="just">
              <a:buNone/>
            </a:pPr>
            <a:r>
              <a:rPr lang="ru-RU" sz="3600" b="1" dirty="0"/>
              <a:t>/</a:t>
            </a:r>
            <a:r>
              <a:rPr lang="en-US" sz="3600" b="1" dirty="0" err="1"/>
              <a:t>etc</a:t>
            </a:r>
            <a:r>
              <a:rPr lang="en-US" sz="3600" b="1" dirty="0"/>
              <a:t>/</a:t>
            </a:r>
            <a:r>
              <a:rPr lang="en-US" sz="3600" b="1" dirty="0" err="1"/>
              <a:t>ssh</a:t>
            </a:r>
            <a:r>
              <a:rPr lang="en-US" sz="3600" b="1" dirty="0"/>
              <a:t>/ssh_host_rsa_key.pub</a:t>
            </a:r>
            <a:r>
              <a:rPr lang="ru-RU" sz="3600" b="1" dirty="0"/>
              <a:t> – </a:t>
            </a:r>
            <a:r>
              <a:rPr lang="ru-RU" sz="3600" dirty="0"/>
              <a:t>открытый ключ</a:t>
            </a:r>
          </a:p>
          <a:p>
            <a:pPr marL="0" indent="0" algn="just">
              <a:buNone/>
            </a:pPr>
            <a:r>
              <a:rPr lang="ru-RU" sz="3600" dirty="0"/>
              <a:t>Бывает такое, что старый сервер пал смертью храбрых (</a:t>
            </a:r>
            <a:r>
              <a:rPr lang="ru-RU" sz="3600" dirty="0" err="1"/>
              <a:t>планово</a:t>
            </a:r>
            <a:r>
              <a:rPr lang="ru-RU" sz="3600" dirty="0"/>
              <a:t> или нет), а пользователей скопировать надо. Эти ключи надо будет скопировать на новый сервер и создать тех же пользователей и </a:t>
            </a:r>
            <a:r>
              <a:rPr lang="ru-RU" sz="3600" dirty="0" err="1"/>
              <a:t>тд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516065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Копирование файлов с помощью </a:t>
            </a:r>
            <a:r>
              <a:rPr lang="en-US" dirty="0" err="1"/>
              <a:t>ssh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>
                <a:solidFill>
                  <a:srgbClr val="00B0F0"/>
                </a:solidFill>
              </a:rPr>
              <a:t>scp</a:t>
            </a:r>
            <a:r>
              <a:rPr lang="en-US" dirty="0">
                <a:solidFill>
                  <a:srgbClr val="00B0F0"/>
                </a:solidFill>
              </a:rPr>
              <a:t> path/</a:t>
            </a:r>
            <a:r>
              <a:rPr lang="en-US" dirty="0" err="1">
                <a:solidFill>
                  <a:srgbClr val="00B0F0"/>
                </a:solidFill>
              </a:rPr>
              <a:t>myfile</a:t>
            </a:r>
            <a:r>
              <a:rPr lang="en-US" dirty="0">
                <a:solidFill>
                  <a:srgbClr val="00B0F0"/>
                </a:solidFill>
              </a:rPr>
              <a:t> user@8.8.8.8:/full/path/to/new/location/ </a:t>
            </a:r>
            <a:r>
              <a:rPr lang="en-US" dirty="0"/>
              <a:t>- </a:t>
            </a:r>
            <a:r>
              <a:rPr lang="ru-RU" dirty="0"/>
              <a:t>скопировали файл с локального компьютера на удалённый сервер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00B0F0"/>
                </a:solidFill>
              </a:rPr>
              <a:t>scp</a:t>
            </a:r>
            <a:r>
              <a:rPr lang="en-US" dirty="0">
                <a:solidFill>
                  <a:srgbClr val="00B0F0"/>
                </a:solidFill>
              </a:rPr>
              <a:t> user@8.8.8.8:/full/path/to/file /path/to/put/here</a:t>
            </a:r>
            <a:r>
              <a:rPr lang="ru-RU" dirty="0">
                <a:solidFill>
                  <a:srgbClr val="00B0F0"/>
                </a:solidFill>
              </a:rPr>
              <a:t> </a:t>
            </a:r>
            <a:r>
              <a:rPr lang="ru-RU" dirty="0"/>
              <a:t>- скопировали файл с удалённого сервера к себе на компьютер</a:t>
            </a:r>
            <a:endParaRPr lang="ru-R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935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4000" dirty="0"/>
              <a:t>Монтирование </a:t>
            </a:r>
            <a:br>
              <a:rPr lang="ru-RU" sz="4000" dirty="0"/>
            </a:br>
            <a:r>
              <a:rPr lang="ru-RU" sz="4000" dirty="0"/>
              <a:t>удалённой файловой системы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На помощью нам приходит утилита: </a:t>
            </a:r>
            <a:r>
              <a:rPr lang="en-US" dirty="0" err="1"/>
              <a:t>sshfs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ru-RU" dirty="0"/>
              <a:t>Эта утилита позволяет </a:t>
            </a:r>
            <a:r>
              <a:rPr lang="ru-RU" dirty="0" err="1"/>
              <a:t>примонтировать</a:t>
            </a:r>
            <a:r>
              <a:rPr lang="ru-RU" dirty="0"/>
              <a:t> файловую систему удалённого сервера к себе на компьютер. При этом сервер должен поддерживать </a:t>
            </a:r>
            <a:r>
              <a:rPr lang="en-US" dirty="0"/>
              <a:t>FUSE</a:t>
            </a:r>
          </a:p>
          <a:p>
            <a:pPr marL="0" indent="0" algn="just">
              <a:buNone/>
            </a:pPr>
            <a:r>
              <a:rPr lang="ru-RU" dirty="0"/>
              <a:t>Модуль </a:t>
            </a:r>
            <a:r>
              <a:rPr lang="ru-RU" dirty="0" err="1"/>
              <a:t>fuse</a:t>
            </a:r>
            <a:r>
              <a:rPr lang="ru-RU" dirty="0"/>
              <a:t> позволяет «экспортировать» запросы к файловой системе из ядра обратно в </a:t>
            </a:r>
            <a:r>
              <a:rPr lang="ru-RU" dirty="0" err="1"/>
              <a:t>userspace</a:t>
            </a:r>
            <a:r>
              <a:rPr lang="ru-RU" dirty="0"/>
              <a:t> к соответствующей программе.</a:t>
            </a:r>
          </a:p>
        </p:txBody>
      </p:sp>
    </p:spTree>
    <p:extLst>
      <p:ext uri="{BB962C8B-B14F-4D97-AF65-F5344CB8AC3E}">
        <p14:creationId xmlns:p14="http://schemas.microsoft.com/office/powerpoint/2010/main" val="2721092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Как выглядит монтирование </a:t>
            </a:r>
            <a:br>
              <a:rPr lang="ru-RU" dirty="0"/>
            </a:br>
            <a:r>
              <a:rPr lang="ru-RU" dirty="0"/>
              <a:t>удалённой файловой системы?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6468" y="1798410"/>
            <a:ext cx="7259063" cy="1066949"/>
          </a:xfrm>
          <a:prstGeom prst="rect">
            <a:avLst/>
          </a:prstGeom>
        </p:spPr>
      </p:pic>
      <p:pic>
        <p:nvPicPr>
          <p:cNvPr id="2050" name="Picture 2" descr="https://habrastorage.org/r/w1560/getpro/habr/post_images/75c/2b5/e5a/75c2b5e5ab213271ae7bcd828c2f21a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849" y="2973081"/>
            <a:ext cx="4414300" cy="363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832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Удалённое выполнение команд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ssh</a:t>
            </a:r>
            <a:r>
              <a:rPr lang="en-US" dirty="0"/>
              <a:t> </a:t>
            </a:r>
            <a:r>
              <a:rPr lang="ru-RU" dirty="0"/>
              <a:t>позволяет вам выполнить команду на удалённом сервер и сразу закрыть соединение</a:t>
            </a:r>
          </a:p>
          <a:p>
            <a:pPr marL="0" indent="0" algn="just">
              <a:buNone/>
            </a:pPr>
            <a:r>
              <a:rPr lang="ru-RU" dirty="0"/>
              <a:t>Пример: </a:t>
            </a:r>
            <a:r>
              <a:rPr lang="en-US" dirty="0" err="1">
                <a:solidFill>
                  <a:srgbClr val="00B0F0"/>
                </a:solidFill>
              </a:rPr>
              <a:t>ssh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user@server</a:t>
            </a:r>
            <a:r>
              <a:rPr lang="en-US" dirty="0">
                <a:solidFill>
                  <a:srgbClr val="00B0F0"/>
                </a:solidFill>
              </a:rPr>
              <a:t> ls /</a:t>
            </a:r>
            <a:r>
              <a:rPr lang="en-US" dirty="0" err="1">
                <a:solidFill>
                  <a:srgbClr val="00B0F0"/>
                </a:solidFill>
              </a:rPr>
              <a:t>etc</a:t>
            </a:r>
            <a:r>
              <a:rPr lang="en-US" dirty="0">
                <a:solidFill>
                  <a:srgbClr val="00B0F0"/>
                </a:solidFill>
              </a:rPr>
              <a:t>/</a:t>
            </a:r>
            <a:endParaRPr lang="ru-R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852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err="1"/>
              <a:t>Алиасы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~/.</a:t>
            </a:r>
            <a:r>
              <a:rPr lang="en-US" b="1" dirty="0" err="1"/>
              <a:t>ssh</a:t>
            </a:r>
            <a:r>
              <a:rPr lang="en-US" b="1" dirty="0"/>
              <a:t>/</a:t>
            </a:r>
            <a:r>
              <a:rPr lang="en-US" b="1" dirty="0" err="1"/>
              <a:t>config</a:t>
            </a:r>
            <a:endParaRPr lang="ru-RU" b="1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6" y="2325723"/>
            <a:ext cx="7144747" cy="239110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732" y="4999160"/>
            <a:ext cx="5258534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82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RDP</a:t>
            </a:r>
            <a:r>
              <a:rPr lang="ru-RU" dirty="0"/>
              <a:t> – </a:t>
            </a:r>
            <a:r>
              <a:rPr lang="en-US" dirty="0"/>
              <a:t>Remote Desktop Protocol</a:t>
            </a:r>
            <a:endParaRPr lang="ru-RU" dirty="0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52" y="1825625"/>
            <a:ext cx="932429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438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RDP</a:t>
            </a:r>
            <a:br>
              <a:rPr lang="en-US" dirty="0"/>
            </a:br>
            <a:r>
              <a:rPr lang="ru-RU" dirty="0"/>
              <a:t>Особенности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Поддержка 32-битного цвета</a:t>
            </a:r>
            <a:r>
              <a:rPr lang="en-US" dirty="0"/>
              <a:t>;</a:t>
            </a:r>
            <a:endParaRPr lang="ru-RU" dirty="0"/>
          </a:p>
          <a:p>
            <a:pPr algn="just"/>
            <a:r>
              <a:rPr lang="ru-RU" dirty="0"/>
              <a:t>Звук с удалённого ПК переадресовывается и воспроизводится на локальном компьютере;</a:t>
            </a:r>
          </a:p>
          <a:p>
            <a:pPr algn="just"/>
            <a:r>
              <a:rPr lang="ru-RU" dirty="0"/>
              <a:t>Позволяет подключать локальные ресурсы к удалённой машине (</a:t>
            </a:r>
            <a:r>
              <a:rPr lang="ru-RU" dirty="0" err="1"/>
              <a:t>mapping</a:t>
            </a:r>
            <a:r>
              <a:rPr lang="ru-RU" dirty="0"/>
              <a:t>);</a:t>
            </a:r>
          </a:p>
          <a:p>
            <a:pPr algn="just"/>
            <a:r>
              <a:rPr lang="ru-RU" dirty="0"/>
              <a:t>Позволяет использовать локальный или сетевой принтеры на удалённом ПК;</a:t>
            </a:r>
          </a:p>
          <a:p>
            <a:pPr algn="just"/>
            <a:r>
              <a:rPr lang="ru-RU" dirty="0"/>
              <a:t>Позволяет приложениям, выполняющимся в пределах текущего сеанса, обращаться к локальным последовательным и параллельным портам;</a:t>
            </a:r>
          </a:p>
          <a:p>
            <a:pPr algn="just"/>
            <a:r>
              <a:rPr lang="ru-RU" dirty="0"/>
              <a:t>Можно обмениваться информацией через буфер обмена.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7110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Требования к паролю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Пароль должен содержать не менее 8 символов.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Ограничение на максимальную длину пароля должно быть не менее 64 символов.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Как минимум одна заглавная и одна строчная буква.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Должна быть как минимум 1 цифра.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Допускается наличие следующих символов: ~ ! ? @ # $ % ^ &amp; * _ - + ( ) [ ] { } &gt; &lt; / \ | " ' . , :</a:t>
            </a:r>
          </a:p>
        </p:txBody>
      </p:sp>
    </p:spTree>
    <p:extLst>
      <p:ext uri="{BB962C8B-B14F-4D97-AF65-F5344CB8AC3E}">
        <p14:creationId xmlns:p14="http://schemas.microsoft.com/office/powerpoint/2010/main" val="2507491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Требования к паролю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Пароль не должен включать в себя легко вычисляемые сочетания символов (имена, фамилии и т. д.), а также общепринятые сокращения (USER, ADMIN, ALEX и т. д.), пароли от скомпрометированных ресурсов, словарные слова, состоящие из повторяющихся или последовательных символов, контекстно-зависимые слова (имя службы, имя пользователя и производные от него).</a:t>
            </a:r>
          </a:p>
          <a:p>
            <a:pPr algn="just"/>
            <a:r>
              <a:rPr lang="ru-RU" dirty="0"/>
              <a:t>Верификаторы не должны позволять абоненту хранить «подсказку», доступную не аутентифицированному заявителю, а также верификаторы не должны побуждать абонентов использовать определенные типы информации при выборе паролей.</a:t>
            </a:r>
          </a:p>
          <a:p>
            <a:pPr algn="just"/>
            <a:r>
              <a:rPr lang="ru-RU" dirty="0"/>
              <a:t>Верификатор должен принудить изменить пароль, если есть доказательства его компрометации.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7071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470565"/>
            <a:ext cx="10515600" cy="132556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/>
              <a:t>RDP</a:t>
            </a:r>
            <a:br>
              <a:rPr lang="en-US" sz="4000" dirty="0"/>
            </a:br>
            <a:r>
              <a:rPr lang="en-US" sz="4000" dirty="0" err="1"/>
              <a:t>rdp</a:t>
            </a:r>
            <a:r>
              <a:rPr lang="en-US" sz="4000" dirty="0"/>
              <a:t>-</a:t>
            </a:r>
            <a:r>
              <a:rPr lang="en-US" sz="4000" dirty="0" err="1"/>
              <a:t>enum</a:t>
            </a:r>
            <a:r>
              <a:rPr lang="en-US" sz="4000" dirty="0"/>
              <a:t>-encryption – </a:t>
            </a:r>
            <a:r>
              <a:rPr lang="ru-RU" sz="4000" dirty="0"/>
              <a:t>сбор информации</a:t>
            </a:r>
            <a:br>
              <a:rPr lang="en-US" dirty="0"/>
            </a:br>
            <a:endParaRPr lang="ru-RU" dirty="0"/>
          </a:p>
        </p:txBody>
      </p:sp>
      <p:pic>
        <p:nvPicPr>
          <p:cNvPr id="2050" name="Picture 2" descr="https://telegra.ph/file/7bb1978a4a35c81bda924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767" y="1574902"/>
            <a:ext cx="8678463" cy="494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550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Виды атак на </a:t>
            </a:r>
            <a:r>
              <a:rPr lang="en-US" dirty="0"/>
              <a:t>RDP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BruteForce</a:t>
            </a:r>
            <a:r>
              <a:rPr lang="en-US" dirty="0"/>
              <a:t> RDP – </a:t>
            </a:r>
            <a:r>
              <a:rPr lang="ru-RU" dirty="0"/>
              <a:t>полный перебор</a:t>
            </a:r>
          </a:p>
          <a:p>
            <a:pPr algn="just"/>
            <a:r>
              <a:rPr lang="ru-RU" dirty="0" err="1"/>
              <a:t>MitM</a:t>
            </a:r>
            <a:r>
              <a:rPr lang="ru-RU" dirty="0"/>
              <a:t> атака на RDP – злоумышленник выдаёт себя за конечный сервер, а пользователь по незнанию предоставляет правильные учетные данные</a:t>
            </a:r>
          </a:p>
          <a:p>
            <a:pPr algn="just"/>
            <a:r>
              <a:rPr lang="en-US" dirty="0" err="1"/>
              <a:t>BlueKeep</a:t>
            </a:r>
            <a:r>
              <a:rPr lang="en-US" dirty="0"/>
              <a:t> (CVE-2019-0708)</a:t>
            </a:r>
            <a:r>
              <a:rPr lang="ru-RU" dirty="0"/>
              <a:t> – </a:t>
            </a:r>
            <a:r>
              <a:rPr lang="ru-RU" dirty="0" err="1"/>
              <a:t>неаутентифицированный</a:t>
            </a:r>
            <a:r>
              <a:rPr lang="ru-RU" dirty="0"/>
              <a:t> пользователь может удаленно исполнить произвольный код на целевой системе. Уязвимости подвержены старые версии </a:t>
            </a:r>
            <a:r>
              <a:rPr lang="ru-RU" dirty="0" err="1"/>
              <a:t>Windows</a:t>
            </a:r>
            <a:r>
              <a:rPr lang="ru-RU" dirty="0"/>
              <a:t>: начиная с </a:t>
            </a:r>
            <a:r>
              <a:rPr lang="ru-RU" dirty="0" err="1"/>
              <a:t>Windows</a:t>
            </a:r>
            <a:r>
              <a:rPr lang="ru-RU" dirty="0"/>
              <a:t> XP (</a:t>
            </a:r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ru-RU" dirty="0" err="1"/>
              <a:t>Server</a:t>
            </a:r>
            <a:r>
              <a:rPr lang="ru-RU" dirty="0"/>
              <a:t> 2003) и заканчивая </a:t>
            </a:r>
            <a:r>
              <a:rPr lang="ru-RU" dirty="0" err="1"/>
              <a:t>Windows</a:t>
            </a:r>
            <a:r>
              <a:rPr lang="ru-RU" dirty="0"/>
              <a:t> 7 (</a:t>
            </a:r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ru-RU" dirty="0" err="1"/>
              <a:t>Server</a:t>
            </a:r>
            <a:r>
              <a:rPr lang="ru-RU" dirty="0"/>
              <a:t> 2008 R2)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468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Виды атак на </a:t>
            </a:r>
            <a:r>
              <a:rPr lang="en-US" dirty="0"/>
              <a:t>RDP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BlueGate</a:t>
            </a:r>
            <a:r>
              <a:rPr lang="ru-RU" dirty="0"/>
              <a:t> (</a:t>
            </a:r>
            <a:r>
              <a:rPr lang="en-US" dirty="0"/>
              <a:t>CVE-2020-0609/0610</a:t>
            </a:r>
            <a:r>
              <a:rPr lang="ru-RU" dirty="0"/>
              <a:t>) – найдена в </a:t>
            </a:r>
            <a:r>
              <a:rPr lang="en-US" dirty="0"/>
              <a:t>Windows Remote Desktop Gateway в Windows Server (2012, 2012 R2, 2016 и 2019)</a:t>
            </a:r>
            <a:r>
              <a:rPr lang="ru-RU" dirty="0"/>
              <a:t>. Позволяет злоумышленникам посредством RDP и специально созданных запросов осуществлять удаленное выполнение кода на целевой системе.</a:t>
            </a:r>
          </a:p>
          <a:p>
            <a:pPr algn="just"/>
            <a:r>
              <a:rPr lang="en-US" dirty="0"/>
              <a:t>Session Hijacking</a:t>
            </a:r>
            <a:r>
              <a:rPr lang="ru-RU" dirty="0"/>
              <a:t> (Перехват сеанса) — это тип атаки, при котором злоумышленник может получить доступ к активному сеансу, который не доступен злоумышленнику напрямую.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4775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5555</TotalTime>
  <Words>1566</Words>
  <Application>Microsoft Office PowerPoint</Application>
  <PresentationFormat>Широкоэкранный</PresentationFormat>
  <Paragraphs>137</Paragraphs>
  <Slides>28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1" baseType="lpstr">
      <vt:lpstr>Arial</vt:lpstr>
      <vt:lpstr>Calibri</vt:lpstr>
      <vt:lpstr>Тема Office</vt:lpstr>
      <vt:lpstr>Протокол SSH.  Протокол RDP.</vt:lpstr>
      <vt:lpstr>Презентация PowerPoint</vt:lpstr>
      <vt:lpstr>SSH</vt:lpstr>
      <vt:lpstr>SSH – Установка соединения</vt:lpstr>
      <vt:lpstr>SSH – Установка соединения Процесс получения ключа</vt:lpstr>
      <vt:lpstr>SSH – Установка соединения Аутентификация клиента</vt:lpstr>
      <vt:lpstr>SSH – Установка соединения Аутентификация клиента</vt:lpstr>
      <vt:lpstr>SSH – Установка соединения Аутентификация клиента</vt:lpstr>
      <vt:lpstr>SSH – Установка соединения Аутентификация клиента</vt:lpstr>
      <vt:lpstr>Генерация ключа ssh-keygen</vt:lpstr>
      <vt:lpstr>Где находятся ключи?</vt:lpstr>
      <vt:lpstr>Вход на сервер</vt:lpstr>
      <vt:lpstr>Как скопировать ключ на сервер?</vt:lpstr>
      <vt:lpstr>Ключ сервера</vt:lpstr>
      <vt:lpstr>Следующий вход на сервер</vt:lpstr>
      <vt:lpstr>Где сервер хранит свои ключи?</vt:lpstr>
      <vt:lpstr>Копирование файлов с помощью ssh</vt:lpstr>
      <vt:lpstr>Монтирование  удалённой файловой системы</vt:lpstr>
      <vt:lpstr>Как выглядит монтирование  удалённой файловой системы?</vt:lpstr>
      <vt:lpstr>Удалённое выполнение команд</vt:lpstr>
      <vt:lpstr>Алиасы</vt:lpstr>
      <vt:lpstr>RDP – Remote Desktop Protocol</vt:lpstr>
      <vt:lpstr>RDP Особенности</vt:lpstr>
      <vt:lpstr>Требования к паролю</vt:lpstr>
      <vt:lpstr>Требования к паролю</vt:lpstr>
      <vt:lpstr>RDP rdp-enum-encryption – сбор информации </vt:lpstr>
      <vt:lpstr>Виды атак на RDP</vt:lpstr>
      <vt:lpstr>Виды атак на RDP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безопасность</dc:title>
  <dc:creator>porygriu@outlook.com</dc:creator>
  <cp:lastModifiedBy>Иван Петров</cp:lastModifiedBy>
  <cp:revision>168</cp:revision>
  <dcterms:created xsi:type="dcterms:W3CDTF">2023-08-23T15:20:34Z</dcterms:created>
  <dcterms:modified xsi:type="dcterms:W3CDTF">2026-08-26T04:34:52Z</dcterms:modified>
</cp:coreProperties>
</file>