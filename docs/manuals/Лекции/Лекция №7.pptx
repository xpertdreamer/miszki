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67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8" autoAdjust="0"/>
    <p:restoredTop sz="85768" autoAdjust="0"/>
  </p:normalViewPr>
  <p:slideViewPr>
    <p:cSldViewPr snapToGrid="0">
      <p:cViewPr varScale="1">
        <p:scale>
          <a:sx n="74" d="100"/>
          <a:sy n="74" d="100"/>
        </p:scale>
        <p:origin x="13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2E9C8-EA95-44DC-97D6-381D54E0192E}" type="datetimeFigureOut">
              <a:rPr lang="ru-RU" smtClean="0"/>
              <a:t>25.08.2026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D21C1-FA3C-45BD-918C-3C5610939C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37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A4D63-4867-5E7E-656B-50D2AE31E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2D4775-E59B-9065-E262-D7EF08445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13F79C-2546-8A08-7886-25B3FF21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6D0B5-4627-4654-B836-B6EC90072DE6}" type="datetimeFigureOut">
              <a:rPr lang="ru-RU" smtClean="0"/>
              <a:t>25.08.2026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734330-F5EE-3A65-F076-11D4F5223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7CFFF9-2C6E-9193-3781-E2BF5DAD3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DE34-1BEB-4871-8740-9BC4F9DF8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1854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907D3-665F-03B3-9D82-743E093A8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566925-0F74-08D6-AE23-F21E98D49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>
                <a:solidFill>
                  <a:schemeClr val="tx1"/>
                </a:solidFill>
              </a:defRPr>
            </a:lvl1pPr>
            <a:lvl2pPr algn="just">
              <a:defRPr>
                <a:solidFill>
                  <a:schemeClr val="tx1"/>
                </a:solidFill>
              </a:defRPr>
            </a:lvl2pPr>
            <a:lvl3pPr algn="just">
              <a:defRPr>
                <a:solidFill>
                  <a:schemeClr val="tx1"/>
                </a:solidFill>
              </a:defRPr>
            </a:lvl3pPr>
            <a:lvl4pPr algn="just">
              <a:defRPr>
                <a:solidFill>
                  <a:schemeClr val="tx1"/>
                </a:solidFill>
              </a:defRPr>
            </a:lvl4pPr>
            <a:lvl5pPr algn="just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E2D9BF-9BA4-D3E5-E2FD-16549DD25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6D0B5-4627-4654-B836-B6EC90072DE6}" type="datetimeFigureOut">
              <a:rPr lang="ru-RU" smtClean="0"/>
              <a:t>25.08.2026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99E0E6-04F4-68F0-A51F-082C2949A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DF5DD2-155C-BEF1-EDB7-AE2A89EEC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DE34-1BEB-4871-8740-9BC4F9DF8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5339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BA58B0-2475-A234-5D92-EB319E54D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DE0B5E-82E2-4301-0A63-873CAB7B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43CA34-65F9-EA7E-2FE0-EB350B0D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10B1F8-EFC2-C5EA-DF92-252959FFF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ECA62E-B125-C3B8-050B-9B9135DB4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719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A4D474-24FB-BB35-6BE3-43C821B1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F47FF2-3F2F-1239-E1E5-63B1CE098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algn="just">
              <a:defRPr>
                <a:solidFill>
                  <a:schemeClr val="tx1"/>
                </a:solidFill>
              </a:defRPr>
            </a:lvl1pPr>
            <a:lvl2pPr algn="just">
              <a:defRPr>
                <a:solidFill>
                  <a:schemeClr val="tx1"/>
                </a:solidFill>
              </a:defRPr>
            </a:lvl2pPr>
            <a:lvl3pPr algn="just">
              <a:defRPr>
                <a:solidFill>
                  <a:schemeClr val="tx1"/>
                </a:solidFill>
              </a:defRPr>
            </a:lvl3pPr>
            <a:lvl4pPr algn="just">
              <a:defRPr>
                <a:solidFill>
                  <a:schemeClr val="tx1"/>
                </a:solidFill>
              </a:defRPr>
            </a:lvl4pPr>
            <a:lvl5pPr algn="just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F0A9E9-591A-412B-F4B6-24BFEEE8F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algn="just">
              <a:defRPr>
                <a:solidFill>
                  <a:schemeClr val="tx1"/>
                </a:solidFill>
              </a:defRPr>
            </a:lvl1pPr>
            <a:lvl2pPr algn="just">
              <a:defRPr>
                <a:solidFill>
                  <a:schemeClr val="tx1"/>
                </a:solidFill>
              </a:defRPr>
            </a:lvl2pPr>
            <a:lvl3pPr algn="just">
              <a:defRPr>
                <a:solidFill>
                  <a:schemeClr val="tx1"/>
                </a:solidFill>
              </a:defRPr>
            </a:lvl3pPr>
            <a:lvl4pPr algn="just">
              <a:defRPr>
                <a:solidFill>
                  <a:schemeClr val="tx1"/>
                </a:solidFill>
              </a:defRPr>
            </a:lvl4pPr>
            <a:lvl5pPr algn="just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0A9B05-3400-95B1-EDC6-1A81DB005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D98076-48C0-13EC-B58E-BFEBC4D3D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50A10C-E49D-98B3-6940-4AD405E86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41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92B8D7-8C24-CD6A-24CF-D85C02642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181D98-F7C9-27CE-8555-5378E187A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9F17AB-0E0B-ACBB-BFCF-5BE6A088A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36D93FB-F317-1E80-E64C-9CCAD73F6D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E55B89D-9658-7DE9-5361-72576FF01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47EA6F6-01EB-C735-E5E9-466653562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983236D-2E45-AF9F-29CF-1BCD9E5B0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8B87952-20E1-F943-D633-B945E5FAA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2737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D97868-701D-0864-3F72-3F73C2F2F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25F3226-F8FF-3601-A721-7A5164740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C1349F6-C9AC-69C4-6CDF-D3FF1E356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1CFFC58-6F88-45A3-8863-B3A47E41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071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0900B60-5D34-2EAD-75E4-6362B8BB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A332A0D-F144-5629-2918-4AC3B2A87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A6117C-A750-E451-61F1-A23F7EAC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4876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883CE8-EEFB-3728-C792-33F9B7E89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F636B0-2AF6-261A-AF3B-58C48790E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F0DCE7-FD2E-FDFA-834E-AB143A801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6E01CB-A999-3B9A-26C3-3B8B4772C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FA5FB6-0ADB-4897-EC89-997C6629E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38693E-3582-C76A-F7EA-35626DBB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0773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3F6F8-06F4-D6FB-FF96-B63434519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E6E2142-FBAD-832C-00D7-9093123C04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EED1E1-6746-7122-1FA6-51D8B312A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9B3343-D4C8-9DD4-539E-0C33CF07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6345B8-3F70-71A5-A28A-D66D10F6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00B39C-E10C-6728-7702-E9A288AAE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89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09A775-4566-AB37-ECA3-51188645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5F404F-7C02-7A06-20E2-BC0FF14B7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CFF75-6691-82BF-F867-D54B7D9E8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43EBE1-B8AC-F436-F054-250DD167C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9CE126-C0F5-80AD-877D-A8ADA92F1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0776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1F1B13-0870-5354-FB4A-2A89CBAE6E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9EC8834-8F73-C9D0-6D17-92DDA90FE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9E1AE2-62A4-0FB1-0E68-4CDE18121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ED4CF8-25F3-CE9F-E2A2-B13962D4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03A55C-B2DE-1FC1-5699-7C7C183A1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992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eb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A88E3A-7C7D-A8D5-CA5D-44F5186A3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CD909-37F8-6264-EDA4-21FCBDC7B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0B4642-4503-07B4-793C-F293B371C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6D0B5-4627-4654-B836-B6EC90072DE6}" type="datetimeFigureOut">
              <a:rPr lang="ru-RU" smtClean="0"/>
              <a:t>25.08.2026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AFF8FD-9F33-62BB-4DE9-EE176E467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EF3BDB-B96E-71C3-64DF-890259AF5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0DE34-1BEB-4871-8740-9BC4F9DF8F14}" type="slidenum">
              <a:rPr lang="ru-RU" smtClean="0"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315B88C-F567-7C5A-0BE9-DC77DC1A098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654" y="0"/>
            <a:ext cx="2652346" cy="62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863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D09EB-D310-56F2-2FA2-5E9D4A8E1F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Безопасная разработка программного обеспечения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4C793E-E34E-6099-5764-06CE9A06D3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8644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5DC526-002D-7181-21CC-9A42A70C9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РБПО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FC3B76-16A3-91A0-C665-E172B4838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Безопасная разработка программного обеспечения (РБПО)  - это системный подход, при котором вопросы информационной безопасности встраиваются в процесс создания ПО на всех этапах его жизненного цикла: от сбора требований до поддержки после запуска.</a:t>
            </a:r>
          </a:p>
        </p:txBody>
      </p:sp>
    </p:spTree>
    <p:extLst>
      <p:ext uri="{BB962C8B-B14F-4D97-AF65-F5344CB8AC3E}">
        <p14:creationId xmlns:p14="http://schemas.microsoft.com/office/powerpoint/2010/main" val="4238494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CF34AA-268B-59AD-9A3A-0116D3AC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РБПО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E71C01-AABA-C256-7D31-64EA7CA96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РБПО критически важна в следующих случаях:</a:t>
            </a:r>
          </a:p>
          <a:p>
            <a:r>
              <a:rPr lang="ru-RU" dirty="0"/>
              <a:t>обрабатывают персональные или финансовые данные;</a:t>
            </a:r>
          </a:p>
          <a:p>
            <a:r>
              <a:rPr lang="ru-RU" dirty="0"/>
              <a:t>используют облачные сервисы, контейнеры или микросервисы;</a:t>
            </a:r>
          </a:p>
          <a:p>
            <a:r>
              <a:rPr lang="ru-RU" dirty="0"/>
              <a:t>стремятся снизить затраты на исправление ошибок на поздних этапах жизненного цикла ПО.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0124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C8914D-6FB4-D621-D3DC-848C84E53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принципы безопасной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337DAB-C589-81E5-54BA-558A6F642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Shift </a:t>
            </a:r>
            <a:r>
              <a:rPr lang="ru-RU" dirty="0" err="1"/>
              <a:t>Left</a:t>
            </a:r>
            <a:r>
              <a:rPr lang="ru-RU" dirty="0"/>
              <a:t> (Сдвиг влево) – безопасность интегрируется на самых ранних этапах — при анализе требований и проектировании архитектуры.</a:t>
            </a:r>
          </a:p>
          <a:p>
            <a:pPr marL="0" indent="0">
              <a:buNone/>
            </a:pPr>
            <a:r>
              <a:rPr lang="ru-RU" dirty="0"/>
              <a:t>Автоматизация  – рутинные проверки безопасности (SAST, DAST, SCA) встраиваются в конвейеры CI/CD для непрерывного контроля.</a:t>
            </a:r>
          </a:p>
          <a:p>
            <a:pPr marL="0" indent="0">
              <a:buNone/>
            </a:pPr>
            <a:r>
              <a:rPr lang="ru-RU" dirty="0"/>
              <a:t>Управление зависимостями – строгий контроль сторонних библиотек и компонентов, исключение попадания в сборки компонентов с известными уязвимостями.</a:t>
            </a:r>
          </a:p>
          <a:p>
            <a:pPr marL="0" indent="0">
              <a:buNone/>
            </a:pPr>
            <a:r>
              <a:rPr lang="ru-RU" dirty="0"/>
              <a:t>Культура безопасности  – обучение и повышение осведомлённости всех участников процесса разработки (разработчиков, тестировщиков, аналитиков).</a:t>
            </a:r>
          </a:p>
          <a:p>
            <a:pPr marL="0" indent="0">
              <a:buNone/>
            </a:pPr>
            <a:r>
              <a:rPr lang="ru-RU" dirty="0"/>
              <a:t>Непрерывное улучшение  – закрепление процессов в организационно-распорядительных документах и их совершенствование на основе метрик и обратной связи.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6847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7AF2B5-F0B3-C3F4-0493-0F37742F8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этапы безопасной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2D37F4-51E2-3B21-15F6-680025373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Сбор и анализ требований – моделирование угроз, оценка рисков, формирование требований безопасности.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Проектирование архитектуры – применение принципов безопасности («нулевое доверие», протоколирование событий), учёт требований безопасности при проектировании.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Реализация кода - соблюдение регламентов оформления кода и безопасного кодирования, минимизация привилегий, тщательная валидация входных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421736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F12746-0DEC-15A4-97A6-F1846A60A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этапы безопасной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8F96DD-2CE2-3CDE-24F3-95D2755A0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ru-RU" dirty="0"/>
              <a:t>Статический анализ кода – автоматическое выявление потенциальных уязвимостей в исходном коде без его запуска.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ru-RU" dirty="0"/>
              <a:t>Динамическое тестирование - имитация внешних атак на работающее приложение для выявления уязвимостей.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ru-RU" dirty="0"/>
              <a:t>Анализ зависимостей – проверка сторонних библиотек и компонентов на наличие уязвимостей.</a:t>
            </a:r>
          </a:p>
        </p:txBody>
      </p:sp>
    </p:spTree>
    <p:extLst>
      <p:ext uri="{BB962C8B-B14F-4D97-AF65-F5344CB8AC3E}">
        <p14:creationId xmlns:p14="http://schemas.microsoft.com/office/powerpoint/2010/main" val="4174177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00AC54-9596-2744-F603-0EFC2CFE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этапы безопасной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228704-7931-5551-046D-1BE015EF0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7"/>
            </a:pPr>
            <a:r>
              <a:rPr lang="ru-RU" dirty="0"/>
              <a:t>Тестирование безопасности – комбинация автоматизированных методов и ручных проверок, включая тестирование на проникновение.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ru-RU" dirty="0"/>
              <a:t>Развёртывание и эксплуатация – настройка безопасных конфигураций, использование менеджеров секретов для хранения ключей и токенов, проверка цифровых подписей образов.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ru-RU" dirty="0"/>
              <a:t>Поддержка и мониторинг – постоянный мониторинг подозрительной активности, своевременное применение патчей и обновлений, наличие процедур реагирования на инциденты.</a:t>
            </a:r>
          </a:p>
        </p:txBody>
      </p:sp>
    </p:spTree>
    <p:extLst>
      <p:ext uri="{BB962C8B-B14F-4D97-AF65-F5344CB8AC3E}">
        <p14:creationId xmlns:p14="http://schemas.microsoft.com/office/powerpoint/2010/main" val="3378016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3E1AC-4754-06FC-8E15-32AC3B735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ГОСТ Р 56939-2024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1CFE126-51B7-2CD6-8961-AABDD8BCA0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2262" y="1825625"/>
            <a:ext cx="88274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420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41289-DF0B-B282-7ED5-E873DB7E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Хранение паролей пользователей в базах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AA0600-29EA-01CD-6CB6-D4E746CBF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i="1" dirty="0"/>
              <a:t>Хеширование</a:t>
            </a:r>
            <a:r>
              <a:rPr lang="ru-RU" dirty="0"/>
              <a:t> – фундаментальный принцип. Хеш-функция преобразует пароль в строку фиксированной длины односторонне: из </a:t>
            </a:r>
            <a:r>
              <a:rPr lang="ru-RU" dirty="0" err="1"/>
              <a:t>хеша</a:t>
            </a:r>
            <a:r>
              <a:rPr lang="ru-RU" dirty="0"/>
              <a:t> нельзя получить исходный пароль. При проверке система заново </a:t>
            </a:r>
            <a:r>
              <a:rPr lang="ru-RU" dirty="0" err="1"/>
              <a:t>хеширует</a:t>
            </a:r>
            <a:r>
              <a:rPr lang="ru-RU" dirty="0"/>
              <a:t> введённый пароль и сравнивает результат с тем, что хранится в базе. </a:t>
            </a:r>
          </a:p>
          <a:p>
            <a:r>
              <a:rPr lang="ru-RU" b="1" i="1" dirty="0"/>
              <a:t>Использование соли</a:t>
            </a:r>
            <a:r>
              <a:rPr lang="ru-RU" dirty="0"/>
              <a:t> – к паролю перед хешированием добавляют уникальную случайную строку (соль). Её генерируют отдельно для каждого пользователя. Соль не нужно хранить в секрете – её задача обеспечить уникальность </a:t>
            </a:r>
            <a:r>
              <a:rPr lang="ru-RU" dirty="0" err="1"/>
              <a:t>хеша</a:t>
            </a:r>
            <a:r>
              <a:rPr lang="ru-RU" dirty="0"/>
              <a:t>. Это ломает атаки с использованием радужных таблиц: даже если два пользователя выбрали одинаковый пароль, их </a:t>
            </a:r>
            <a:r>
              <a:rPr lang="ru-RU" dirty="0" err="1"/>
              <a:t>хеши</a:t>
            </a:r>
            <a:r>
              <a:rPr lang="ru-RU" dirty="0"/>
              <a:t> будут разными. </a:t>
            </a:r>
          </a:p>
        </p:txBody>
      </p:sp>
    </p:spTree>
    <p:extLst>
      <p:ext uri="{BB962C8B-B14F-4D97-AF65-F5344CB8AC3E}">
        <p14:creationId xmlns:p14="http://schemas.microsoft.com/office/powerpoint/2010/main" val="1822025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3A3C7E-F4B2-A928-7E67-05E9C44DC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Маскирование данных в файлах журнала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04C2CA-AB9B-6C5C-0783-110C37DA1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Маскирование данных – замена конфиденциальной информации (пароли, номера карт, SSN, </a:t>
            </a:r>
            <a:r>
              <a:rPr lang="ru-RU" dirty="0" err="1"/>
              <a:t>email</a:t>
            </a:r>
            <a:r>
              <a:rPr lang="ru-RU" dirty="0"/>
              <a:t>) на нечитаемые значения, чтобы при анализе логов (например, для поддержки или аудита) реальные данные не попадали в открытый доступ.</a:t>
            </a:r>
          </a:p>
        </p:txBody>
      </p:sp>
    </p:spTree>
    <p:extLst>
      <p:ext uri="{BB962C8B-B14F-4D97-AF65-F5344CB8AC3E}">
        <p14:creationId xmlns:p14="http://schemas.microsoft.com/office/powerpoint/2010/main" val="2984683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C53257-24DF-A026-198A-FA4E28096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Маскирование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3AC214-3C68-BD01-5379-9045785F6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Замена значения на фиксированный шаблон. Достаточно часто используются звёздочки, но можно задавать любые другие форматы.</a:t>
            </a:r>
          </a:p>
          <a:p>
            <a:pPr marL="0" indent="0">
              <a:buNone/>
            </a:pPr>
            <a:r>
              <a:rPr lang="ru-RU" dirty="0"/>
              <a:t>Примеры:</a:t>
            </a:r>
          </a:p>
          <a:p>
            <a:pPr lvl="0"/>
            <a:r>
              <a:rPr lang="ru-RU" dirty="0"/>
              <a:t>Номер телефона: </a:t>
            </a:r>
            <a:r>
              <a:rPr lang="ru-RU" dirty="0">
                <a:solidFill>
                  <a:srgbClr val="FF0000"/>
                </a:solidFill>
              </a:rPr>
              <a:t>+79001234567 </a:t>
            </a:r>
            <a:r>
              <a:rPr lang="ru-RU" dirty="0"/>
              <a:t>→ </a:t>
            </a:r>
            <a:r>
              <a:rPr lang="ru-RU" dirty="0">
                <a:solidFill>
                  <a:srgbClr val="00B050"/>
                </a:solidFill>
              </a:rPr>
              <a:t>+7900*****67</a:t>
            </a:r>
          </a:p>
          <a:p>
            <a:pPr lvl="0"/>
            <a:r>
              <a:rPr lang="ru-RU" dirty="0" err="1"/>
              <a:t>Email</a:t>
            </a:r>
            <a:r>
              <a:rPr lang="ru-RU" dirty="0"/>
              <a:t>: </a:t>
            </a:r>
            <a:r>
              <a:rPr lang="ru-RU" dirty="0" err="1">
                <a:solidFill>
                  <a:srgbClr val="FF0000"/>
                </a:solidFill>
              </a:rPr>
              <a:t>john</a:t>
            </a:r>
            <a:r>
              <a:rPr lang="ru-RU" dirty="0">
                <a:solidFill>
                  <a:srgbClr val="FF0000"/>
                </a:solidFill>
              </a:rPr>
              <a:t>@</a:t>
            </a:r>
            <a:r>
              <a:rPr lang="en-US" dirty="0" err="1">
                <a:solidFill>
                  <a:srgbClr val="FF0000"/>
                </a:solidFill>
              </a:rPr>
              <a:t>gmail</a:t>
            </a:r>
            <a:r>
              <a:rPr lang="ru-RU" dirty="0">
                <a:solidFill>
                  <a:srgbClr val="FF0000"/>
                </a:solidFill>
              </a:rPr>
              <a:t>.</a:t>
            </a:r>
            <a:r>
              <a:rPr lang="ru-RU" dirty="0" err="1">
                <a:solidFill>
                  <a:srgbClr val="FF0000"/>
                </a:solidFill>
              </a:rPr>
              <a:t>com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/>
              <a:t>→ </a:t>
            </a:r>
            <a:r>
              <a:rPr lang="ru-RU" dirty="0">
                <a:solidFill>
                  <a:srgbClr val="00B050"/>
                </a:solidFill>
              </a:rPr>
              <a:t>j***@</a:t>
            </a:r>
            <a:r>
              <a:rPr lang="en-US" dirty="0" err="1">
                <a:solidFill>
                  <a:srgbClr val="00B050"/>
                </a:solidFill>
              </a:rPr>
              <a:t>gmail</a:t>
            </a:r>
            <a:r>
              <a:rPr lang="ru-RU" dirty="0">
                <a:solidFill>
                  <a:srgbClr val="00B050"/>
                </a:solidFill>
              </a:rPr>
              <a:t>.</a:t>
            </a:r>
            <a:r>
              <a:rPr lang="ru-RU" dirty="0" err="1">
                <a:solidFill>
                  <a:srgbClr val="00B050"/>
                </a:solidFill>
              </a:rPr>
              <a:t>com</a:t>
            </a:r>
            <a:endParaRPr lang="ru-RU" dirty="0">
              <a:solidFill>
                <a:srgbClr val="00B050"/>
              </a:solidFill>
            </a:endParaRPr>
          </a:p>
          <a:p>
            <a:pPr lvl="0"/>
            <a:r>
              <a:rPr lang="ru-RU" dirty="0"/>
              <a:t>Номер карты: </a:t>
            </a:r>
            <a:r>
              <a:rPr lang="ru-RU" dirty="0">
                <a:solidFill>
                  <a:srgbClr val="FF0000"/>
                </a:solidFill>
              </a:rPr>
              <a:t>4111111111111111</a:t>
            </a:r>
            <a:r>
              <a:rPr lang="ru-RU" dirty="0"/>
              <a:t> → </a:t>
            </a:r>
            <a:r>
              <a:rPr lang="ru-RU" dirty="0">
                <a:solidFill>
                  <a:srgbClr val="00B050"/>
                </a:solidFill>
              </a:rPr>
              <a:t>****-****-****-1111</a:t>
            </a:r>
          </a:p>
        </p:txBody>
      </p:sp>
    </p:spTree>
    <p:extLst>
      <p:ext uri="{BB962C8B-B14F-4D97-AF65-F5344CB8AC3E}">
        <p14:creationId xmlns:p14="http://schemas.microsoft.com/office/powerpoint/2010/main" val="2046587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EE0CA2-8294-FC55-AA52-B31E8CC8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Менеджер секретов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536962-ACFE-786A-C0E5-39894283F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Менеджер секретов – инструмент, который помогает безопасно хранить, передавать и управлять конфиденциальными данными: </a:t>
            </a:r>
          </a:p>
          <a:p>
            <a:r>
              <a:rPr lang="ru-RU" dirty="0"/>
              <a:t>паролями</a:t>
            </a:r>
          </a:p>
          <a:p>
            <a:r>
              <a:rPr lang="ru-RU" dirty="0"/>
              <a:t>API-ключами</a:t>
            </a:r>
          </a:p>
          <a:p>
            <a:r>
              <a:rPr lang="ru-RU" dirty="0"/>
              <a:t>токенами</a:t>
            </a:r>
          </a:p>
          <a:p>
            <a:r>
              <a:rPr lang="ru-RU" dirty="0"/>
              <a:t>SSH-ключами</a:t>
            </a:r>
          </a:p>
          <a:p>
            <a:r>
              <a:rPr lang="ru-RU" dirty="0"/>
              <a:t>сертификатами</a:t>
            </a:r>
          </a:p>
          <a:p>
            <a:pPr marL="0" indent="0">
              <a:buNone/>
            </a:pPr>
            <a:r>
              <a:rPr lang="ru-RU" dirty="0"/>
              <a:t>Его главная задача — не допустить, чтобы такие данные оказались в открытом коде, в файлах .</a:t>
            </a:r>
            <a:r>
              <a:rPr lang="ru-RU" dirty="0" err="1"/>
              <a:t>env</a:t>
            </a:r>
            <a:r>
              <a:rPr lang="ru-RU" dirty="0"/>
              <a:t>, в истории репозиториев или были случайно отправлены по </a:t>
            </a:r>
            <a:r>
              <a:rPr lang="ru-RU" dirty="0" err="1"/>
              <a:t>email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57553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7FCF3A-DBC3-6A08-63B3-1094A369A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Менеджер секретов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36909C-F4F5-A05E-2D91-56455EEE0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ru-RU" b="1" dirty="0"/>
              <a:t>Централизованное хранение – </a:t>
            </a:r>
            <a:r>
              <a:rPr lang="ru-RU" dirty="0"/>
              <a:t>все секреты собраны в одном месте, а не разбросаны по разным скриптам, конфигам или коммитам.</a:t>
            </a:r>
          </a:p>
          <a:p>
            <a:pPr lvl="0"/>
            <a:r>
              <a:rPr lang="ru-RU" b="1" dirty="0"/>
              <a:t>Контроль доступа – </a:t>
            </a:r>
            <a:r>
              <a:rPr lang="ru-RU" dirty="0"/>
              <a:t>можно детально настраивать, кто и к каким секретам имеет право обращаться (принцип наименьших привилегий).</a:t>
            </a:r>
          </a:p>
          <a:p>
            <a:pPr lvl="0"/>
            <a:r>
              <a:rPr lang="ru-RU" b="1" dirty="0"/>
              <a:t>Шифрование – </a:t>
            </a:r>
            <a:r>
              <a:rPr lang="ru-RU" dirty="0"/>
              <a:t>данные хранятся в защищённом виде.</a:t>
            </a:r>
          </a:p>
          <a:p>
            <a:pPr lvl="0"/>
            <a:r>
              <a:rPr lang="ru-RU" b="1" dirty="0"/>
              <a:t>Аудит – </a:t>
            </a:r>
            <a:r>
              <a:rPr lang="ru-RU" dirty="0"/>
              <a:t>система фиксирует все операции с секретами (кто, когда и что сделал).</a:t>
            </a:r>
          </a:p>
          <a:p>
            <a:pPr lvl="0"/>
            <a:r>
              <a:rPr lang="ru-RU" b="1" dirty="0"/>
              <a:t>Автоматизация – </a:t>
            </a:r>
            <a:r>
              <a:rPr lang="ru-RU" dirty="0"/>
              <a:t>часто есть возможность настраивать регулярную ротацию (смену) секретов, а также интегрировать работу с ними в CI/CD-</a:t>
            </a:r>
            <a:r>
              <a:rPr lang="ru-RU" dirty="0" err="1"/>
              <a:t>пайплайны</a:t>
            </a:r>
            <a:r>
              <a:rPr lang="ru-RU" dirty="0"/>
              <a:t>, облачные платформы или контейнеры.</a:t>
            </a:r>
          </a:p>
          <a:p>
            <a:pPr lvl="0"/>
            <a:r>
              <a:rPr lang="ru-RU" b="1" dirty="0"/>
              <a:t>Разделение по окружениям – </a:t>
            </a:r>
            <a:r>
              <a:rPr lang="ru-RU" dirty="0"/>
              <a:t>удобно держать разные наборы секретов для </a:t>
            </a:r>
            <a:r>
              <a:rPr lang="ru-RU" dirty="0" err="1"/>
              <a:t>dev</a:t>
            </a:r>
            <a:r>
              <a:rPr lang="ru-RU" dirty="0"/>
              <a:t>, </a:t>
            </a:r>
            <a:r>
              <a:rPr lang="ru-RU" dirty="0" err="1"/>
              <a:t>staging</a:t>
            </a:r>
            <a:r>
              <a:rPr lang="ru-RU" dirty="0"/>
              <a:t> и </a:t>
            </a:r>
            <a:r>
              <a:rPr lang="ru-RU" dirty="0" err="1"/>
              <a:t>prod</a:t>
            </a:r>
            <a:r>
              <a:rPr lang="ru-RU" dirty="0"/>
              <a:t>. 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5367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DD8CEA-2451-ADF9-0108-1A385A53F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 по работе с секретами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5FABD7-EE41-D77A-F3FA-DC034742B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Никогда не коммитите секреты в систему контроля версий.</a:t>
            </a:r>
          </a:p>
          <a:p>
            <a:pPr marL="0" indent="0">
              <a:buNone/>
            </a:pPr>
            <a:r>
              <a:rPr lang="ru-RU" dirty="0"/>
              <a:t>Регулярно ротируйте секреты меняйте их по расписанию или при подозрении на компрометацию.</a:t>
            </a:r>
          </a:p>
          <a:p>
            <a:pPr marL="0" indent="0">
              <a:buNone/>
            </a:pPr>
            <a:r>
              <a:rPr lang="ru-RU" dirty="0"/>
              <a:t>Используйте принцип наименьших привилегий: давайте секретам только те права, которые нужны для задачи.</a:t>
            </a:r>
          </a:p>
          <a:p>
            <a:pPr marL="0" indent="0">
              <a:buNone/>
            </a:pPr>
            <a:r>
              <a:rPr lang="ru-RU" dirty="0"/>
              <a:t>Не записывайте сами секреты в файлы – если секрет попал в лог, его нужно предварительно </a:t>
            </a:r>
            <a:r>
              <a:rPr lang="ru-RU" dirty="0" err="1"/>
              <a:t>отмаскировать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Для поиска уже случившихся утечек (например, если кто-то случайно записал секрет в файл журнала) можно использовать отдельные сканеры.</a:t>
            </a:r>
          </a:p>
        </p:txBody>
      </p:sp>
    </p:spTree>
    <p:extLst>
      <p:ext uri="{BB962C8B-B14F-4D97-AF65-F5344CB8AC3E}">
        <p14:creationId xmlns:p14="http://schemas.microsoft.com/office/powerpoint/2010/main" val="3367890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A3C80B-8F57-8105-7EFB-CFD3EB3F4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программного кода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310192-25C6-6572-7035-51E561BC4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Технические методы</a:t>
            </a:r>
          </a:p>
          <a:p>
            <a:pPr marL="0" indent="0">
              <a:buNone/>
            </a:pPr>
            <a:r>
              <a:rPr lang="ru-RU" b="1" dirty="0"/>
              <a:t>Обфускация – </a:t>
            </a:r>
            <a:r>
              <a:rPr lang="ru-RU" dirty="0"/>
              <a:t>переименование символов (классов, методов), перемешивание блоков, добавление «мёртвого» кода.</a:t>
            </a:r>
          </a:p>
          <a:p>
            <a:pPr marL="0" indent="0">
              <a:buNone/>
            </a:pPr>
            <a:r>
              <a:rPr lang="ru-RU" b="1" dirty="0"/>
              <a:t>Шифрование кода </a:t>
            </a:r>
            <a:r>
              <a:rPr lang="ru-RU" dirty="0"/>
              <a:t>– критические участки или весь код шифруются перед передачей пользователю. При запуске запускается процедура расшифровки, для которой нужен ключ.</a:t>
            </a:r>
          </a:p>
          <a:p>
            <a:pPr marL="0" indent="0">
              <a:buNone/>
            </a:pPr>
            <a:r>
              <a:rPr lang="ru-RU" b="1" dirty="0"/>
              <a:t>Аппаратные средства </a:t>
            </a:r>
            <a:r>
              <a:rPr lang="ru-RU" dirty="0"/>
              <a:t>– использование внешних доверенных элементов: электронные ключи (донглы) или модули безопасности (HSM). В них хранят ключи, алгоритмы проверки лицензии или фрагменты бизнес-логики. Программа обращается к ключу, и только при успешной проверке доступ к функционалу открыт.</a:t>
            </a:r>
          </a:p>
        </p:txBody>
      </p:sp>
    </p:spTree>
    <p:extLst>
      <p:ext uri="{BB962C8B-B14F-4D97-AF65-F5344CB8AC3E}">
        <p14:creationId xmlns:p14="http://schemas.microsoft.com/office/powerpoint/2010/main" val="1664279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7BD293-AA2B-59C6-EE85-70A830B3B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программного кода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EC4009-8213-40DB-BAE8-C58866430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Технические методы</a:t>
            </a:r>
          </a:p>
          <a:p>
            <a:pPr marL="0" indent="0">
              <a:buNone/>
            </a:pPr>
            <a:r>
              <a:rPr lang="ru-RU" b="1" dirty="0"/>
              <a:t>Контроль целостности </a:t>
            </a:r>
            <a:r>
              <a:rPr lang="ru-RU" dirty="0"/>
              <a:t>– в код встраиваются механизмы (например, контрольные суммы), чтобы программа могла сама проверить: не были ли изменены её файлы после сборки. Если целостность нарушена — защита срабатывает.</a:t>
            </a:r>
          </a:p>
          <a:p>
            <a:pPr marL="0" indent="0">
              <a:buNone/>
            </a:pPr>
            <a:r>
              <a:rPr lang="ru-RU" b="1" dirty="0"/>
              <a:t>Anti-</a:t>
            </a:r>
            <a:r>
              <a:rPr lang="ru-RU" b="1" dirty="0" err="1"/>
              <a:t>debug</a:t>
            </a:r>
            <a:r>
              <a:rPr lang="ru-RU" b="1" dirty="0"/>
              <a:t> и </a:t>
            </a:r>
            <a:r>
              <a:rPr lang="ru-RU" b="1" dirty="0" err="1"/>
              <a:t>anti-tamper</a:t>
            </a:r>
            <a:r>
              <a:rPr lang="ru-RU" b="1" dirty="0"/>
              <a:t> </a:t>
            </a:r>
            <a:r>
              <a:rPr lang="ru-RU" dirty="0"/>
              <a:t>– блокировка попыток отладить программу или подменить её код.</a:t>
            </a:r>
          </a:p>
          <a:p>
            <a:pPr marL="0" indent="0">
              <a:buNone/>
            </a:pPr>
            <a:r>
              <a:rPr lang="ru-RU" b="1" dirty="0"/>
              <a:t>Динамическая генерация кода </a:t>
            </a:r>
            <a:r>
              <a:rPr lang="ru-RU" dirty="0"/>
              <a:t>– часть логики создаётся или модифицируется прямо во время работы программы. 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2420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4D3165-E08F-B8CA-B872-2CD708292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программного кода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0EB3C6-8342-CA5B-2833-F8F0AD43B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Юридические методы</a:t>
            </a:r>
          </a:p>
          <a:p>
            <a:pPr marL="0" indent="0">
              <a:buNone/>
            </a:pPr>
            <a:r>
              <a:rPr lang="ru-RU" b="1" dirty="0"/>
              <a:t>Авторское право </a:t>
            </a:r>
            <a:r>
              <a:rPr lang="ru-RU" dirty="0"/>
              <a:t>– в нашей стране код охраняется автоматически с момента создания. Для усиления защиты можно оформить документы, подтверждающие авторство и переход прав.</a:t>
            </a:r>
          </a:p>
          <a:p>
            <a:pPr marL="0" indent="0">
              <a:buNone/>
            </a:pPr>
            <a:r>
              <a:rPr lang="ru-RU" b="1" dirty="0"/>
              <a:t>Патентование</a:t>
            </a:r>
            <a:r>
              <a:rPr lang="ru-RU" dirty="0"/>
              <a:t> – если в коде есть инновационные технические решения (алгоритмы, интерфейсы), их можно запатентовать. </a:t>
            </a:r>
            <a:r>
              <a:rPr lang="ru-RU" b="1" i="1" dirty="0"/>
              <a:t>Патент защищает не сам текст программы, а функциональное решение.</a:t>
            </a:r>
          </a:p>
          <a:p>
            <a:pPr marL="0" indent="0">
              <a:buNone/>
            </a:pPr>
            <a:r>
              <a:rPr lang="ru-RU" b="1" dirty="0"/>
              <a:t>Режим коммерческой тайны </a:t>
            </a:r>
            <a:r>
              <a:rPr lang="ru-RU" dirty="0"/>
              <a:t>– если код содержит коммерчески ценную информацию, можно ввести режим коммерческой тайны: утвердить положение, определить перечень секретных данных, маркировать носители, вести журнал доступа. </a:t>
            </a:r>
          </a:p>
          <a:p>
            <a:pPr marL="0" indent="0">
              <a:buNone/>
            </a:pPr>
            <a:r>
              <a:rPr lang="ru-RU" b="1" dirty="0"/>
              <a:t>Лицензионные соглашения и NDA </a:t>
            </a:r>
            <a:r>
              <a:rPr lang="ru-RU" dirty="0"/>
              <a:t>– чётко регулируют, как другие лица могут использовать код. Для сотрудников и подрядчиков важно подписывать соглашения о неразглашении.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773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2FB9D-527D-29F6-4E9E-17185BB8E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2554D9-641C-9B14-C505-8F2DAFB3C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программного кода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74E0B4-CAB4-6A52-CB57-9513606B3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Организационные методы</a:t>
            </a:r>
          </a:p>
          <a:p>
            <a:pPr marL="0" indent="0">
              <a:buNone/>
            </a:pPr>
            <a:r>
              <a:rPr lang="ru-RU" b="1" dirty="0"/>
              <a:t>Разграничение доступа </a:t>
            </a:r>
            <a:r>
              <a:rPr lang="ru-RU" dirty="0"/>
              <a:t>– принцип минимальных привилегий (RBAC): у каждого сотрудника или подрядчика есть доступ только к тем частям кода, которые нужны для его задач.</a:t>
            </a:r>
          </a:p>
          <a:p>
            <a:pPr marL="0" indent="0">
              <a:buNone/>
            </a:pPr>
            <a:r>
              <a:rPr lang="ru-RU" b="1" dirty="0"/>
              <a:t>Системы контроля версий </a:t>
            </a:r>
            <a:r>
              <a:rPr lang="ru-RU" dirty="0"/>
              <a:t>– фиксация каждого коммита создаёт неопровержимую хронологию разработки.</a:t>
            </a:r>
          </a:p>
          <a:p>
            <a:pPr marL="0" indent="0">
              <a:buNone/>
            </a:pPr>
            <a:r>
              <a:rPr lang="ru-RU" b="1" dirty="0"/>
              <a:t>DLP-системы (Data </a:t>
            </a:r>
            <a:r>
              <a:rPr lang="ru-RU" b="1" dirty="0" err="1"/>
              <a:t>Loss</a:t>
            </a:r>
            <a:r>
              <a:rPr lang="ru-RU" b="1" dirty="0"/>
              <a:t> </a:t>
            </a:r>
            <a:r>
              <a:rPr lang="ru-RU" b="1" dirty="0" err="1"/>
              <a:t>Prevention</a:t>
            </a:r>
            <a:r>
              <a:rPr lang="ru-RU" b="1" dirty="0"/>
              <a:t>) </a:t>
            </a:r>
            <a:r>
              <a:rPr lang="ru-RU" dirty="0"/>
              <a:t>– мониторинг каналов передачи данных (USB, почта, мессенджеры, облачные хранилища) и блокировка несанкционированных передач фрагментов кода.</a:t>
            </a:r>
          </a:p>
          <a:p>
            <a:pPr marL="0" indent="0">
              <a:buNone/>
            </a:pPr>
            <a:r>
              <a:rPr lang="ru-RU" b="1" dirty="0"/>
              <a:t>Процедуры </a:t>
            </a:r>
            <a:r>
              <a:rPr lang="ru-RU" b="1" dirty="0" err="1"/>
              <a:t>offboarding</a:t>
            </a:r>
            <a:r>
              <a:rPr lang="ru-RU" b="1" dirty="0"/>
              <a:t> </a:t>
            </a:r>
            <a:r>
              <a:rPr lang="ru-RU" dirty="0"/>
              <a:t>– при увольнении сотрудника обязательно отзывают все доступы к коду.</a:t>
            </a:r>
          </a:p>
          <a:p>
            <a:pPr marL="0" indent="0">
              <a:buNone/>
            </a:pPr>
            <a:r>
              <a:rPr lang="ru-RU" b="1" dirty="0"/>
              <a:t>Обучение сотрудников </a:t>
            </a:r>
            <a:r>
              <a:rPr lang="ru-RU" dirty="0"/>
              <a:t>– повышение осведомлённости о рисках утечки и правилах работы с конфиденциальной информацией. 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4814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E077A-92B7-0ABF-0EE9-9C146A9E6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4FA615-F3DC-9A53-1619-341D563EA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программного кода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0806C6-80D9-4898-2124-FA77EB9F4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i="1" dirty="0"/>
              <a:t>Пользовательские действия</a:t>
            </a:r>
          </a:p>
          <a:p>
            <a:r>
              <a:rPr lang="ru-RU" dirty="0"/>
              <a:t>Не оставляйте компьютер без присмотра</a:t>
            </a:r>
          </a:p>
          <a:p>
            <a:r>
              <a:rPr lang="ru-RU" dirty="0"/>
              <a:t>Используйте сложные пароли и не записывайте их в открытом виде(используйте менеджер паролей).</a:t>
            </a:r>
          </a:p>
          <a:p>
            <a:r>
              <a:rPr lang="ru-RU" dirty="0"/>
              <a:t>Не добавляйте в систему контроля версий файлы, содержащие реальные пароли, ключи или токены.</a:t>
            </a:r>
          </a:p>
          <a:p>
            <a:r>
              <a:rPr lang="ru-RU" dirty="0"/>
              <a:t>Не передавайте учётные данные. Не отправляйте логины, пароли или токены по открытым каналам — электронной почте, мессенджерам, соцсетям.</a:t>
            </a:r>
          </a:p>
          <a:p>
            <a:r>
              <a:rPr lang="ru-RU" dirty="0"/>
              <a:t>Не скачивайте и не запускайте файлы из непроверенных источников (пиратские сайты, сомнительные архивы), не переходите по подозрительным ссылкам из писем (все подозрительные файлы необходимо проверять хотя бы через </a:t>
            </a:r>
            <a:r>
              <a:rPr lang="en-US" dirty="0"/>
              <a:t>Virus Total</a:t>
            </a:r>
            <a:r>
              <a:rPr lang="ru-RU" dirty="0"/>
              <a:t>). </a:t>
            </a:r>
          </a:p>
          <a:p>
            <a:pPr marL="0" indent="0">
              <a:buNone/>
            </a:pPr>
            <a:endParaRPr lang="ru-RU" b="1" i="1" dirty="0"/>
          </a:p>
        </p:txBody>
      </p:sp>
    </p:spTree>
    <p:extLst>
      <p:ext uri="{BB962C8B-B14F-4D97-AF65-F5344CB8AC3E}">
        <p14:creationId xmlns:p14="http://schemas.microsoft.com/office/powerpoint/2010/main" val="2166537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5224D9-6662-5952-9AE3-F7186DDB9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программного кода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C45C94-1E9A-5333-8F1C-E32B1007D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i="1" dirty="0"/>
              <a:t>Пользовательские действия</a:t>
            </a:r>
            <a:endParaRPr lang="en-US" dirty="0"/>
          </a:p>
          <a:p>
            <a:r>
              <a:rPr lang="ru-RU" dirty="0"/>
              <a:t>Обновляйте ПО</a:t>
            </a:r>
            <a:endParaRPr lang="en-US" dirty="0"/>
          </a:p>
          <a:p>
            <a:r>
              <a:rPr lang="ru-RU" dirty="0"/>
              <a:t>Используйте песочницу (</a:t>
            </a:r>
            <a:r>
              <a:rPr lang="ru-RU" dirty="0" err="1"/>
              <a:t>sandbox</a:t>
            </a:r>
            <a:r>
              <a:rPr lang="ru-RU" dirty="0"/>
              <a:t>). Если разрабатываете что-то, что может повлиять на систему, запускайте это в изолированной среде — виртуальной машине или контейнере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Настройте брандмауэр.</a:t>
            </a:r>
            <a:endParaRPr lang="en-US" dirty="0"/>
          </a:p>
          <a:p>
            <a:r>
              <a:rPr lang="ru-RU" dirty="0"/>
              <a:t>Используйте антивирусное ПО.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9336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FFB9D1-182F-5D8B-C37D-B8FA2BECE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программного кода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D79C63-76E3-2B2F-8A6B-52CE54412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i="1" dirty="0"/>
              <a:t>Пользовательские действия</a:t>
            </a:r>
            <a:endParaRPr lang="en-US" dirty="0"/>
          </a:p>
          <a:p>
            <a:r>
              <a:rPr lang="ru-RU" dirty="0"/>
              <a:t>Следуйте стандартам безопасного кодирования</a:t>
            </a:r>
            <a:r>
              <a:rPr lang="en-US" dirty="0"/>
              <a:t> – </a:t>
            </a:r>
            <a:r>
              <a:rPr lang="ru-RU" dirty="0"/>
              <a:t>OWASP Secure </a:t>
            </a:r>
            <a:r>
              <a:rPr lang="ru-RU" dirty="0" err="1"/>
              <a:t>Coding</a:t>
            </a:r>
            <a:r>
              <a:rPr lang="ru-RU" dirty="0"/>
              <a:t> </a:t>
            </a:r>
            <a:r>
              <a:rPr lang="ru-RU" dirty="0" err="1"/>
              <a:t>Practices</a:t>
            </a:r>
            <a:endParaRPr lang="ru-RU" dirty="0"/>
          </a:p>
          <a:p>
            <a:r>
              <a:rPr lang="ru-RU" dirty="0"/>
              <a:t>Валидация ввода – проверяйте и очищайте пользовательские данные перед тем, как использовать их в запросах к базе данных, API или при выводе в веб-интерфейсе.</a:t>
            </a:r>
          </a:p>
          <a:p>
            <a:r>
              <a:rPr lang="ru-RU" dirty="0"/>
              <a:t>Параметризованные запросы – для защиты от SQL-инъекций и аналогичных атак всегда формируйте запросы через параметризованные интерфейсы (</a:t>
            </a:r>
            <a:r>
              <a:rPr lang="ru-RU" dirty="0" err="1"/>
              <a:t>prepared</a:t>
            </a:r>
            <a:r>
              <a:rPr lang="ru-RU" dirty="0"/>
              <a:t> </a:t>
            </a:r>
            <a:r>
              <a:rPr lang="ru-RU" dirty="0" err="1"/>
              <a:t>statements</a:t>
            </a:r>
            <a:r>
              <a:rPr lang="ru-RU" dirty="0"/>
              <a:t>), а не конкатенацией строк.</a:t>
            </a:r>
          </a:p>
          <a:p>
            <a:r>
              <a:rPr lang="ru-RU" dirty="0"/>
              <a:t>Не прописывайте в коде пароли, ключи, строки подключения к внешним сервисам. Используйте переменные окружения, конфигурационные файлы или внешние сервисы управления секретами.</a:t>
            </a:r>
          </a:p>
          <a:p>
            <a:r>
              <a:rPr lang="ru-RU" dirty="0"/>
              <a:t>Настройте инструменты статического анализа (SAST) прямо в среде разработки (IDE) — они поймают потенциальные уязвимости в момент написания кода. Также полезно динамическое тестирование (DAST) и анализ зависимостей (SCA).</a:t>
            </a:r>
          </a:p>
          <a:p>
            <a:r>
              <a:rPr lang="ru-RU" dirty="0"/>
              <a:t>Минимизируйте поверхность атаки. Удалите ненужное ПО, ограничьте права доступа для процессов, используйте </a:t>
            </a:r>
            <a:r>
              <a:rPr lang="ru-RU" dirty="0" err="1"/>
              <a:t>least</a:t>
            </a:r>
            <a:r>
              <a:rPr lang="ru-RU" dirty="0"/>
              <a:t> </a:t>
            </a:r>
            <a:r>
              <a:rPr lang="ru-RU" dirty="0" err="1"/>
              <a:t>privilege</a:t>
            </a:r>
            <a:r>
              <a:rPr lang="ru-RU" dirty="0"/>
              <a:t> (предоставляйте только необходимые права).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83119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6455</TotalTime>
  <Words>1458</Words>
  <Application>Microsoft Office PowerPoint</Application>
  <PresentationFormat>Широкоэкранный</PresentationFormat>
  <Paragraphs>103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4" baseType="lpstr">
      <vt:lpstr>Arial</vt:lpstr>
      <vt:lpstr>Calibri</vt:lpstr>
      <vt:lpstr>Тема Office</vt:lpstr>
      <vt:lpstr>Безопасная разработка программного обеспечения</vt:lpstr>
      <vt:lpstr>РБПО</vt:lpstr>
      <vt:lpstr>РБПО</vt:lpstr>
      <vt:lpstr>Ключевые принципы безопасной </vt:lpstr>
      <vt:lpstr>Основные этапы безопасной разработки</vt:lpstr>
      <vt:lpstr>Основные этапы безопасной разработки</vt:lpstr>
      <vt:lpstr>Основные этапы безопасной разработки</vt:lpstr>
      <vt:lpstr>ГОСТ Р 56939-2024</vt:lpstr>
      <vt:lpstr>Хранение паролей пользователей в базах данных</vt:lpstr>
      <vt:lpstr>Маскирование данных в файлах журнала</vt:lpstr>
      <vt:lpstr>Маскирование</vt:lpstr>
      <vt:lpstr>Менеджер секретов</vt:lpstr>
      <vt:lpstr>Менеджер секретов</vt:lpstr>
      <vt:lpstr>Рекомендации по работе с секретами</vt:lpstr>
      <vt:lpstr>Защита программного кода</vt:lpstr>
      <vt:lpstr>Защита программного кода</vt:lpstr>
      <vt:lpstr>Защита программного кода</vt:lpstr>
      <vt:lpstr>Защита программного кода</vt:lpstr>
      <vt:lpstr>Защита программного кода</vt:lpstr>
      <vt:lpstr>Защита программного кода</vt:lpstr>
      <vt:lpstr>Защита программного кода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Информационная безопасность</dc:title>
  <dc:creator>porygriu@outlook.com</dc:creator>
  <cp:lastModifiedBy>Иван Петров</cp:lastModifiedBy>
  <cp:revision>188</cp:revision>
  <dcterms:created xsi:type="dcterms:W3CDTF">2023-08-23T15:20:34Z</dcterms:created>
  <dcterms:modified xsi:type="dcterms:W3CDTF">2026-08-26T04:32:48Z</dcterms:modified>
</cp:coreProperties>
</file>